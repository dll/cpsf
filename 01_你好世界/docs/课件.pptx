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274320"/>
            <a:ext cx="2011680" cy="2011680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4846320"/>
            <a:ext cx="1645920" cy="1645920"/>
          </a:xfrm>
          <a:prstGeom prst="ellipse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15600" y="5029200"/>
            <a:ext cx="1097280" cy="1097280"/>
          </a:xfrm>
          <a:prstGeom prst="ellipse">
            <a:avLst/>
          </a:prstGeom>
          <a:solidFill>
            <a:srgbClr val="FFD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71600" y="731520"/>
            <a:ext cx="822960" cy="822960"/>
          </a:xfrm>
          <a:prstGeom prst="ellipse">
            <a:avLst/>
          </a:prstGeom>
          <a:solidFill>
            <a:srgbClr val="FF8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0" y="5760720"/>
            <a:ext cx="640080" cy="640080"/>
          </a:xfrm>
          <a:prstGeom prst="ellipse">
            <a:avLst/>
          </a:prstGeom>
          <a:solidFill>
            <a:srgbClr val="A29B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>
                <a:solidFill>
                  <a:srgbClr val="2C3E50"/>
                </a:solidFill>
                <a:latin typeface="微软雅黑"/>
              </a:rPr>
              <a:t>第1讲：表达式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346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8C42"/>
                </a:solidFill>
                <a:latin typeface="微软雅黑"/>
              </a:rPr>
              <a:t>—— C语言的灵魂（深度版）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3657600"/>
            <a:ext cx="3017520" cy="4572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7F8C8D"/>
                </a:solidFill>
                <a:latin typeface="微软雅黑"/>
              </a:rPr>
              <a:t>从程序员到架构师 · C语言插件框架演进之旅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6B6B"/>
                </a:solidFill>
                <a:latin typeface="微软雅黑"/>
              </a:rPr>
              <a:t>一行 printf 背后的完整故事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5212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6B6B"/>
                </a:solidFill>
                <a:latin typeface="微软雅黑"/>
              </a:rPr>
              <a:t>01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2C3E50"/>
                </a:solidFill>
                <a:latin typeface="微软雅黑"/>
              </a:rPr>
              <a:t>🗺️ 知识图谱 · 第1讲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7F8C8D"/>
                </a:solidFill>
                <a:latin typeface="微软雅黑"/>
              </a:rPr>
              <a:t>本讲在整个知识体系中的位置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从程序员到架构师 · 第1讲：表达式（深度版）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2743200"/>
            <a:ext cx="2194560" cy="914400"/>
          </a:xfrm>
          <a:prstGeom prst="roundRect">
            <a:avLst/>
          </a:prstGeom>
          <a:solidFill>
            <a:srgbClr val="FF8C42"/>
          </a:solidFill>
          <a:ln w="254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28346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</a:rPr>
              <a:t>📌 表达式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32918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微软雅黑"/>
              </a:rPr>
              <a:t>（第1讲 核心）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86000" y="1645920"/>
            <a:ext cx="2011680" cy="731520"/>
          </a:xfrm>
          <a:prstGeom prst="roundRect">
            <a:avLst/>
          </a:prstGeom>
          <a:solidFill>
            <a:srgbClr val="FFD93D"/>
          </a:solidFill>
          <a:ln w="25400"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86000" y="171907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</a:rPr>
              <a:t>C语言基础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20574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微软雅黑"/>
              </a:rPr>
              <a:t>前置知识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71600" y="3657600"/>
            <a:ext cx="2011680" cy="731520"/>
          </a:xfrm>
          <a:prstGeom prst="roundRect">
            <a:avLst/>
          </a:prstGeom>
          <a:solidFill>
            <a:srgbClr val="74B9FF"/>
          </a:solidFill>
          <a:ln w="25400">
            <a:solidFill>
              <a:srgbClr val="74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373075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</a:rPr>
              <a:t>编译四阶段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0690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微软雅黑"/>
              </a:rPr>
              <a:t>预处理/编译/汇编/链接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0" y="1645920"/>
            <a:ext cx="2011680" cy="731520"/>
          </a:xfrm>
          <a:prstGeom prst="roundRect">
            <a:avLst/>
          </a:prstGeom>
          <a:solidFill>
            <a:srgbClr val="A29BFE"/>
          </a:solidFill>
          <a:ln w="25400">
            <a:solidFill>
              <a:srgbClr val="A29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0" y="171907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</a:rPr>
              <a:t>C标准库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20574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微软雅黑"/>
              </a:rPr>
              <a:t>libc / printf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1120" y="3657600"/>
            <a:ext cx="2011680" cy="731520"/>
          </a:xfrm>
          <a:prstGeom prst="roundRect">
            <a:avLst/>
          </a:prstGeom>
          <a:solidFill>
            <a:srgbClr val="4ECDC4"/>
          </a:solidFill>
          <a:ln w="254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0" y="373075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</a:rPr>
              <a:t>函数调用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40690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微软雅黑"/>
              </a:rPr>
              <a:t>→ 第2讲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0" y="5303520"/>
            <a:ext cx="2011680" cy="731520"/>
          </a:xfrm>
          <a:prstGeom prst="roundRect">
            <a:avLst/>
          </a:prstGeom>
          <a:solidFill>
            <a:srgbClr val="6BCB77"/>
          </a:solidFill>
          <a:ln w="25400">
            <a:solidFill>
              <a:srgbClr val="6BCB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0" y="537667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</a:rPr>
              <a:t>可执行文件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57150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微软雅黑"/>
              </a:rPr>
              <a:t>程序的诞生</a:t>
            </a:r>
          </a:p>
        </p:txBody>
      </p:sp>
      <p:cxnSp>
        <p:nvCxnSpPr>
          <p:cNvPr id="25" name="Connector 24"/>
          <p:cNvCxnSpPr/>
          <p:nvPr/>
        </p:nvCxnSpPr>
        <p:spPr>
          <a:xfrm flipH="1" flipV="1">
            <a:off x="4297680" y="2377440"/>
            <a:ext cx="1280160" cy="822960"/>
          </a:xfrm>
          <a:prstGeom prst="line">
            <a:avLst/>
          </a:prstGeom>
          <a:ln w="19050">
            <a:solidFill>
              <a:srgbClr val="7F8C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3383280" y="3200400"/>
            <a:ext cx="2194560" cy="1188720"/>
          </a:xfrm>
          <a:prstGeom prst="line">
            <a:avLst/>
          </a:prstGeom>
          <a:ln w="19050">
            <a:solidFill>
              <a:srgbClr val="7F8C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5577840" y="2377440"/>
            <a:ext cx="4206240" cy="822960"/>
          </a:xfrm>
          <a:prstGeom prst="line">
            <a:avLst/>
          </a:prstGeom>
          <a:ln w="19050">
            <a:solidFill>
              <a:srgbClr val="7F8C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577840" y="3200400"/>
            <a:ext cx="4480560" cy="1188720"/>
          </a:xfrm>
          <a:prstGeom prst="line">
            <a:avLst/>
          </a:prstGeom>
          <a:ln w="19050">
            <a:solidFill>
              <a:srgbClr val="7F8C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77840" y="3200400"/>
            <a:ext cx="1463040" cy="2468880"/>
          </a:xfrm>
          <a:prstGeom prst="line">
            <a:avLst/>
          </a:prstGeom>
          <a:ln w="19050">
            <a:solidFill>
              <a:srgbClr val="7F8C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914400" y="5943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7F8C8D"/>
                </a:solidFill>
                <a:latin typeface="微软雅黑"/>
              </a:rPr>
              <a:t>💡 本讲核心：表达式是代码的最小单元，连接了编译原理、标准库、函数调用等多个知识领域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2C3E50"/>
                </a:solidFill>
                <a:latin typeface="微软雅黑"/>
              </a:rPr>
              <a:t>🔍 拆解 printf 表达式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7F8C8D"/>
                </a:solidFill>
                <a:latin typeface="微软雅黑"/>
              </a:rPr>
              <a:t>一行代码里的大学问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从程序员到架构师 · 第1讲：表达式（深度版）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1828800"/>
            <a:ext cx="9418320" cy="1371600"/>
          </a:xfrm>
          <a:prstGeom prst="roundRect">
            <a:avLst/>
          </a:prstGeom>
          <a:solidFill>
            <a:srgbClr val="2C3E50"/>
          </a:solidFill>
          <a:ln w="25400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228600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6BCB77"/>
                </a:solidFill>
                <a:latin typeface="微软雅黑"/>
              </a:rPr>
              <a:t>printf("Hello, Plugin Framework!\n");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657600"/>
            <a:ext cx="2560320" cy="2286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7947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8C42"/>
                </a:solidFill>
                <a:latin typeface="微软雅黑"/>
              </a:rPr>
              <a:t>printf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3434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C3E50"/>
                </a:solidFill>
                <a:latin typeface="微软雅黑"/>
              </a:rPr>
              <a:t>函数名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F8C8D"/>
                </a:solidFill>
                <a:latin typeface="微软雅黑"/>
              </a:rPr>
              <a:t>print formatted
格式化打印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0" y="3657600"/>
            <a:ext cx="2560320" cy="2286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37947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4ECDC4"/>
                </a:solidFill>
                <a:latin typeface="微软雅黑"/>
              </a:rPr>
              <a:t>"Hello..."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43434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C3E50"/>
                </a:solidFill>
                <a:latin typeface="微软雅黑"/>
              </a:rPr>
              <a:t>字符串参数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484632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F8C8D"/>
                </a:solidFill>
                <a:latin typeface="微软雅黑"/>
              </a:rPr>
              <a:t>要打印的内容
双引号=字符串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0" y="3657600"/>
            <a:ext cx="2560320" cy="2286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0" y="37947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D93D"/>
                </a:solidFill>
                <a:latin typeface="微软雅黑"/>
              </a:rPr>
              <a:t>\n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43434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C3E50"/>
                </a:solidFill>
                <a:latin typeface="微软雅黑"/>
              </a:rPr>
              <a:t>转义字符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484632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F8C8D"/>
                </a:solidFill>
                <a:latin typeface="微软雅黑"/>
              </a:rPr>
              <a:t>换行符
像按回车键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12480" y="3657600"/>
            <a:ext cx="2560320" cy="2286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85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0" y="37947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85A6"/>
                </a:solidFill>
                <a:latin typeface="微软雅黑"/>
              </a:rPr>
              <a:t>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43434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C3E50"/>
                </a:solidFill>
                <a:latin typeface="微软雅黑"/>
              </a:rPr>
              <a:t>分号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0" y="484632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F8C8D"/>
                </a:solidFill>
                <a:latin typeface="微软雅黑"/>
              </a:rPr>
              <a:t>语句结束标志
像句子的句号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2C3E50"/>
                </a:solidFill>
                <a:latin typeface="微软雅黑"/>
              </a:rPr>
              <a:t>❓ 一个关键问题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7F8C8D"/>
                </a:solidFill>
                <a:latin typeface="微软雅黑"/>
              </a:rPr>
              <a:t>printf 的代码在哪里？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从程序员到架构师 · 第1讲：表达式（深度版）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28800"/>
            <a:ext cx="4114800" cy="4114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4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74B9FF"/>
                </a:solidFill>
                <a:latin typeface="微软雅黑"/>
              </a:rPr>
              <a:t>📄 我们写的 hello.c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651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C3E50"/>
                </a:solidFill>
                <a:latin typeface="微软雅黑"/>
              </a:rPr>
              <a:t>#include &lt;stdio.h&gt;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0632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C3E50"/>
                </a:solidFill>
                <a:latin typeface="微软雅黑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474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C3E50"/>
                </a:solidFill>
                <a:latin typeface="微软雅黑"/>
              </a:rPr>
              <a:t>int main() {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8862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C3E50"/>
                </a:solidFill>
                <a:latin typeface="微软雅黑"/>
              </a:rPr>
              <a:t>    printf("Hello!");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2976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C3E50"/>
                </a:solidFill>
                <a:latin typeface="微软雅黑"/>
              </a:rPr>
              <a:t>    return 0;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7091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C3E50"/>
                </a:solidFill>
                <a:latin typeface="微软雅黑"/>
              </a:rPr>
              <a:t>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52120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6B6B"/>
                </a:solidFill>
                <a:latin typeface="微软雅黑"/>
              </a:rPr>
              <a:t>🤔 printf 的实现在哪？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20040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6B6B"/>
                </a:solidFill>
                <a:latin typeface="微软雅黑"/>
              </a:rPr>
              <a:t>❓
从哪来？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1828800"/>
            <a:ext cx="4114800" cy="4114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A29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0" y="20116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A29BFE"/>
                </a:solidFill>
                <a:latin typeface="微软雅黑"/>
              </a:rPr>
              <a:t>📦 C 标准库（libc）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2743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C3E50"/>
                </a:solidFill>
                <a:latin typeface="微软雅黑"/>
              </a:rPr>
              <a:t>✅ printf / scanf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31546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C3E50"/>
                </a:solidFill>
                <a:latin typeface="微软雅黑"/>
              </a:rPr>
              <a:t>✅ malloc / free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35661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C3E50"/>
                </a:solidFill>
                <a:latin typeface="微软雅黑"/>
              </a:rPr>
              <a:t>✅ strcpy / strlen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397763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C3E50"/>
                </a:solidFill>
                <a:latin typeface="微软雅黑"/>
              </a:rPr>
              <a:t>✅ fopen / fread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43891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C3E50"/>
                </a:solidFill>
                <a:latin typeface="微软雅黑"/>
              </a:rPr>
              <a:t>✅ sin / cos / sqrt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4800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C3E50"/>
                </a:solidFill>
                <a:latin typeface="微软雅黑"/>
              </a:rPr>
              <a:t>✅ ...还有几百个函数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53035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7F8C8D"/>
                </a:solidFill>
                <a:latin typeface="微软雅黑"/>
              </a:rPr>
              <a:t>工具箱里有几百个工具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2C3E50"/>
                </a:solidFill>
                <a:latin typeface="微软雅黑"/>
              </a:rPr>
              <a:t>🏭 编译四阶段总览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7F8C8D"/>
                </a:solidFill>
                <a:latin typeface="微软雅黑"/>
              </a:rPr>
              <a:t>从 hello.c 到 hello.exe 的流水线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从程序员到架构师 · 第1讲：表达式（深度版）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560320"/>
            <a:ext cx="1737360" cy="1645920"/>
          </a:xfrm>
          <a:prstGeom prst="roundRect">
            <a:avLst/>
          </a:prstGeom>
          <a:solidFill>
            <a:srgbClr val="74B9FF"/>
          </a:solidFill>
          <a:ln w="25400">
            <a:solidFill>
              <a:srgbClr val="74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hello.c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8328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微软雅黑"/>
              </a:rPr>
              <a:t>源代码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737360" y="3200400"/>
            <a:ext cx="457200" cy="36576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286000" y="2560320"/>
            <a:ext cx="1737360" cy="1645920"/>
          </a:xfrm>
          <a:prstGeom prst="roundRect">
            <a:avLst/>
          </a:prstGeom>
          <a:solidFill>
            <a:srgbClr val="FFD93D"/>
          </a:solidFill>
          <a:ln w="25400"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6000" y="27432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📋 预处理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338328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微软雅黑"/>
              </a:rPr>
              <a:t>展开头文件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749040" y="3200400"/>
            <a:ext cx="457200" cy="36576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297680" y="2560320"/>
            <a:ext cx="1737360" cy="1645920"/>
          </a:xfrm>
          <a:prstGeom prst="roundRect">
            <a:avLst/>
          </a:prstGeom>
          <a:solidFill>
            <a:srgbClr val="FF8C42"/>
          </a:solidFill>
          <a:ln w="254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27432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⚙️ 编译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38328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微软雅黑"/>
              </a:rPr>
              <a:t>翻译成汇编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760720" y="3200400"/>
            <a:ext cx="457200" cy="36576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09360" y="2560320"/>
            <a:ext cx="1737360" cy="1645920"/>
          </a:xfrm>
          <a:prstGeom prst="roundRect">
            <a:avLst/>
          </a:prstGeom>
          <a:solidFill>
            <a:srgbClr val="4ECDC4"/>
          </a:solidFill>
          <a:ln w="254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7432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🔢 汇编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38328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微软雅黑"/>
              </a:rPr>
              <a:t>生成机器码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772400" y="3200400"/>
            <a:ext cx="457200" cy="36576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321040" y="2560320"/>
            <a:ext cx="1737360" cy="1645920"/>
          </a:xfrm>
          <a:prstGeom prst="roundRect">
            <a:avLst/>
          </a:prstGeom>
          <a:solidFill>
            <a:srgbClr val="A29BFE"/>
          </a:solidFill>
          <a:ln w="25400">
            <a:solidFill>
              <a:srgbClr val="A29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40" y="27432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🔗 链接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338328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微软雅黑"/>
              </a:rPr>
              <a:t>拼入库代码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784080" y="3200400"/>
            <a:ext cx="457200" cy="36576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332720" y="2560320"/>
            <a:ext cx="1737360" cy="1645920"/>
          </a:xfrm>
          <a:prstGeom prst="roundRect">
            <a:avLst/>
          </a:prstGeom>
          <a:solidFill>
            <a:srgbClr val="6BCB77"/>
          </a:solidFill>
          <a:ln w="25400">
            <a:solidFill>
              <a:srgbClr val="6BCB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32720" y="27432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hello.exe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2720" y="338328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微软雅黑"/>
              </a:rPr>
              <a:t>可执行文件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0" y="5029200"/>
            <a:ext cx="5760720" cy="822960"/>
          </a:xfrm>
          <a:prstGeom prst="roundRect">
            <a:avLst/>
          </a:prstGeom>
          <a:solidFill>
            <a:srgbClr val="F7F9FC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0" y="516636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6B6B"/>
                </a:solidFill>
                <a:latin typeface="微软雅黑"/>
              </a:rPr>
              <a:t>💡 记忆口诀：预 → 编 → 汇 → 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53212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7F8C8D"/>
                </a:solidFill>
                <a:latin typeface="微软雅黑"/>
              </a:rPr>
              <a:t>（谐音：预判会练）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2C3E50"/>
                </a:solidFill>
                <a:latin typeface="微软雅黑"/>
              </a:rPr>
              <a:t>⭐ 重点：链接的秘密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7F8C8D"/>
                </a:solidFill>
                <a:latin typeface="微软雅黑"/>
              </a:rPr>
              <a:t>printf 是怎么跑进我们的程序里的？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从程序员到架构师 · 第1讲：表达式（深度版）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2C3E50"/>
                </a:solidFill>
                <a:latin typeface="微软雅黑"/>
              </a:rPr>
              <a:t>链接器做了什么？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377440"/>
            <a:ext cx="2743200" cy="3200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4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74B9FF"/>
                </a:solidFill>
                <a:latin typeface="微软雅黑"/>
              </a:rPr>
              <a:t>📄 hello.o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200400"/>
            <a:ext cx="2194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</a:rPr>
              <a:t>✅ 我们的代码
   (main函数)
❌ printf 未定义
   (U printf)
⚠️ 不能独立运行！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0" y="2377440"/>
            <a:ext cx="3931920" cy="3200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A29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0" y="256032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A29BFE"/>
                </a:solidFill>
                <a:latin typeface="微软雅黑"/>
              </a:rPr>
              <a:t>🔗 链接器 + 📦 标准库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20040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</a:rPr>
              <a:t>1️⃣ 符号解析：找未定义函数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370332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</a:rPr>
              <a:t>2️⃣ 库中查找：去libc找printf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420624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</a:rPr>
              <a:t>3️⃣ 代码合并：把printf拼进来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470916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</a:rPr>
              <a:t>4️⃣ 地址重定位：调整调用地址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2377440"/>
            <a:ext cx="2743200" cy="3200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BCB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0" y="25603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CB77"/>
                </a:solidFill>
                <a:latin typeface="微软雅黑"/>
              </a:rPr>
              <a:t>🚀 hello.exe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3200400"/>
            <a:ext cx="2194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</a:rPr>
              <a:t>✅ 我们的代码
   (main函数)
✅ printf 的实现
   (从库中拼进来)
🎉 可以独立运行！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3474720" y="3749039"/>
            <a:ext cx="640080" cy="457200"/>
          </a:xfrm>
          <a:prstGeom prst="rightArrow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ight Arrow 20"/>
          <p:cNvSpPr/>
          <p:nvPr/>
        </p:nvSpPr>
        <p:spPr>
          <a:xfrm>
            <a:off x="8046720" y="3749039"/>
            <a:ext cx="640080" cy="457200"/>
          </a:xfrm>
          <a:prstGeom prst="rightArrow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828800" y="5852160"/>
            <a:ext cx="8503920" cy="640080"/>
          </a:xfrm>
          <a:prstGeom prst="roundRect">
            <a:avLst/>
          </a:prstGeom>
          <a:solidFill>
            <a:srgbClr val="FF8C42"/>
          </a:solidFill>
          <a:ln w="254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28800" y="598932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</a:rPr>
              <a:t>🔑 链接的本质：把我们的代码和库的代码拼在一起，形成完整的可执行程序。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2C3E50"/>
                </a:solidFill>
                <a:latin typeface="微软雅黑"/>
              </a:rPr>
              <a:t>📋 头文件 vs 🍳 库文件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7F8C8D"/>
                </a:solidFill>
                <a:latin typeface="微软雅黑"/>
              </a:rPr>
              <a:t>很多初学者搞混的概念，一次讲清楚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从程序员到架构师 · 第1讲：表达式（深度版）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502920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4ECDC4"/>
                </a:solidFill>
                <a:latin typeface="微软雅黑"/>
              </a:rPr>
              <a:t>📋 头文件 (.h)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7432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2C3E50"/>
                </a:solidFill>
                <a:latin typeface="微软雅黑"/>
              </a:rPr>
              <a:t>= 菜单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8328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C3E50"/>
                </a:solidFill>
                <a:latin typeface="微软雅黑"/>
              </a:rPr>
              <a:t>• 里面是函数声明（接口）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84048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C3E50"/>
                </a:solidFill>
                <a:latin typeface="微软雅黑"/>
              </a:rPr>
              <a:t>• 告诉编译器：有这个函数，长这样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29768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C3E50"/>
                </a:solidFill>
                <a:latin typeface="微软雅黑"/>
              </a:rPr>
              <a:t>• 不包含具体实现代码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75488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C3E50"/>
                </a:solidFill>
                <a:latin typeface="微软雅黑"/>
              </a:rPr>
              <a:t>• 编译阶段使用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21208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C3E50"/>
                </a:solidFill>
                <a:latin typeface="微软雅黑"/>
              </a:rPr>
              <a:t>• 例子：stdio.h, stdlib.h, string.h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1828800"/>
            <a:ext cx="502920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A29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20116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A29BFE"/>
                </a:solidFill>
                <a:latin typeface="微软雅黑"/>
              </a:rPr>
              <a:t>🍳 库文件 (.a/.dll)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27432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2C3E50"/>
                </a:solidFill>
                <a:latin typeface="微软雅黑"/>
              </a:rPr>
              <a:t>= 厨房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38328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C3E50"/>
                </a:solidFill>
                <a:latin typeface="微软雅黑"/>
              </a:rPr>
              <a:t>• 里面是函数实现（真正的代码）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384048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C3E50"/>
                </a:solidFill>
                <a:latin typeface="微软雅黑"/>
              </a:rPr>
              <a:t>• 链接器把它拼进你的程序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429768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C3E50"/>
                </a:solidFill>
                <a:latin typeface="微软雅黑"/>
              </a:rPr>
              <a:t>• 包含几百个函数的二进制代码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475488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C3E50"/>
                </a:solidFill>
                <a:latin typeface="微软雅黑"/>
              </a:rPr>
              <a:t>• 链接阶段使用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521208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C3E50"/>
                </a:solidFill>
                <a:latin typeface="微软雅黑"/>
              </a:rPr>
              <a:t>• 例子：libc.a, msvcrt.dll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3657600"/>
            <a:ext cx="1188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6B6B"/>
                </a:solidFill>
                <a:latin typeface="微软雅黑"/>
              </a:rPr>
              <a:t>VS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2C3E50"/>
                </a:solidFill>
                <a:latin typeface="微软雅黑"/>
              </a:rPr>
              <a:t>✅ 课堂小测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7F8C8D"/>
                </a:solidFill>
                <a:latin typeface="微软雅黑"/>
              </a:rPr>
              <a:t>看看你掌握了多少？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从程序员到架构师 · 第1讲：表达式（深度版）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645920"/>
            <a:ext cx="10332720" cy="1097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828800"/>
            <a:ext cx="9784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C3E50"/>
                </a:solidFill>
                <a:latin typeface="微软雅黑"/>
              </a:rPr>
              <a:t>题目：目标文件（.o）为什么不能直接运行？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017520"/>
            <a:ext cx="5029200" cy="1097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329184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7F8C8D"/>
                </a:solidFill>
                <a:latin typeface="微软雅黑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3383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C3E50"/>
                </a:solidFill>
                <a:latin typeface="微软雅黑"/>
              </a:rPr>
              <a:t>因为它是二进制的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017520"/>
            <a:ext cx="5029200" cy="1097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BCB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329184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6BCB77"/>
                </a:solidFill>
                <a:latin typeface="微软雅黑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3383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C3E50"/>
                </a:solidFill>
                <a:latin typeface="微软雅黑"/>
              </a:rPr>
              <a:t>因为缺少库函数的实现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389120"/>
            <a:ext cx="5029200" cy="1097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466344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7F8C8D"/>
                </a:solidFill>
                <a:latin typeface="微软雅黑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47548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C3E50"/>
                </a:solidFill>
                <a:latin typeface="微软雅黑"/>
              </a:rPr>
              <a:t>因为它太大了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4389120"/>
            <a:ext cx="5029200" cy="1097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466344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7F8C8D"/>
                </a:solidFill>
                <a:latin typeface="微软雅黑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47548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C3E50"/>
                </a:solidFill>
                <a:latin typeface="微软雅黑"/>
              </a:rPr>
              <a:t>因为操作系统不认识 .o 格式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86000" y="5760720"/>
            <a:ext cx="7589520" cy="731520"/>
          </a:xfrm>
          <a:prstGeom prst="roundRect">
            <a:avLst/>
          </a:prstGeom>
          <a:solidFill>
            <a:srgbClr val="6BCB77"/>
          </a:solidFill>
          <a:ln w="25400">
            <a:solidFill>
              <a:srgbClr val="6BCB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86000" y="5897880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</a:rPr>
              <a:t>✅ 正确答案：B —— 目标文件只有我们的代码，库函数还没链接进来！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2C3E50"/>
                </a:solidFill>
                <a:latin typeface="微软雅黑"/>
              </a:rPr>
              <a:t>🌱 进化视角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7F8C8D"/>
                </a:solidFill>
                <a:latin typeface="微软雅黑"/>
              </a:rPr>
              <a:t>从表达式到插件框架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从程序员到架构师 · 第1讲：表达式（深度版）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1463040" y="3154680"/>
            <a:ext cx="594360" cy="91440"/>
          </a:xfrm>
          <a:prstGeom prst="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0" y="2743200"/>
            <a:ext cx="914400" cy="914400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926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374904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C3E50"/>
                </a:solidFill>
                <a:latin typeface="微软雅黑"/>
              </a:rPr>
              <a:t>表达式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63240" y="3154680"/>
            <a:ext cx="594360" cy="91440"/>
          </a:xfrm>
          <a:prstGeom prst="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57400" y="2743200"/>
            <a:ext cx="914400" cy="914400"/>
          </a:xfrm>
          <a:prstGeom prst="ellipse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57400" y="2926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20" y="374904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C3E50"/>
                </a:solidFill>
                <a:latin typeface="微软雅黑"/>
              </a:rPr>
              <a:t>函数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3440" y="3154680"/>
            <a:ext cx="594360" cy="91440"/>
          </a:xfrm>
          <a:prstGeom prst="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57600" y="2743200"/>
            <a:ext cx="914400" cy="914400"/>
          </a:xfrm>
          <a:prstGeom prst="ellipse">
            <a:avLst/>
          </a:prstGeom>
          <a:solidFill>
            <a:srgbClr val="FFD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0" y="2926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374904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C3E50"/>
                </a:solidFill>
                <a:latin typeface="微软雅黑"/>
              </a:rPr>
              <a:t>模块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154680"/>
            <a:ext cx="594360" cy="91440"/>
          </a:xfrm>
          <a:prstGeom prst="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257800" y="2743200"/>
            <a:ext cx="914400" cy="914400"/>
          </a:xfrm>
          <a:prstGeom prst="ellipse">
            <a:avLst/>
          </a:prstGeom>
          <a:solidFill>
            <a:srgbClr val="A29B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57800" y="2926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374904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C3E50"/>
                </a:solidFill>
                <a:latin typeface="微软雅黑"/>
              </a:rPr>
              <a:t>静态库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63840" y="3154680"/>
            <a:ext cx="594360" cy="91440"/>
          </a:xfrm>
          <a:prstGeom prst="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0" y="2743200"/>
            <a:ext cx="914400" cy="914400"/>
          </a:xfrm>
          <a:prstGeom prst="ellipse">
            <a:avLst/>
          </a:prstGeom>
          <a:solidFill>
            <a:srgbClr val="FF8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0" y="2926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374904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C3E50"/>
                </a:solidFill>
                <a:latin typeface="微软雅黑"/>
              </a:rPr>
              <a:t>动态库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64040" y="3154680"/>
            <a:ext cx="594360" cy="91440"/>
          </a:xfrm>
          <a:prstGeom prst="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458200" y="2743200"/>
            <a:ext cx="914400" cy="914400"/>
          </a:xfrm>
          <a:prstGeom prst="ellipse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58200" y="2926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</a:rPr>
              <a:t>...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374904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C3E50"/>
                </a:solidFill>
                <a:latin typeface="微软雅黑"/>
              </a:rPr>
              <a:t>...</a:t>
            </a:r>
          </a:p>
        </p:txBody>
      </p:sp>
      <p:sp>
        <p:nvSpPr>
          <p:cNvPr id="31" name="Oval 30"/>
          <p:cNvSpPr/>
          <p:nvPr/>
        </p:nvSpPr>
        <p:spPr>
          <a:xfrm>
            <a:off x="10058400" y="2743200"/>
            <a:ext cx="914400" cy="914400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0" y="2926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75520" y="374904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C3E50"/>
                </a:solidFill>
                <a:latin typeface="微软雅黑"/>
              </a:rPr>
              <a:t>插件框架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4389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2C3E50"/>
                </a:solidFill>
                <a:latin typeface="微软雅黑"/>
              </a:rPr>
              <a:t>🌱 今天播下的种子，后面都会发芽：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" y="5029200"/>
            <a:ext cx="237744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C3E50"/>
                </a:solidFill>
                <a:latin typeface="微软雅黑"/>
              </a:rPr>
              <a:t>函数调用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778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6B6B"/>
                </a:solidFill>
                <a:latin typeface="微软雅黑"/>
              </a:rPr>
              <a:t>→ 第2讲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566160" y="5029200"/>
            <a:ext cx="237744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66160" y="51663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C3E50"/>
                </a:solidFill>
                <a:latin typeface="微软雅黑"/>
              </a:rPr>
              <a:t>头文件vs实现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0" y="55778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6B6B"/>
                </a:solidFill>
                <a:latin typeface="微软雅黑"/>
              </a:rPr>
              <a:t>→ 第3讲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17920" y="5029200"/>
            <a:ext cx="237744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17920" y="51663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C3E50"/>
                </a:solidFill>
                <a:latin typeface="微软雅黑"/>
              </a:rPr>
              <a:t>标准库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7920" y="55778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6B6B"/>
                </a:solidFill>
                <a:latin typeface="微软雅黑"/>
              </a:rPr>
              <a:t>→ 第4讲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869680" y="5029200"/>
            <a:ext cx="237744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869680" y="51663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C3E50"/>
                </a:solidFill>
                <a:latin typeface="微软雅黑"/>
              </a:rPr>
              <a:t>链接思想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69680" y="55778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6B6B"/>
                </a:solidFill>
                <a:latin typeface="微软雅黑"/>
              </a:rPr>
              <a:t>→ 贯穿全系列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2C3E50"/>
                </a:solidFill>
                <a:latin typeface="微软雅黑"/>
              </a:rPr>
              <a:t>📝 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7F8C8D"/>
                </a:solidFill>
                <a:latin typeface="微软雅黑"/>
              </a:rPr>
              <a:t>一行 printf 的完整生命周期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从程序员到架构师 · 第1讲：表达式（深度版）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2C3E50"/>
                </a:solidFill>
                <a:latin typeface="微软雅黑"/>
              </a:rPr>
              <a:t>🎯 一句话总结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2377440"/>
            <a:ext cx="9418320" cy="1280160"/>
          </a:xfrm>
          <a:prstGeom prst="roundRect">
            <a:avLst/>
          </a:prstGeom>
          <a:solidFill>
            <a:srgbClr val="FF8C42"/>
          </a:solidFill>
          <a:ln w="254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60604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</a:rPr>
              <a:t>一行 printf 表达式，从代码到输出，经历了编译四阶段，
通过链接把标准库的 printf 拼进来，最终在屏幕上打出 Hello。
这就是复用的起点，也是框架的起点。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023360"/>
            <a:ext cx="2148840" cy="2103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16052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2C3E50"/>
                </a:solidFill>
                <a:latin typeface="微软雅黑"/>
              </a:rPr>
              <a:t>1️⃣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66344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C3E50"/>
                </a:solidFill>
                <a:latin typeface="微软雅黑"/>
              </a:rPr>
              <a:t>表达式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120640"/>
            <a:ext cx="18745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F8C8D"/>
                </a:solidFill>
                <a:latin typeface="微软雅黑"/>
              </a:rPr>
              <a:t>能算值的代码片段
C语言几乎一切都是表达式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88920" y="4023360"/>
            <a:ext cx="2148840" cy="2103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88920" y="416052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2C3E50"/>
                </a:solidFill>
                <a:latin typeface="微软雅黑"/>
              </a:rPr>
              <a:t>2️⃣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8920" y="466344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C3E50"/>
                </a:solidFill>
                <a:latin typeface="微软雅黑"/>
              </a:rPr>
              <a:t>C标准库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5120640"/>
            <a:ext cx="18745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F8C8D"/>
                </a:solidFill>
                <a:latin typeface="微软雅黑"/>
              </a:rPr>
              <a:t>自带的工具箱
printf/malloc/strcpy都在这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20640" y="4023360"/>
            <a:ext cx="2148840" cy="2103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0" y="416052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2C3E50"/>
                </a:solidFill>
                <a:latin typeface="微软雅黑"/>
              </a:rPr>
              <a:t>3️⃣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466344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C3E50"/>
                </a:solidFill>
                <a:latin typeface="微软雅黑"/>
              </a:rPr>
              <a:t>头文件vs库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5120640"/>
            <a:ext cx="18745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F8C8D"/>
                </a:solidFill>
                <a:latin typeface="微软雅黑"/>
              </a:rPr>
              <a:t>头文件是接口（菜单）
库文件是实现（厨房）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52359" y="4023360"/>
            <a:ext cx="2148840" cy="2103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52359" y="416052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2C3E50"/>
                </a:solidFill>
                <a:latin typeface="微软雅黑"/>
              </a:rPr>
              <a:t>4️⃣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52359" y="466344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C3E50"/>
                </a:solidFill>
                <a:latin typeface="微软雅黑"/>
              </a:rPr>
              <a:t>编译四阶段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19" y="5120640"/>
            <a:ext cx="18745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F8C8D"/>
                </a:solidFill>
                <a:latin typeface="微软雅黑"/>
              </a:rPr>
              <a:t>预→编→汇→链
记忆口诀：预判会练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84080" y="4023360"/>
            <a:ext cx="2148840" cy="2103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84080" y="416052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2C3E50"/>
                </a:solidFill>
                <a:latin typeface="微软雅黑"/>
              </a:rPr>
              <a:t>5️⃣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466344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C3E50"/>
                </a:solidFill>
                <a:latin typeface="微软雅黑"/>
              </a:rPr>
              <a:t>链接的本质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21240" y="5120640"/>
            <a:ext cx="18745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F8C8D"/>
                </a:solidFill>
                <a:latin typeface="微软雅黑"/>
              </a:rPr>
              <a:t>把我们的代码和库的代码
拼在一起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