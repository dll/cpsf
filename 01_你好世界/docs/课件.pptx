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Rounded Rectangle 9"/>
          <p:cNvSpPr/>
          <p:nvPr/>
        </p:nvSpPr>
        <p:spPr>
          <a:xfrm>
            <a:off x="1463040" y="1463040"/>
            <a:ext cx="9418320" cy="411480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114800"/>
            <a:ext cx="4114800" cy="41148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4572000"/>
            <a:ext cx="2286000" cy="2286000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28800" y="1097280"/>
            <a:ext cx="457200" cy="457200"/>
          </a:xfrm>
          <a:prstGeom prst="ellipse">
            <a:avLst/>
          </a:prstGeom>
          <a:solidFill>
            <a:srgbClr val="FF8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0" y="1828800"/>
            <a:ext cx="365760" cy="365760"/>
          </a:xfrm>
          <a:prstGeom prst="ellipse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5669280"/>
            <a:ext cx="320040" cy="320040"/>
          </a:xfrm>
          <a:prstGeom prst="ellipse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71600" y="1371600"/>
            <a:ext cx="941832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03120" y="2286000"/>
            <a:ext cx="2011680" cy="201168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77440" y="2560320"/>
            <a:ext cx="1463040" cy="1463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2834640"/>
            <a:ext cx="1463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微软雅黑"/>
              </a:rPr>
              <a:t>{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103120"/>
            <a:ext cx="5486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5200" b="1">
                <a:solidFill>
                  <a:srgbClr val="2C3E50"/>
                </a:solidFill>
                <a:latin typeface="微软雅黑"/>
              </a:rPr>
              <a:t>第1讲：表达式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0175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8C42"/>
                </a:solidFill>
                <a:latin typeface="微软雅黑"/>
              </a:rPr>
              <a:t>从一行代码到软件架构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3749039"/>
            <a:ext cx="1371600" cy="54864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39319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7F8C8D"/>
                </a:solidFill>
                <a:latin typeface="微软雅黑"/>
              </a:rPr>
              <a:t>《从程序员到架构师》· C语言插件框架演进之旅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6B6B"/>
                </a:solidFill>
                <a:latin typeface="微软雅黑"/>
              </a:rPr>
              <a:t>一行 printf 背后的完整故事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937760"/>
            <a:ext cx="2103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微软雅黑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🗺️ 知识图谱 · 第1讲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本讲在整个知识体系中的位置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Oval 8"/>
          <p:cNvSpPr/>
          <p:nvPr/>
        </p:nvSpPr>
        <p:spPr>
          <a:xfrm>
            <a:off x="3931920" y="2468880"/>
            <a:ext cx="2743200" cy="274320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97680" y="2834640"/>
            <a:ext cx="2011680" cy="201168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0" y="2880360"/>
            <a:ext cx="2377440" cy="1005840"/>
          </a:xfrm>
          <a:prstGeom prst="roundRect">
            <a:avLst>
              <a:gd name="adj" fmla="val 3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2971800"/>
            <a:ext cx="2377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微软雅黑"/>
              </a:rPr>
              <a:t>📌 表达式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474720"/>
            <a:ext cx="23774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微软雅黑"/>
              </a:rPr>
              <a:t>（第1讲 核心）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20" y="137160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150876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146304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C语言基础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182880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前置知识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8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7764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3192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编译四阶段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预处理/编译/汇编/链接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137160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0" y="150876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46304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C标准库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182880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libc / printf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384048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397764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93192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函数调用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429768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→ 第2讲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46320" y="5486400"/>
            <a:ext cx="219456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0" y="5623560"/>
            <a:ext cx="548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557784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2C3E50"/>
                </a:solidFill>
                <a:latin typeface="微软雅黑"/>
              </a:rPr>
              <a:t>可执行文件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5943600"/>
            <a:ext cx="1463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F8C8D"/>
                </a:solidFill>
                <a:latin typeface="微软雅黑"/>
              </a:rPr>
              <a:t>程序的诞生</a:t>
            </a:r>
          </a:p>
        </p:txBody>
      </p:sp>
      <p:cxnSp>
        <p:nvCxnSpPr>
          <p:cNvPr id="34" name="Connector 33"/>
          <p:cNvCxnSpPr/>
          <p:nvPr/>
        </p:nvCxnSpPr>
        <p:spPr>
          <a:xfrm flipH="1" flipV="1">
            <a:off x="2743200" y="1828800"/>
            <a:ext cx="2103120" cy="155448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828800" y="3657600"/>
            <a:ext cx="3017520" cy="64008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760720" y="1828800"/>
            <a:ext cx="2926080" cy="155448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760720" y="3657600"/>
            <a:ext cx="3200400" cy="64008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303520" y="3840480"/>
            <a:ext cx="640080" cy="2103120"/>
          </a:xfrm>
          <a:prstGeom prst="line">
            <a:avLst/>
          </a:prstGeom>
          <a:ln w="19050">
            <a:solidFill>
              <a:srgbClr val="7F8C8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371600" y="5943600"/>
            <a:ext cx="9418320" cy="548640"/>
          </a:xfrm>
          <a:prstGeom prst="roundRect">
            <a:avLst>
              <a:gd name="adj" fmla="val 3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6016752"/>
            <a:ext cx="9418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💡 表达式是代码的最小单元，连接了编译原理、标准库、函数调用等多个知识领域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👑 C语言的江湖地位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为什么我们从C语言开始讲起？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Pie 8"/>
          <p:cNvSpPr/>
          <p:nvPr/>
        </p:nvSpPr>
        <p:spPr>
          <a:xfrm>
            <a:off x="640080" y="2468880"/>
            <a:ext cx="2743200" cy="3200400"/>
          </a:xfrm>
          <a:prstGeom prst="pie">
            <a:avLst/>
          </a:prstGeom>
          <a:solidFill>
            <a:srgbClr val="FF8C42"/>
          </a:solidFill>
          <a:ln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88720" y="2743200"/>
            <a:ext cx="1645920" cy="2286000"/>
          </a:xfrm>
          <a:prstGeom prst="roundRect">
            <a:avLst>
              <a:gd name="adj" fmla="val 20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71600" y="2011680"/>
            <a:ext cx="1280160" cy="1280160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00200" y="2423160"/>
            <a:ext cx="164592" cy="164592"/>
          </a:xfrm>
          <a:prstGeom prst="ellipse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57400" y="2423160"/>
            <a:ext cx="164592" cy="164592"/>
          </a:xfrm>
          <a:prstGeom prst="ellipse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36192" y="2359152"/>
            <a:ext cx="292608" cy="256032"/>
          </a:xfrm>
          <a:prstGeom prst="ellipse">
            <a:avLst/>
          </a:prstGeom>
          <a:noFill/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93392" y="2359152"/>
            <a:ext cx="292608" cy="256032"/>
          </a:xfrm>
          <a:prstGeom prst="ellipse">
            <a:avLst/>
          </a:prstGeom>
          <a:noFill/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10512" y="2468880"/>
            <a:ext cx="201168" cy="27432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rc 16"/>
          <p:cNvSpPr/>
          <p:nvPr/>
        </p:nvSpPr>
        <p:spPr>
          <a:xfrm>
            <a:off x="1645920" y="2697480"/>
            <a:ext cx="548640" cy="274320"/>
          </a:xfrm>
          <a:prstGeom prst="arc">
            <a:avLst/>
          </a:prstGeom>
          <a:noFill/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3383280"/>
            <a:ext cx="1280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微软雅黑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2C3E50"/>
                </a:solidFill>
                <a:latin typeface="微软雅黑"/>
              </a:rPr>
              <a:t>C语言大侠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2194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1972年 · 贝尔实验室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0" y="1645920"/>
            <a:ext cx="2377440" cy="12801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0" y="1737360"/>
            <a:ext cx="2377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33172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UNIX / Linux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1691640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BCB77"/>
                </a:solidFill>
                <a:latin typeface="微软雅黑"/>
              </a:rPr>
              <a:t>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1645920"/>
            <a:ext cx="2377440" cy="12801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1737360"/>
            <a:ext cx="2377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33172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Windows内核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1691640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74B9FF"/>
                </a:solidFill>
                <a:latin typeface="微软雅黑"/>
              </a:rPr>
              <a:t>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1200" y="1645920"/>
            <a:ext cx="2377440" cy="12801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1737360"/>
            <a:ext cx="2377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🗄️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233172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MySQL数据库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1691640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A29BFE"/>
                </a:solidFill>
                <a:latin typeface="微软雅黑"/>
              </a:rPr>
              <a:t>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0" y="3474720"/>
            <a:ext cx="2377440" cy="12801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0" y="3566160"/>
            <a:ext cx="2377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416052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Python解释器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3520440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D93D"/>
                </a:solidFill>
                <a:latin typeface="微软雅黑"/>
              </a:rPr>
              <a:t>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0" y="3474720"/>
            <a:ext cx="2377440" cy="12801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3566160"/>
            <a:ext cx="2377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16052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嵌入式设备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3520440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4ECDC4"/>
                </a:solidFill>
                <a:latin typeface="微软雅黑"/>
              </a:rPr>
              <a:t>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1200" y="3474720"/>
            <a:ext cx="2377440" cy="12801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F8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0" y="3566160"/>
            <a:ext cx="2377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C3E50"/>
                </a:solidFill>
                <a:latin typeface="微软雅黑"/>
              </a:rPr>
              <a:t>🎮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416052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游戏引擎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0" y="3520440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85A6"/>
                </a:solidFill>
                <a:latin typeface="微软雅黑"/>
              </a:rPr>
              <a:t>C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371600" y="5303520"/>
            <a:ext cx="9418320" cy="914400"/>
          </a:xfrm>
          <a:prstGeom prst="roundRect">
            <a:avLst>
              <a:gd name="adj" fmla="val 3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71600" y="5394960"/>
            <a:ext cx="9418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D93D"/>
                </a:solidFill>
                <a:latin typeface="微软雅黑"/>
              </a:rPr>
              <a:t>🏆 金句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5715000"/>
            <a:ext cx="9418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C语言是现代软件世界的地基——你现在用的几乎所有软件，往下挖，底层都有C的影子。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🔍 拆解 printf 表达式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一行代码里的大学问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1645920"/>
            <a:ext cx="9966960" cy="14630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1645920"/>
            <a:ext cx="9966960" cy="32004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1719072"/>
            <a:ext cx="164592" cy="16459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45919" y="1719072"/>
            <a:ext cx="164592" cy="164592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1680" y="1719072"/>
            <a:ext cx="164592" cy="164592"/>
          </a:xfrm>
          <a:prstGeom prst="ellipse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673352"/>
            <a:ext cx="2103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hello.c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103120"/>
            <a:ext cx="8503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6BCB77"/>
                </a:solidFill>
                <a:latin typeface="微软雅黑"/>
              </a:rPr>
              <a:t>printf("Hello, Plugin Framework!\n");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566160"/>
            <a:ext cx="2377440" cy="2468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566160"/>
            <a:ext cx="2377440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49039"/>
            <a:ext cx="2377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2C3E50"/>
                </a:solidFill>
                <a:latin typeface="微软雅黑"/>
              </a:rPr>
              <a:t>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297680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8C42"/>
                </a:solidFill>
                <a:latin typeface="微软雅黑"/>
              </a:rPr>
              <a:t>printf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0060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函数名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12080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print formatted
格式化打印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3566160"/>
            <a:ext cx="2377440" cy="2468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74720" y="3566160"/>
            <a:ext cx="2377440" cy="73152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3749039"/>
            <a:ext cx="2377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2C3E50"/>
                </a:solidFill>
                <a:latin typeface="微软雅黑"/>
              </a:rPr>
              <a:t>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4297680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4ECDC4"/>
                </a:solidFill>
                <a:latin typeface="微软雅黑"/>
              </a:rPr>
              <a:t>"Hello..."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80060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字符串参数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212080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要打印的内容
双引号=字符串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566160"/>
            <a:ext cx="2377440" cy="2468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566160"/>
            <a:ext cx="2377440" cy="73152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3749039"/>
            <a:ext cx="2377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2C3E50"/>
                </a:solidFill>
                <a:latin typeface="微软雅黑"/>
              </a:rPr>
              <a:t>↩️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297680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D93D"/>
                </a:solidFill>
                <a:latin typeface="微软雅黑"/>
              </a:rPr>
              <a:t>\n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80060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转义字符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212080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换行符
像按回车键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3566160"/>
            <a:ext cx="2377440" cy="2468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8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61120" y="3566160"/>
            <a:ext cx="2377440" cy="73152"/>
          </a:xfrm>
          <a:prstGeom prst="rect">
            <a:avLst/>
          </a:prstGeom>
          <a:solidFill>
            <a:srgbClr val="FF8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0" y="3749039"/>
            <a:ext cx="23774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2C3E50"/>
                </a:solidFill>
                <a:latin typeface="微软雅黑"/>
              </a:rPr>
              <a:t>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4297680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85A6"/>
                </a:solidFill>
                <a:latin typeface="微软雅黑"/>
              </a:rPr>
              <a:t>;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480060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2C3E50"/>
                </a:solidFill>
                <a:latin typeface="微软雅黑"/>
              </a:rPr>
              <a:t>分号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5212080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语句结束标志
像句子的句号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📦 C 标准库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站在巨人的肩膀上——代码复用的起点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108960"/>
            <a:ext cx="2743200" cy="1783080"/>
          </a:xfrm>
          <a:prstGeom prst="roundRect">
            <a:avLst>
              <a:gd name="adj" fmla="val 10000"/>
            </a:avLst>
          </a:prstGeom>
          <a:solidFill>
            <a:srgbClr val="A29BFE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" y="2697480"/>
            <a:ext cx="2468880" cy="685800"/>
          </a:xfrm>
          <a:prstGeom prst="rect">
            <a:avLst/>
          </a:prstGeom>
          <a:solidFill>
            <a:srgbClr val="A29BFE"/>
          </a:solidFill>
          <a:ln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600200" y="2286000"/>
            <a:ext cx="1371600" cy="822960"/>
          </a:xfrm>
          <a:prstGeom prst="arc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66544" y="3246120"/>
            <a:ext cx="438912" cy="274320"/>
          </a:xfrm>
          <a:prstGeom prst="rect">
            <a:avLst/>
          </a:prstGeom>
          <a:solidFill>
            <a:srgbClr val="FFD93D"/>
          </a:solidFill>
          <a:ln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212080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A29BFE"/>
                </a:solidFill>
                <a:latin typeface="微软雅黑"/>
              </a:rPr>
              <a:t>C 标准库 (libc)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69280"/>
            <a:ext cx="3108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7F8C8D"/>
                </a:solidFill>
                <a:latin typeface="微软雅黑"/>
              </a:rPr>
              <a:t>几百个工具，开箱即用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011680"/>
            <a:ext cx="2286000" cy="1554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26280" y="2240280"/>
            <a:ext cx="640080" cy="64008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2860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>
                <a:solidFill>
                  <a:srgbClr val="2C3E50"/>
                </a:solidFill>
                <a:latin typeface="微软雅黑"/>
              </a:rPr>
              <a:t>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286000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printf/scanf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697480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输入输出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0" y="2011680"/>
            <a:ext cx="2286000" cy="1554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6600" y="2240280"/>
            <a:ext cx="640080" cy="64008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22860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>
                <a:solidFill>
                  <a:srgbClr val="2C3E50"/>
                </a:solidFill>
                <a:latin typeface="微软雅黑"/>
              </a:rPr>
              <a:t>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2286000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malloc/free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2697480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内存管理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2011680"/>
            <a:ext cx="2286000" cy="1554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46919" y="2240280"/>
            <a:ext cx="640080" cy="640080"/>
          </a:xfrm>
          <a:prstGeom prst="ellipse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46919" y="22860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>
                <a:solidFill>
                  <a:srgbClr val="2C3E50"/>
                </a:solidFill>
                <a:latin typeface="微软雅黑"/>
              </a:rPr>
              <a:t>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39" y="2286000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strcpy/strlen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39" y="2697480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字符串处理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840480"/>
            <a:ext cx="2286000" cy="1554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26280" y="4069080"/>
            <a:ext cx="640080" cy="640080"/>
          </a:xfrm>
          <a:prstGeom prst="ellipse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41148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>
                <a:solidFill>
                  <a:srgbClr val="2C3E50"/>
                </a:solidFill>
                <a:latin typeface="微软雅黑"/>
              </a:rPr>
              <a:t>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4114800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fopen/fread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4526280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文件操作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49440" y="3840480"/>
            <a:ext cx="2286000" cy="1554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86600" y="4069080"/>
            <a:ext cx="640080" cy="640080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86600" y="41148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>
                <a:solidFill>
                  <a:srgbClr val="2C3E50"/>
                </a:solidFill>
                <a:latin typeface="微软雅黑"/>
              </a:rPr>
              <a:t>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18120" y="4114800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sin/cos/sqrt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20" y="4526280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数学计算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09759" y="3840480"/>
            <a:ext cx="2286000" cy="1554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FF8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646919" y="4069080"/>
            <a:ext cx="640080" cy="640080"/>
          </a:xfrm>
          <a:prstGeom prst="ellipse">
            <a:avLst/>
          </a:prstGeom>
          <a:solidFill>
            <a:srgbClr val="FF8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46919" y="41148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>
                <a:solidFill>
                  <a:srgbClr val="2C3E50"/>
                </a:solidFill>
                <a:latin typeface="微软雅黑"/>
              </a:rPr>
              <a:t>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39" y="4114800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time/clock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78439" y="4526280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时间日期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" y="5852160"/>
            <a:ext cx="10332720" cy="640080"/>
          </a:xfrm>
          <a:prstGeom prst="roundRect">
            <a:avLst>
              <a:gd name="adj" fmla="val 30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💡 核心思想：不用重复造轮子——用别人写好的、经过验证的代码，做自己的事情。这就是复用。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🏭 编译四阶段总览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从 hello.c 到 hello.exe 的神奇流水线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657600"/>
            <a:ext cx="11247120" cy="13716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2286000"/>
            <a:ext cx="1645920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4320" y="228600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37744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0">
                <a:solidFill>
                  <a:srgbClr val="2C3E50"/>
                </a:solidFill>
                <a:latin typeface="微软雅黑"/>
              </a:rPr>
              <a:t>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291840"/>
            <a:ext cx="1645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hello.c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840480"/>
            <a:ext cx="1463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源代码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463040" y="3383280"/>
            <a:ext cx="548640" cy="4572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103120" y="2286000"/>
            <a:ext cx="1645920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03120" y="228600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0" y="237744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0">
                <a:solidFill>
                  <a:srgbClr val="2C3E50"/>
                </a:solidFill>
                <a:latin typeface="微软雅黑"/>
              </a:rPr>
              <a:t>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291840"/>
            <a:ext cx="1645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📋 预处理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3840480"/>
            <a:ext cx="1463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展开头文件
替换宏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566160" y="3383280"/>
            <a:ext cx="548640" cy="4572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06240" y="2286000"/>
            <a:ext cx="1645920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06240" y="228600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6240" y="237744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0">
                <a:solidFill>
                  <a:srgbClr val="2C3E50"/>
                </a:solidFill>
                <a:latin typeface="微软雅黑"/>
              </a:rPr>
              <a:t>⚙️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291840"/>
            <a:ext cx="1645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⚙️ 编译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3840480"/>
            <a:ext cx="1463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翻译成
汇编代码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669280" y="3383280"/>
            <a:ext cx="548640" cy="4572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09360" y="2286000"/>
            <a:ext cx="1645920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09360" y="228600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37744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0">
                <a:solidFill>
                  <a:srgbClr val="2C3E50"/>
                </a:solidFill>
                <a:latin typeface="微软雅黑"/>
              </a:rPr>
              <a:t>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291840"/>
            <a:ext cx="1645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🔢 汇编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840480"/>
            <a:ext cx="1463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生成
机器码(.o)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772400" y="3383280"/>
            <a:ext cx="548640" cy="4572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12480" y="2286000"/>
            <a:ext cx="1645920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12480" y="228600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A29BFE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0" y="237744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0">
                <a:solidFill>
                  <a:srgbClr val="2C3E50"/>
                </a:solidFill>
                <a:latin typeface="微软雅黑"/>
              </a:rPr>
              <a:t>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291840"/>
            <a:ext cx="1645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🔗 链接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3840480"/>
            <a:ext cx="1463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拼入库
函数代码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9875520" y="3383280"/>
            <a:ext cx="548640" cy="4572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515600" y="2286000"/>
            <a:ext cx="1645920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515600" y="228600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6BCB77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0" y="237744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0">
                <a:solidFill>
                  <a:srgbClr val="2C3E50"/>
                </a:solidFill>
                <a:latin typeface="微软雅黑"/>
              </a:rPr>
              <a:t>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3291840"/>
            <a:ext cx="1645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C3E50"/>
                </a:solidFill>
                <a:latin typeface="微软雅黑"/>
              </a:rPr>
              <a:t>hello.exe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840480"/>
            <a:ext cx="1463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可执行
文件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5212080"/>
            <a:ext cx="5760720" cy="914400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0" y="5303520"/>
            <a:ext cx="5760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微软雅黑"/>
              </a:rPr>
              <a:t>💡 记忆口诀：预 → 编 → 汇 → 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5760720"/>
            <a:ext cx="57607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7F8C8D"/>
                </a:solidFill>
                <a:latin typeface="微软雅黑"/>
              </a:rPr>
              <a:t>（谐音：预判会练 —— 提前预判，就会练习）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⭐ 重点：链接的秘密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printf 是怎么跑进我们的程序里的？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54480"/>
            <a:ext cx="10058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C3E50"/>
                </a:solidFill>
                <a:latin typeface="微软雅黑"/>
              </a:rPr>
              <a:t>链接器做了什么？四步走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86000"/>
            <a:ext cx="2743200" cy="3474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286000"/>
            <a:ext cx="2743200" cy="457200"/>
          </a:xfrm>
          <a:prstGeom prst="rect">
            <a:avLst/>
          </a:prstGeom>
          <a:solid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286000"/>
            <a:ext cx="2743200" cy="457200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2743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📄 hello.o 目标文件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720" y="301752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74B9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33756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我们的代码
(main函数)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88720" y="438912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70916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6B6B"/>
                </a:solidFill>
                <a:latin typeface="微软雅黑"/>
              </a:rPr>
              <a:t>❓ printf 在哪？
（未定义符号）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0352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6B6B"/>
                </a:solidFill>
                <a:latin typeface="微软雅黑"/>
              </a:rPr>
              <a:t>⚠️ 不能独立运行！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2286000"/>
            <a:ext cx="4114800" cy="3474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0" y="2286000"/>
            <a:ext cx="4114800" cy="457200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0" y="2331720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🔗 链接器 + 📦 标准库</a:t>
            </a:r>
          </a:p>
        </p:txBody>
      </p:sp>
      <p:sp>
        <p:nvSpPr>
          <p:cNvPr id="22" name="Oval 21"/>
          <p:cNvSpPr/>
          <p:nvPr/>
        </p:nvSpPr>
        <p:spPr>
          <a:xfrm>
            <a:off x="4206240" y="2926080"/>
            <a:ext cx="457200" cy="457200"/>
          </a:xfrm>
          <a:prstGeom prst="ellipse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0" y="2971800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1️⃣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2944368"/>
            <a:ext cx="2926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符号解析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3218688"/>
            <a:ext cx="2926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找出所有未定义的函数引用</a:t>
            </a:r>
          </a:p>
        </p:txBody>
      </p:sp>
      <p:sp>
        <p:nvSpPr>
          <p:cNvPr id="26" name="Oval 25"/>
          <p:cNvSpPr/>
          <p:nvPr/>
        </p:nvSpPr>
        <p:spPr>
          <a:xfrm>
            <a:off x="4206240" y="3611880"/>
            <a:ext cx="457200" cy="457200"/>
          </a:xfrm>
          <a:prstGeom prst="ellipse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0" y="3657600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2️⃣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3630168"/>
            <a:ext cx="2926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库中查找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3904488"/>
            <a:ext cx="2926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去libc里找printf的实现</a:t>
            </a:r>
          </a:p>
        </p:txBody>
      </p:sp>
      <p:sp>
        <p:nvSpPr>
          <p:cNvPr id="30" name="Oval 29"/>
          <p:cNvSpPr/>
          <p:nvPr/>
        </p:nvSpPr>
        <p:spPr>
          <a:xfrm>
            <a:off x="4206240" y="4297680"/>
            <a:ext cx="457200" cy="457200"/>
          </a:xfrm>
          <a:prstGeom prst="ellipse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4343400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3️⃣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600" y="4315968"/>
            <a:ext cx="2926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代码合并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0" y="4590288"/>
            <a:ext cx="2926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把printf的代码拼进来</a:t>
            </a:r>
          </a:p>
        </p:txBody>
      </p:sp>
      <p:sp>
        <p:nvSpPr>
          <p:cNvPr id="34" name="Oval 33"/>
          <p:cNvSpPr/>
          <p:nvPr/>
        </p:nvSpPr>
        <p:spPr>
          <a:xfrm>
            <a:off x="4206240" y="4983480"/>
            <a:ext cx="457200" cy="457200"/>
          </a:xfrm>
          <a:prstGeom prst="ellipse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40" y="5029200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4️⃣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600" y="5001768"/>
            <a:ext cx="2926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  <a:latin typeface="微软雅黑"/>
              </a:rPr>
              <a:t>地址重定位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0600" y="5276088"/>
            <a:ext cx="29260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调整所有调用的地址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0" y="2286000"/>
            <a:ext cx="2743200" cy="3474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86800" y="2286000"/>
            <a:ext cx="2743200" cy="457200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2331720"/>
            <a:ext cx="2743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🚀 hello.exe 可执行文件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301752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6BCB77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333756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我们的代码
(main函数)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0" y="438912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0" y="470916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✅ printf 实现
（从库中拼入）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5303520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6BCB77"/>
                </a:solidFill>
                <a:latin typeface="微软雅黑"/>
              </a:rPr>
              <a:t>🎉 可以独立运行！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3474720" y="3840480"/>
            <a:ext cx="457200" cy="457200"/>
          </a:xfrm>
          <a:prstGeom prst="rightArrow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ight Arrow 46"/>
          <p:cNvSpPr/>
          <p:nvPr/>
        </p:nvSpPr>
        <p:spPr>
          <a:xfrm>
            <a:off x="8046720" y="3840480"/>
            <a:ext cx="457200" cy="457200"/>
          </a:xfrm>
          <a:prstGeom prst="rightArrow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371600" y="5943600"/>
            <a:ext cx="9418320" cy="640080"/>
          </a:xfrm>
          <a:prstGeom prst="roundRect">
            <a:avLst>
              <a:gd name="adj" fmla="val 3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71600" y="6035040"/>
            <a:ext cx="9418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🔑 链接的本质：把我们的代码和库的代码拼在一起，形成完整的可执行程序。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📋 头文件 vs 🍳 库文件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一个比喻搞懂接口与实现的分离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502920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28800"/>
            <a:ext cx="5029200" cy="54864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5029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📋 头文件 (.h)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2651760"/>
            <a:ext cx="1234440" cy="1508760"/>
          </a:xfrm>
          <a:prstGeom prst="roundRect">
            <a:avLst>
              <a:gd name="adj" fmla="val 5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40380" y="2583180"/>
            <a:ext cx="274320" cy="164592"/>
          </a:xfrm>
          <a:prstGeom prst="rect">
            <a:avLst/>
          </a:prstGeom>
          <a:solidFill>
            <a:srgbClr val="3D9991"/>
          </a:solidFill>
          <a:ln>
            <a:solidFill>
              <a:srgbClr val="3D9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24912" y="2857500"/>
            <a:ext cx="548640" cy="685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2857500"/>
            <a:ext cx="246888" cy="68580"/>
          </a:xfrm>
          <a:prstGeom prst="rect">
            <a:avLst/>
          </a:prstGeom>
          <a:solidFill>
            <a:srgbClr val="FFD93D"/>
          </a:solidFill>
          <a:ln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24912" y="3159252"/>
            <a:ext cx="548640" cy="685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3280" y="3159252"/>
            <a:ext cx="246888" cy="68580"/>
          </a:xfrm>
          <a:prstGeom prst="rect">
            <a:avLst/>
          </a:prstGeom>
          <a:solidFill>
            <a:srgbClr val="FFD93D"/>
          </a:solidFill>
          <a:ln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24912" y="3461004"/>
            <a:ext cx="548640" cy="685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3280" y="3461004"/>
            <a:ext cx="246888" cy="68580"/>
          </a:xfrm>
          <a:prstGeom prst="rect">
            <a:avLst/>
          </a:prstGeom>
          <a:solidFill>
            <a:srgbClr val="FFD93D"/>
          </a:solidFill>
          <a:ln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24912" y="3762756"/>
            <a:ext cx="548640" cy="685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83280" y="3762756"/>
            <a:ext cx="246888" cy="68580"/>
          </a:xfrm>
          <a:prstGeom prst="rect">
            <a:avLst/>
          </a:prstGeom>
          <a:solidFill>
            <a:srgbClr val="FFD93D"/>
          </a:solidFill>
          <a:ln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297680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C3E50"/>
                </a:solidFill>
                <a:latin typeface="微软雅黑"/>
              </a:rPr>
              <a:t>= 菜 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937760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• 里面是函数声明（接口描述）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349240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• 告诉编译器：有这个函数，长什么样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760720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• 不包含具体实现代码（不能吃）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6172200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• 编译阶段使用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6583680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• 例：stdio.h, stdlib.h, string.h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1828800"/>
            <a:ext cx="502920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1828800"/>
            <a:ext cx="5029200" cy="548640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🍳 库文件 (.a / .dll)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3200400"/>
            <a:ext cx="1371600" cy="822960"/>
          </a:xfrm>
          <a:prstGeom prst="roundRect">
            <a:avLst>
              <a:gd name="adj" fmla="val 8000"/>
            </a:avLst>
          </a:prstGeom>
          <a:solidFill>
            <a:srgbClr val="A29BFE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02168" y="3131820"/>
            <a:ext cx="1426464" cy="137160"/>
          </a:xfrm>
          <a:prstGeom prst="rect">
            <a:avLst/>
          </a:prstGeom>
          <a:solidFill>
            <a:srgbClr val="7B68EE"/>
          </a:solidFill>
          <a:ln>
            <a:solidFill>
              <a:srgbClr val="7B6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66760" y="2857500"/>
            <a:ext cx="411480" cy="411480"/>
          </a:xfrm>
          <a:prstGeom prst="ellipse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52560" y="2857500"/>
            <a:ext cx="411480" cy="411480"/>
          </a:xfrm>
          <a:prstGeom prst="ellipse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476488" y="2953512"/>
            <a:ext cx="205740" cy="205740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62288" y="2953512"/>
            <a:ext cx="205740" cy="205740"/>
          </a:xfrm>
          <a:prstGeom prst="ellipse">
            <a:avLst/>
          </a:prstGeom>
          <a:solidFill>
            <a:srgbClr val="FFD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rc 36"/>
          <p:cNvSpPr/>
          <p:nvPr/>
        </p:nvSpPr>
        <p:spPr>
          <a:xfrm>
            <a:off x="8572500" y="3268980"/>
            <a:ext cx="685800" cy="411480"/>
          </a:xfrm>
          <a:prstGeom prst="arc">
            <a:avLst/>
          </a:prstGeom>
          <a:noFill/>
          <a:ln w="50800">
            <a:solidFill>
              <a:srgbClr val="5D4B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709660" y="2651760"/>
            <a:ext cx="137160" cy="137160"/>
          </a:xfrm>
          <a:prstGeom prst="ellipse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915400" y="2583180"/>
            <a:ext cx="109728" cy="109728"/>
          </a:xfrm>
          <a:prstGeom prst="ellipse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297680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C3E50"/>
                </a:solidFill>
                <a:latin typeface="微软雅黑"/>
              </a:rPr>
              <a:t>= 厨 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937760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• 里面是函数实现（真正的代码）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5349240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• 链接器把它拼进你的程序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5760720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• 包含几百个函数的二进制代码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6172200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• 链接阶段使用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6583680"/>
            <a:ext cx="4114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• 例：libc.a, msvcrt.dll</a:t>
            </a:r>
          </a:p>
        </p:txBody>
      </p:sp>
      <p:sp>
        <p:nvSpPr>
          <p:cNvPr id="46" name="Oval 45"/>
          <p:cNvSpPr/>
          <p:nvPr/>
        </p:nvSpPr>
        <p:spPr>
          <a:xfrm>
            <a:off x="5577840" y="3566160"/>
            <a:ext cx="914400" cy="91440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577840" y="3749039"/>
            <a:ext cx="914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</a:rPr>
              <a:t>VS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" y="5943600"/>
            <a:ext cx="10332720" cy="640080"/>
          </a:xfrm>
          <a:prstGeom prst="roundRect">
            <a:avLst>
              <a:gd name="adj" fmla="val 3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6016752"/>
            <a:ext cx="10332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2C3E50"/>
                </a:solidFill>
                <a:latin typeface="微软雅黑"/>
              </a:rPr>
              <a:t>🎯 一句话：编译器看头文件（查菜单），链接器找库文件（找厨房）。接口与实现分离！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🌱 从表达式到框架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软件架构是怎样一步一步生长出来的？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011680"/>
            <a:ext cx="137160" cy="4114800"/>
          </a:xfrm>
          <a:prstGeom prst="rect">
            <a:avLst/>
          </a:prstGeom>
          <a:solidFill>
            <a:srgbClr val="8B45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5669280"/>
            <a:ext cx="2011680" cy="822960"/>
          </a:xfrm>
          <a:prstGeom prst="roundRect">
            <a:avLst>
              <a:gd name="adj" fmla="val 4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212080" y="576072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5806440"/>
            <a:ext cx="640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8C42"/>
                </a:solidFill>
                <a:latin typeface="微软雅黑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5715000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表达式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608076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最底层的砖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4937760"/>
            <a:ext cx="2286000" cy="868680"/>
          </a:xfrm>
          <a:prstGeom prst="roundRect">
            <a:avLst>
              <a:gd name="adj" fmla="val 40000"/>
            </a:avLst>
          </a:prstGeom>
          <a:solidFill>
            <a:srgbClr val="4ECDC4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0" y="502920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5074920"/>
            <a:ext cx="640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4ECDC4"/>
                </a:solidFill>
                <a:latin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983480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函数封装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34924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用砖砌墙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4206240"/>
            <a:ext cx="2560320" cy="914400"/>
          </a:xfrm>
          <a:prstGeom prst="roundRect">
            <a:avLst>
              <a:gd name="adj" fmla="val 4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931920" y="429768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4343400"/>
            <a:ext cx="640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D93D"/>
                </a:solidFill>
                <a:latin typeface="微软雅黑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4251960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模块编程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61772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用墙搭房间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66160" y="3474720"/>
            <a:ext cx="2834640" cy="960120"/>
          </a:xfrm>
          <a:prstGeom prst="roundRect">
            <a:avLst>
              <a:gd name="adj" fmla="val 40000"/>
            </a:avLst>
          </a:prstGeom>
          <a:solidFill>
            <a:srgbClr val="A29BFE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291840" y="356616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3611880"/>
            <a:ext cx="640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A29BFE"/>
                </a:solidFill>
                <a:latin typeface="微软雅黑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3520440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静态库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388620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预制构件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26080" y="2743200"/>
            <a:ext cx="3108960" cy="1005840"/>
          </a:xfrm>
          <a:prstGeom prst="roundRect">
            <a:avLst>
              <a:gd name="adj" fmla="val 40000"/>
            </a:avLst>
          </a:prstGeom>
          <a:solidFill>
            <a:srgbClr val="FF85A6"/>
          </a:solidFill>
          <a:ln w="25400">
            <a:solidFill>
              <a:srgbClr val="FF8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651760" y="28346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51760" y="2880360"/>
            <a:ext cx="640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85A6"/>
                </a:solidFill>
                <a:latin typeface="微软雅黑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2788920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动态库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315468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可替换构件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03120" y="2011680"/>
            <a:ext cx="3383280" cy="1051560"/>
          </a:xfrm>
          <a:prstGeom prst="roundRect">
            <a:avLst>
              <a:gd name="adj" fmla="val 40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828800" y="210312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28800" y="2148840"/>
            <a:ext cx="640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6B6B"/>
                </a:solidFill>
                <a:latin typeface="微软雅黑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2057400"/>
            <a:ext cx="1371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插件框架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0320" y="2423160"/>
            <a:ext cx="1371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大楼设计图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0" y="2011680"/>
            <a:ext cx="34747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2011680"/>
            <a:ext cx="3474720" cy="548640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2103120"/>
            <a:ext cx="3474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</a:rPr>
              <a:t>🌳 生长规律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2743200"/>
            <a:ext cx="2926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每一层解决一个问题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20" y="3200400"/>
            <a:ext cx="2926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每一层引入一个新概念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3657600"/>
            <a:ext cx="2926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每一层建立在下一层之上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4114800"/>
            <a:ext cx="2926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572000"/>
            <a:ext cx="2926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💡 复用思想 → 从标准库开始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029200"/>
            <a:ext cx="2926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💡 接口思想 → 从头文件开始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03920" y="5486400"/>
            <a:ext cx="2926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C3E50"/>
                </a:solidFill>
                <a:latin typeface="微软雅黑"/>
              </a:rPr>
              <a:t>💡 分层思想 → 从编译开始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4400" y="5943600"/>
            <a:ext cx="6858000" cy="640080"/>
          </a:xfrm>
          <a:prstGeom prst="roundRect">
            <a:avLst>
              <a:gd name="adj" fmla="val 30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400" y="6016752"/>
            <a:ext cx="6858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🎯 理解了底层原理，再看框架，万变不离其宗。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✅ 课堂小测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看看你掌握了多少？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45920"/>
            <a:ext cx="1033272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8720" y="1874519"/>
            <a:ext cx="731520" cy="73152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965960"/>
            <a:ext cx="7315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920240"/>
            <a:ext cx="8869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2C3E50"/>
                </a:solidFill>
                <a:latin typeface="微软雅黑"/>
              </a:rPr>
              <a:t>题目：目标文件（.o）为什么不能直接运行？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423160"/>
            <a:ext cx="8869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  <a:latin typeface="微软雅黑"/>
              </a:rPr>
              <a:t>请选择正确答案，思考一下再看解析～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200400"/>
            <a:ext cx="5029200" cy="10058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88720" y="3383280"/>
            <a:ext cx="640080" cy="640080"/>
          </a:xfrm>
          <a:prstGeom prst="ellipse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456432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474720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2C3E50"/>
                </a:solidFill>
                <a:latin typeface="微软雅黑"/>
              </a:rPr>
              <a:t>因为它是二进制的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00400"/>
            <a:ext cx="5029200" cy="10058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3383280"/>
            <a:ext cx="640080" cy="640080"/>
          </a:xfrm>
          <a:prstGeom prst="ellipse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456432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474720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2C3E50"/>
                </a:solidFill>
                <a:latin typeface="微软雅黑"/>
              </a:rPr>
              <a:t>因为缺少库函数的实现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480560"/>
            <a:ext cx="5029200" cy="10058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88720" y="4663440"/>
            <a:ext cx="640080" cy="640080"/>
          </a:xfrm>
          <a:prstGeom prst="ellipse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36592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754880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2C3E50"/>
                </a:solidFill>
                <a:latin typeface="微软雅黑"/>
              </a:rPr>
              <a:t>因为它太大了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480560"/>
            <a:ext cx="5029200" cy="10058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92240" y="4663440"/>
            <a:ext cx="640080" cy="640080"/>
          </a:xfrm>
          <a:prstGeom prst="ellipse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36592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754880"/>
            <a:ext cx="3657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2C3E50"/>
                </a:solidFill>
                <a:latin typeface="微软雅黑"/>
              </a:rPr>
              <a:t>因为操作系统不认识 .o 格式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5760720"/>
            <a:ext cx="8503920" cy="822960"/>
          </a:xfrm>
          <a:prstGeom prst="roundRect">
            <a:avLst>
              <a:gd name="adj" fmla="val 20000"/>
            </a:avLst>
          </a:prstGeom>
          <a:solidFill>
            <a:srgbClr val="6BCB77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0" y="5852160"/>
            <a:ext cx="8503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</a:rPr>
              <a:t>✅ 正确答案：B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6217920"/>
            <a:ext cx="8503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微软雅黑"/>
              </a:rPr>
              <a:t>解析：目标文件只有我们写的代码，printf 等库函数还没链接进来，所以不能独立运行！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🤔 思考题 · 往深了想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没有标准答案，重要的是思考过程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338328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28800"/>
            <a:ext cx="3383280" cy="64008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2024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2C3E50"/>
                </a:solidFill>
                <a:latin typeface="微软雅黑"/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965960"/>
            <a:ext cx="2377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编译型 vs 解释型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834640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</a:rPr>
              <a:t>C是编译型，Python是解释型，
各有什么优缺点？和插件有什么关系？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4206240"/>
            <a:ext cx="2834640" cy="548640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80"/>
            <a:ext cx="283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💡 答案见课件文档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1828800"/>
            <a:ext cx="338328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1828800"/>
            <a:ext cx="3383280" cy="640080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92024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2C3E50"/>
                </a:solidFill>
                <a:latin typeface="微软雅黑"/>
              </a:rPr>
              <a:t>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1965960"/>
            <a:ext cx="2377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静态链接的代价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834640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</a:rPr>
              <a:t>100个程序都用printf，
内存里就有100份？怎么解决？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4206240"/>
            <a:ext cx="2834640" cy="548640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4297680"/>
            <a:ext cx="283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💡 答案见课件文档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1828800"/>
            <a:ext cx="3383280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80960" y="1828800"/>
            <a:ext cx="3383280" cy="64008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1920240"/>
            <a:ext cx="548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2C3E50"/>
                </a:solidFill>
                <a:latin typeface="微软雅黑"/>
              </a:rPr>
              <a:t>⚖️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965960"/>
            <a:ext cx="2377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灵活与安全的平衡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2834640"/>
            <a:ext cx="28346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C3E50"/>
                </a:solidFill>
                <a:latin typeface="微软雅黑"/>
              </a:rPr>
              <a:t>C的表达式设计很灵活但易错，
编程语言设计中这是矛盾吗？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80" y="4206240"/>
            <a:ext cx="2834640" cy="548640"/>
          </a:xfrm>
          <a:prstGeom prst="roundRect">
            <a:avLst>
              <a:gd name="adj" fmla="val 30000"/>
            </a:avLst>
          </a:prstGeom>
          <a:solidFill>
            <a:srgbClr val="F7F9FC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0" y="4297680"/>
            <a:ext cx="2834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  <a:latin typeface="微软雅黑"/>
              </a:rPr>
              <a:t>💡 答案见课件文档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71600" y="5394960"/>
            <a:ext cx="9418320" cy="914400"/>
          </a:xfrm>
          <a:prstGeom prst="roundRect">
            <a:avLst>
              <a:gd name="adj" fmla="val 30000"/>
            </a:avLst>
          </a:prstGeom>
          <a:solidFill>
            <a:srgbClr val="FFD93D"/>
          </a:solidFill>
          <a:ln w="2540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5486400"/>
            <a:ext cx="9418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C3E50"/>
                </a:solidFill>
                <a:latin typeface="微软雅黑"/>
              </a:rPr>
              <a:t>🌟 学编程，最重要的不是记住答案，而是学会提出好问题。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897880"/>
            <a:ext cx="9418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7F8C8D"/>
                </a:solidFill>
                <a:latin typeface="微软雅黑"/>
              </a:rPr>
              <a:t>这些问题会在后面的课程中逐一展开——带着问题学习，效率最高！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4320" y="457200"/>
            <a:ext cx="320040" cy="320040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02920" y="502920"/>
            <a:ext cx="228600" cy="228600"/>
          </a:xfrm>
          <a:prstGeom prst="ellipse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2C3E50"/>
                </a:solidFill>
                <a:latin typeface="微软雅黑"/>
              </a:rPr>
              <a:t>📝 小结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058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7F8C8D"/>
                </a:solidFill>
                <a:latin typeface="微软雅黑"/>
              </a:rPr>
              <a:t>一行 printf 的完整生命周期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645920"/>
            <a:ext cx="9418320" cy="1188720"/>
          </a:xfrm>
          <a:prstGeom prst="roundRect">
            <a:avLst>
              <a:gd name="adj" fmla="val 8000"/>
            </a:avLst>
          </a:prstGeom>
          <a:solidFill>
            <a:srgbClr val="FF8C42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783080"/>
            <a:ext cx="94183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D93D"/>
                </a:solidFill>
                <a:latin typeface="微软雅黑"/>
              </a:rPr>
              <a:t>🎯 一句话总结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148840"/>
            <a:ext cx="94183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一行 printf 表达式，从代码到输出，经历了编译四阶段，
通过链接把标准库的 printf 拼进来，最终打出 Hello。这就是复用的起点。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91840"/>
            <a:ext cx="21488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FF8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91840"/>
            <a:ext cx="2148840" cy="73152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474720"/>
            <a:ext cx="2148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2C3E50"/>
                </a:solidFill>
                <a:latin typeface="微软雅黑"/>
              </a:rPr>
              <a:t>1️⃣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11480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C3E50"/>
                </a:solidFill>
                <a:latin typeface="微软雅黑"/>
              </a:rPr>
              <a:t>表达式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4617720"/>
            <a:ext cx="685800" cy="36576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754880"/>
            <a:ext cx="187451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能算值的代码片段
C几乎一切都是表达式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88920" y="3291840"/>
            <a:ext cx="21488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29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88920" y="3291840"/>
            <a:ext cx="2148840" cy="73152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3474720"/>
            <a:ext cx="2148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2C3E50"/>
                </a:solidFill>
                <a:latin typeface="微软雅黑"/>
              </a:rPr>
              <a:t>2️⃣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411480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C3E50"/>
                </a:solidFill>
                <a:latin typeface="微软雅黑"/>
              </a:rPr>
              <a:t>C标准库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20440" y="4617720"/>
            <a:ext cx="685800" cy="36576"/>
          </a:xfrm>
          <a:prstGeom prst="rect">
            <a:avLst/>
          </a:prstGeom>
          <a:solidFill>
            <a:srgbClr val="A29B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0" y="4754880"/>
            <a:ext cx="187451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自带的工具箱
printf/malloc都在这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0" y="3291840"/>
            <a:ext cx="21488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4ECD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3291840"/>
            <a:ext cx="2148840" cy="73152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3474720"/>
            <a:ext cx="2148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2C3E50"/>
                </a:solidFill>
                <a:latin typeface="微软雅黑"/>
              </a:rPr>
              <a:t>3️⃣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411480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C3E50"/>
                </a:solidFill>
                <a:latin typeface="微软雅黑"/>
              </a:rPr>
              <a:t>头文件vs库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0" y="4617720"/>
            <a:ext cx="685800" cy="36576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7800" y="4754880"/>
            <a:ext cx="187451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头文件是接口（菜单）
库文件是实现（厨房）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52359" y="3291840"/>
            <a:ext cx="21488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4B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52359" y="3291840"/>
            <a:ext cx="2148840" cy="73152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2359" y="3474720"/>
            <a:ext cx="2148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2C3E50"/>
                </a:solidFill>
                <a:latin typeface="微软雅黑"/>
              </a:rPr>
              <a:t>4️⃣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59" y="411480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C3E50"/>
                </a:solidFill>
                <a:latin typeface="微软雅黑"/>
              </a:rPr>
              <a:t>编译四阶段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79" y="4617720"/>
            <a:ext cx="685800" cy="36576"/>
          </a:xfrm>
          <a:prstGeom prst="rect">
            <a:avLst/>
          </a:prstGeom>
          <a:solidFill>
            <a:srgbClr val="74B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19" y="4754880"/>
            <a:ext cx="187451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预→编→汇→链
口诀：预判会练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3291840"/>
            <a:ext cx="21488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6BCB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84080" y="3291840"/>
            <a:ext cx="2148840" cy="73152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84080" y="3474720"/>
            <a:ext cx="2148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0">
                <a:solidFill>
                  <a:srgbClr val="2C3E50"/>
                </a:solidFill>
                <a:latin typeface="微软雅黑"/>
              </a:rPr>
              <a:t>5️⃣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4114800"/>
            <a:ext cx="2148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C3E50"/>
                </a:solidFill>
                <a:latin typeface="微软雅黑"/>
              </a:rPr>
              <a:t>链接的本质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15600" y="4617720"/>
            <a:ext cx="685800" cy="36576"/>
          </a:xfrm>
          <a:prstGeom prst="rect">
            <a:avLst/>
          </a:prstGeom>
          <a:solidFill>
            <a:srgbClr val="6BCB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21240" y="4754880"/>
            <a:ext cx="1874519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7F8C8D"/>
                </a:solidFill>
                <a:latin typeface="微软雅黑"/>
              </a:rPr>
              <a:t>把我们的代码和库的代码
拼在一起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0" y="5852160"/>
            <a:ext cx="6675120" cy="640080"/>
          </a:xfrm>
          <a:prstGeom prst="roundRect">
            <a:avLst>
              <a:gd name="adj" fmla="val 30000"/>
            </a:avLst>
          </a:prstGeom>
          <a:solidFill>
            <a:srgbClr val="FF6B6B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0" y="5943600"/>
            <a:ext cx="6675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👉 下一讲：函数封装 —— 给代码找个家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