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457200" cy="457200"/>
          </a:xfrm>
          <a:prstGeom prst="rect">
            <a:avLst/>
          </a:prstGeom>
          <a:solidFill>
            <a:srgbClr val="2A3A50"/>
          </a:solidFill>
          <a:ln w="1270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914400"/>
            <a:ext cx="457200" cy="457200"/>
          </a:xfrm>
          <a:prstGeom prst="rect">
            <a:avLst/>
          </a:prstGeom>
          <a:solidFill>
            <a:srgbClr val="2A3A50"/>
          </a:solidFill>
          <a:ln w="1270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914400"/>
            <a:ext cx="457200" cy="457200"/>
          </a:xfrm>
          <a:prstGeom prst="rect">
            <a:avLst/>
          </a:prstGeom>
          <a:solidFill>
            <a:srgbClr val="2A3A50"/>
          </a:solidFill>
          <a:ln w="1270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0" y="914400"/>
            <a:ext cx="457200" cy="457200"/>
          </a:xfrm>
          <a:prstGeom prst="rect">
            <a:avLst/>
          </a:prstGeom>
          <a:solidFill>
            <a:srgbClr val="2A3A50"/>
          </a:solidFill>
          <a:ln w="1270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914400"/>
            <a:ext cx="457200" cy="457200"/>
          </a:xfrm>
          <a:prstGeom prst="rect">
            <a:avLst/>
          </a:prstGeom>
          <a:solidFill>
            <a:srgbClr val="2A3A50"/>
          </a:solidFill>
          <a:ln w="12700"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560320"/>
            <a:ext cx="73152" cy="1828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微软雅黑"/>
              </a:rPr>
              <a:t>第1讲：表达式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38328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0">
                <a:solidFill>
                  <a:srgbClr val="2ECCFA"/>
                </a:solidFill>
                <a:latin typeface="微软雅黑"/>
              </a:rPr>
              <a:t>—— C语言的灵魂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微软雅黑"/>
              </a:rPr>
              <a:t>从程序员到架构师 —— C语言插件框架演进之旅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566928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FFA000"/>
                </a:solidFill>
                <a:latin typeface="微软雅黑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📜 导入：C语言是怎么来的？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10332720" cy="73152"/>
          </a:xfrm>
          <a:prstGeom prst="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45920" y="2377440"/>
            <a:ext cx="457200" cy="457200"/>
          </a:xfrm>
          <a:prstGeom prst="ellipse">
            <a:avLst/>
          </a:prstGeom>
          <a:solidFill>
            <a:srgbClr val="66666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5F8B"/>
                </a:solidFill>
                <a:latin typeface="微软雅黑"/>
              </a:rPr>
              <a:t>1960s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/>
              </a:rPr>
              <a:t>BCPL
语言</a:t>
            </a:r>
          </a:p>
        </p:txBody>
      </p:sp>
      <p:sp>
        <p:nvSpPr>
          <p:cNvPr id="8" name="Oval 7"/>
          <p:cNvSpPr/>
          <p:nvPr/>
        </p:nvSpPr>
        <p:spPr>
          <a:xfrm>
            <a:off x="4023360" y="2377440"/>
            <a:ext cx="457200" cy="457200"/>
          </a:xfrm>
          <a:prstGeom prst="ellipse">
            <a:avLst/>
          </a:prstGeom>
          <a:solidFill>
            <a:srgbClr val="2ECCF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5F8B"/>
                </a:solidFill>
                <a:latin typeface="微软雅黑"/>
              </a:rPr>
              <a:t>1970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9260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/>
              </a:rPr>
              <a:t>B语言
Ken Thompson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0" y="2377440"/>
            <a:ext cx="457200" cy="457200"/>
          </a:xfrm>
          <a:prstGeom prst="ellipse">
            <a:avLst/>
          </a:prstGeom>
          <a:solidFill>
            <a:srgbClr val="FFA0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5F8B"/>
                </a:solidFill>
                <a:latin typeface="微软雅黑"/>
              </a:rPr>
              <a:t>1972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9260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/>
              </a:rPr>
              <a:t>C语言诞生
Dennis Ritchie</a:t>
            </a:r>
          </a:p>
        </p:txBody>
      </p:sp>
      <p:sp>
        <p:nvSpPr>
          <p:cNvPr id="14" name="Oval 13"/>
          <p:cNvSpPr/>
          <p:nvPr/>
        </p:nvSpPr>
        <p:spPr>
          <a:xfrm>
            <a:off x="8778240" y="2377440"/>
            <a:ext cx="457200" cy="457200"/>
          </a:xfrm>
          <a:prstGeom prst="ellipse">
            <a:avLst/>
          </a:prstGeom>
          <a:solidFill>
            <a:srgbClr val="4CAF5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5F8B"/>
                </a:solidFill>
                <a:latin typeface="微软雅黑"/>
              </a:rPr>
              <a:t>1973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260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/>
              </a:rPr>
              <a:t>UNIX用C
重写</a:t>
            </a:r>
          </a:p>
        </p:txBody>
      </p:sp>
      <p:sp>
        <p:nvSpPr>
          <p:cNvPr id="17" name="Oval 16"/>
          <p:cNvSpPr/>
          <p:nvPr/>
        </p:nvSpPr>
        <p:spPr>
          <a:xfrm>
            <a:off x="11155680" y="2377440"/>
            <a:ext cx="457200" cy="457200"/>
          </a:xfrm>
          <a:prstGeom prst="ellipse">
            <a:avLst/>
          </a:prstGeom>
          <a:solidFill>
            <a:srgbClr val="9C27B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0" y="1645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2C5F8B"/>
                </a:solidFill>
                <a:latin typeface="微软雅黑"/>
              </a:rPr>
              <a:t>1978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926080"/>
            <a:ext cx="1920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  <a:latin typeface="微软雅黑"/>
              </a:rPr>
              <a:t>K&amp;R C
经典教材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389120"/>
            <a:ext cx="10332720" cy="1828800"/>
          </a:xfrm>
          <a:prstGeom prst="roundRect">
            <a:avLst/>
          </a:prstGeom>
          <a:solidFill>
            <a:srgbClr val="FFF8E1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57200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A000"/>
                </a:solidFill>
                <a:latin typeface="微软雅黑"/>
              </a:rPr>
              <a:t>🎯 一个"副产品"改变了世界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/>
              </a:rPr>
              <a:t>1972年，贝尔实验室，Dennis Ritchie 为了写 UNIX 操作系统，在B语言基础上发明了C语言。
C语言为什么叫C？因为它的前身是B语言（BCPL的首字母），C是B的下一个字母。
程序员起名字，就是这么朴实无华。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🏆 C语言为什么伟大？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474720" cy="50800"/>
          </a:xfrm>
          <a:prstGeom prst="rect">
            <a:avLst/>
          </a:prstGeom>
          <a:solidFill>
            <a:srgbClr val="EF5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5350"/>
                </a:solidFill>
                <a:latin typeface="微软雅黑"/>
              </a:rPr>
              <a:t>汇编语言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微软雅黑"/>
              </a:rPr>
              <a:t>✅ 优点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最快、最直接
完全操控硬件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5350"/>
                </a:solidFill>
                <a:latin typeface="微软雅黑"/>
              </a:rPr>
              <a:t>❌ 缺点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难写、难读
不可移植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6304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463040"/>
            <a:ext cx="3474720" cy="50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645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A000"/>
                </a:solidFill>
                <a:latin typeface="微软雅黑"/>
              </a:rPr>
              <a:t>C语言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10312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微软雅黑"/>
              </a:rPr>
              <a:t>✅ 优点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4688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接近机器效率
又有人类可读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1089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5350"/>
                </a:solidFill>
                <a:latin typeface="微软雅黑"/>
              </a:rPr>
              <a:t>❌ 缺点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474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手动管理内存
容易出bug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146304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463040"/>
            <a:ext cx="347472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  <a:latin typeface="微软雅黑"/>
              </a:rPr>
              <a:t>高级语言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0312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微软雅黑"/>
              </a:rPr>
              <a:t>✅ 优点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4688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好写好读
功能强大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10896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EF5350"/>
                </a:solidFill>
                <a:latin typeface="微软雅黑"/>
              </a:rPr>
              <a:t>❌ 缺点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474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运行效率低
离硬件远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114800"/>
            <a:ext cx="106984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297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C5F8B"/>
                </a:solidFill>
                <a:latin typeface="微软雅黑"/>
              </a:rPr>
              <a:t>💎 C语言的江湖地位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846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🏆 UNIX/Linux 内核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846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🏆 Windows 内核（主要）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8463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🏆 MySQL / SQLite / Redis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486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🏆 Python / PHP / Ruby 解释器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48640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🏆 几乎所有嵌入式系统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🧩 表达式 —— C语言的灵魂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32720" cy="914400"/>
          </a:xfrm>
          <a:prstGeom prst="round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表达式（Expression）= 能算出值的代码片段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560320"/>
            <a:ext cx="5760720" cy="109728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0" y="269748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printf("Hello, Plugin Framework!\n");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2103120" cy="1097280"/>
          </a:xfrm>
          <a:prstGeom prst="round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0233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常量表达式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805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onsolas"/>
              </a:rPr>
              <a:t>42、"Hello"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3931920"/>
            <a:ext cx="2103120" cy="1097280"/>
          </a:xfrm>
          <a:prstGeom prst="round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40233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函数调用表达式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44805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onsolas"/>
              </a:rPr>
              <a:t>printf("Hi")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3931920"/>
            <a:ext cx="2103120" cy="109728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40233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算术表达式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4805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onsolas"/>
              </a:rPr>
              <a:t>1 + 2 *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931920"/>
            <a:ext cx="2103120" cy="109728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40233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赋值表达式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4805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onsolas"/>
              </a:rPr>
              <a:t>a =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931920"/>
            <a:ext cx="2103120" cy="10972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4023360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逗号表达式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48056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onsolas"/>
              </a:rPr>
              <a:t>a=1, b=2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5303520"/>
            <a:ext cx="10332720" cy="1097280"/>
          </a:xfrm>
          <a:prstGeom prst="roundRect">
            <a:avLst/>
          </a:prstGeom>
          <a:solidFill>
            <a:srgbClr val="F3E5F5"/>
          </a:solidFill>
          <a:ln>
            <a:solidFill>
              <a:srgbClr val="9C2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54864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9C27B0"/>
                </a:solidFill>
                <a:latin typeface="微软雅黑"/>
              </a:rPr>
              <a:t>🎭 冷知识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8521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C语言的表达式有多疯狂？连 a = b = c = 5 都是合法的——因为赋值也是表达式，有返回值！别的语言："赋值是语句。" C语言："不，我就是要玩出花来。"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🏗️ 从表达式到程序：层次结构图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37990" y="1280160"/>
            <a:ext cx="4114800" cy="1188720"/>
          </a:xfrm>
          <a:prstGeom prst="roundRect">
            <a:avLst/>
          </a:prstGeom>
          <a:solidFill>
            <a:srgbClr val="2C5F8B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37990" y="1600200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程序 Program
（hello.exe）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12510" y="246888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66590" y="2331720"/>
            <a:ext cx="3657600" cy="1005840"/>
          </a:xfrm>
          <a:prstGeom prst="roundRect">
            <a:avLst/>
          </a:prstGeom>
          <a:solidFill>
            <a:srgbClr val="2ECCFA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66590" y="2560320"/>
            <a:ext cx="3657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函数 Function
（main()、printf()）</a:t>
            </a:r>
          </a:p>
        </p:txBody>
      </p:sp>
      <p:sp>
        <p:nvSpPr>
          <p:cNvPr id="9" name="Down Arrow 8"/>
          <p:cNvSpPr/>
          <p:nvPr/>
        </p:nvSpPr>
        <p:spPr>
          <a:xfrm>
            <a:off x="5912510" y="333756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95190" y="3383279"/>
            <a:ext cx="3200400" cy="822960"/>
          </a:xfrm>
          <a:prstGeom prst="roundRect">
            <a:avLst/>
          </a:prstGeom>
          <a:solidFill>
            <a:srgbClr val="9C27B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5190" y="3520439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语句 Statement
（printf("Hi");）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12510" y="4206239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23790" y="4434840"/>
            <a:ext cx="2743200" cy="731520"/>
          </a:xfrm>
          <a:prstGeom prst="roundRect">
            <a:avLst/>
          </a:prstGeom>
          <a:solidFill>
            <a:srgbClr val="FFA0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3790" y="4526280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表达式 Expression
（1+2、printf("Hi")）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12510" y="5166360"/>
            <a:ext cx="365760" cy="182880"/>
          </a:xfrm>
          <a:prstGeom prst="down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52390" y="5486400"/>
            <a:ext cx="2286000" cy="640080"/>
          </a:xfrm>
          <a:prstGeom prst="roundRect">
            <a:avLst/>
          </a:prstGeom>
          <a:solidFill>
            <a:srgbClr val="4CAF5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2390" y="55321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常量/变量/运算符
（42、a、+）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371600"/>
            <a:ext cx="30175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0" y="1371600"/>
            <a:ext cx="3017520" cy="50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0" y="1554480"/>
            <a:ext cx="2468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A000"/>
                </a:solidFill>
                <a:latin typeface="微软雅黑"/>
              </a:rPr>
              <a:t>💡 关键洞察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2011680"/>
            <a:ext cx="2468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表达式是最底层的砖块。
砖块虽小，
但组合方式对了，
就能盖出摩天大楼。
我们这个系列，
就是看这些"砖块"
怎么一步步变成
"框架"这座大厦的。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📝 我们的第一行代码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1148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1206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#include &lt;stdio.h&gt;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/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int main(void)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printf("Hello, Plugin Framework!\n");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    return 0;</a:t>
            </a:r>
          </a:p>
          <a:p>
            <a:pPr algn="l"/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6304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0" y="1463040"/>
            <a:ext cx="4846320" cy="50800"/>
          </a:xfrm>
          <a:prstGeom prst="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4592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5F8B"/>
                </a:solidFill>
                <a:latin typeface="微软雅黑"/>
              </a:rPr>
              <a:t>📋 ① 头文件引入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103120"/>
            <a:ext cx="42976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#include &lt;stdio.h&gt;
把标准IO头文件"抄"进来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251460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2514600"/>
            <a:ext cx="4846320" cy="50800"/>
          </a:xfrm>
          <a:prstGeom prst="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69748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CCFA"/>
                </a:solidFill>
                <a:latin typeface="微软雅黑"/>
              </a:rPr>
              <a:t>🚪 ② 主函数入口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154680"/>
            <a:ext cx="42976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int main(void)
程序从这里开始执行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56616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3566160"/>
            <a:ext cx="4846320" cy="508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374904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C27B0"/>
                </a:solidFill>
                <a:latin typeface="微软雅黑"/>
              </a:rPr>
              <a:t>🖨️ ③ 函数调用表达式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206240"/>
            <a:ext cx="42976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printf("...")
这是一个表达式！有返回值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4617720"/>
            <a:ext cx="48463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0" y="4617720"/>
            <a:ext cx="484632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0" y="4800600"/>
            <a:ext cx="4297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  <a:latin typeface="微软雅黑"/>
              </a:rPr>
              <a:t>✅ ④ 返回值表达式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257800"/>
            <a:ext cx="42976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return 0;
返回0 = 一切正常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⚙️ 编译运行流程（UML活动图）</a:t>
            </a:r>
          </a:p>
        </p:txBody>
      </p:sp>
      <p:sp>
        <p:nvSpPr>
          <p:cNvPr id="4" name="Oval 3"/>
          <p:cNvSpPr/>
          <p:nvPr/>
        </p:nvSpPr>
        <p:spPr>
          <a:xfrm>
            <a:off x="365760" y="2286000"/>
            <a:ext cx="1737360" cy="1371600"/>
          </a:xfrm>
          <a:prstGeom prst="ellipse">
            <a:avLst/>
          </a:prstGeom>
          <a:solidFill>
            <a:srgbClr val="2C5F8B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468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hello.c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源代码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2834640"/>
            <a:ext cx="18288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2286000"/>
            <a:ext cx="1737360" cy="1371600"/>
          </a:xfrm>
          <a:prstGeom prst="roundRect">
            <a:avLst/>
          </a:prstGeom>
          <a:solidFill>
            <a:srgbClr val="2ECCFA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2468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预处理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83464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展开宏和头文件
hello.i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023360" y="2834640"/>
            <a:ext cx="18288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0" y="2286000"/>
            <a:ext cx="1737360" cy="1371600"/>
          </a:xfrm>
          <a:prstGeom prst="roundRect">
            <a:avLst/>
          </a:prstGeom>
          <a:solidFill>
            <a:srgbClr val="9C27B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468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编译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83464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翻译成汇编
hello.s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43600" y="2834640"/>
            <a:ext cx="18288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2286000"/>
            <a:ext cx="1737360" cy="1371600"/>
          </a:xfrm>
          <a:prstGeom prst="roundRect">
            <a:avLst/>
          </a:prstGeom>
          <a:solidFill>
            <a:srgbClr val="FFA00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2468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汇编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生成目标文件
hello.o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63840" y="2834640"/>
            <a:ext cx="18288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2286000"/>
            <a:ext cx="1737360" cy="1371600"/>
          </a:xfrm>
          <a:prstGeom prst="roundRect">
            <a:avLst/>
          </a:prstGeom>
          <a:solidFill>
            <a:srgbClr val="4CAF5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0" y="2468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链接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83464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拼入printf
+ stdio库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784080" y="2834640"/>
            <a:ext cx="182880" cy="27432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966960" y="2286000"/>
            <a:ext cx="1737360" cy="1371600"/>
          </a:xfrm>
          <a:prstGeom prst="ellipse">
            <a:avLst/>
          </a:prstGeom>
          <a:solidFill>
            <a:srgbClr val="EF5350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246888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hello.exe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2834640"/>
            <a:ext cx="1554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微软雅黑"/>
              </a:rPr>
              <a:t>可执行文件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297680"/>
            <a:ext cx="10332720" cy="2103120"/>
          </a:xfrm>
          <a:prstGeom prst="roundRect">
            <a:avLst/>
          </a:prstGeom>
          <a:solidFill>
            <a:srgbClr val="FFF8E1"/>
          </a:solidFill>
          <a:ln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4805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A000"/>
                </a:solidFill>
                <a:latin typeface="微软雅黑"/>
              </a:rPr>
              <a:t>🎯 重点中的重点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937760"/>
            <a:ext cx="97840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微软雅黑"/>
              </a:rPr>
              <a:t>你写的代码里没有 printf 的实现，但程序却能运行它！
因为「链接器」把标准库里的 printf 和你的代码"拼"在了一起。
这就是 复用 的起点 —— 用别人写好的代码，做自己的事情。
这也是 接口 的起点 —— 你不需要知道实现，只需要知道怎么用。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🤖 AI化辅助：探索表达式的奥秘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508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C27B0"/>
                </a:solidFill>
                <a:latin typeface="微软雅黑"/>
              </a:rPr>
              <a:t>💬 Prompt 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"我是大三计算机专业学生，刚学完C语言基础。
请给我讲讲C语言中「表达式」这个概念的独特之处。
为什么说C语言「几乎一切都是表达式」？和Java/Python有什么不同？举3个骚操作例子。"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3474720" cy="50800"/>
          </a:xfrm>
          <a:prstGeom prst="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CCFA"/>
                </a:solidFill>
                <a:latin typeface="微软雅黑"/>
              </a:rPr>
              <a:t>🔗 连锁赋值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a = b = c = 5;
赋值表达式有返回值
所以可以一路赋过去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38328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3383280"/>
            <a:ext cx="3474720" cy="50800"/>
          </a:xfrm>
          <a:prstGeom prst="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35661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CCFA"/>
                </a:solidFill>
                <a:latin typeface="微软雅黑"/>
              </a:rPr>
              <a:t>🤝 赋值嵌if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402336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if ((p=malloc(...))!=NULL)
边赋值边判断
一行搞定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38328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3383280"/>
            <a:ext cx="3474720" cy="50800"/>
          </a:xfrm>
          <a:prstGeom prst="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356616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CCFA"/>
                </a:solidFill>
                <a:latin typeface="微软雅黑"/>
              </a:rPr>
              <a:t>🦠 逗号表达式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23360"/>
            <a:ext cx="29260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for(i=0,j=10; i&lt;j; i++,j--)
逗号分隔多个表达式
取最后一个的值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6035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AF50"/>
                </a:solidFill>
                <a:latin typeface="微软雅黑"/>
              </a:rPr>
              <a:t>✅ 核验练习：把三个"骚操作"写成小程序编译运行，验证AI说的对不对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🛠️ 做中学：动手实验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50800"/>
          </a:xfrm>
          <a:prstGeom prst="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5F8B"/>
                </a:solidFill>
                <a:latin typeface="微软雅黑"/>
              </a:rPr>
              <a:t>⌨️ 实验1：亲手敲代码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5F8B"/>
                </a:solidFill>
                <a:latin typeface="微软雅黑"/>
              </a:rPr>
              <a:t>📋 任务：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不要复制粘贴，
亲手敲出hello.c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566160"/>
            <a:ext cx="2926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49039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C5F8B"/>
                </a:solidFill>
                <a:latin typeface="微软雅黑"/>
              </a:rPr>
              <a:t>💭 思考：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观察：你打错了几次？
怎么修好的？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3716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371600"/>
            <a:ext cx="3474720" cy="50800"/>
          </a:xfrm>
          <a:prstGeom prst="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79" y="1554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CCFA"/>
                </a:solidFill>
                <a:latin typeface="微软雅黑"/>
              </a:rPr>
              <a:t>🎁 实验2：表达式套娃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2011680"/>
            <a:ext cx="2926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CCFA"/>
                </a:solidFill>
                <a:latin typeface="微软雅黑"/>
              </a:rPr>
              <a:t>📋 任务：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24688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打印printf的返回值
看看它返回了什么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79" y="3566160"/>
            <a:ext cx="2926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3749039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ECCFA"/>
                </a:solidFill>
                <a:latin typeface="微软雅黑"/>
              </a:rPr>
              <a:t>💭 思考：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41148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思考：返回值是几？
这说明了什么？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371600"/>
            <a:ext cx="34747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371600"/>
            <a:ext cx="3474720" cy="508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0" y="155448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C27B0"/>
                </a:solidFill>
                <a:latin typeface="微软雅黑"/>
              </a:rPr>
              <a:t>🐛 实验3：故意制造错误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011680"/>
            <a:ext cx="29260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0312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C27B0"/>
                </a:solidFill>
                <a:latin typeface="微软雅黑"/>
              </a:rPr>
              <a:t>📋 任务：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468880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至少试3种错误写法
记录编译器报错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3566160"/>
            <a:ext cx="29260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749039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9C27B0"/>
                </a:solidFill>
                <a:latin typeface="微软雅黑"/>
              </a:rPr>
              <a:t>💭 思考：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14800"/>
            <a:ext cx="2926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思考：报错信息有用吗？
你会怎么改进？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🌱 进化视角：本阶段的"种子"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651760" cy="50800"/>
          </a:xfrm>
          <a:prstGeom prst="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5F8B"/>
                </a:solidFill>
                <a:latin typeface="微软雅黑"/>
              </a:rPr>
              <a:t>表达式可组合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103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微软雅黑"/>
              </a:rPr>
              <a:t>→ 未来概念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模块化组合思想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C5F8B"/>
                </a:solidFill>
                <a:latin typeface="微软雅黑"/>
              </a:rPr>
              <a:t>出现：贯穿始终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651760" cy="50800"/>
          </a:xfrm>
          <a:prstGeom prst="rect">
            <a:avLst/>
          </a:prstGeom>
          <a:solidFill>
            <a:srgbClr val="2EC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554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ECCFA"/>
                </a:solidFill>
                <a:latin typeface="微软雅黑"/>
              </a:rPr>
              <a:t>调用printf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11680"/>
            <a:ext cx="2103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微软雅黑"/>
              </a:rPr>
              <a:t>→ 未来概念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860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接口 —— 定义契约
隐藏实现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ECCFA"/>
                </a:solidFill>
                <a:latin typeface="微软雅黑"/>
              </a:rPr>
              <a:t>出现：第7阶段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71600"/>
            <a:ext cx="2651760" cy="508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554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9C27B0"/>
                </a:solidFill>
                <a:latin typeface="微软雅黑"/>
              </a:rPr>
              <a:t>标准库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2103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微软雅黑"/>
              </a:rPr>
              <a:t>→ 未来概念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库 —— 二进制级
复用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C27B0"/>
                </a:solidFill>
                <a:latin typeface="微软雅黑"/>
              </a:rPr>
              <a:t>出现：第4-5阶段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1371600"/>
            <a:ext cx="265176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52560" y="1371600"/>
            <a:ext cx="2651760" cy="50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554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A000"/>
                </a:solidFill>
                <a:latin typeface="微软雅黑"/>
              </a:rPr>
              <a:t>main入口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011680"/>
            <a:ext cx="21031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666666"/>
                </a:solidFill>
                <a:latin typeface="微软雅黑"/>
              </a:rPr>
              <a:t>→ 未来概念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28600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控制反转 —— 框架
调用你的代码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3200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A000"/>
                </a:solidFill>
                <a:latin typeface="微软雅黑"/>
              </a:rPr>
              <a:t>出现：第9阶段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389120"/>
            <a:ext cx="5029200" cy="1828800"/>
          </a:xfrm>
          <a:prstGeom prst="roundRect">
            <a:avLst/>
          </a:prstGeom>
          <a:solidFill>
            <a:srgbClr val="FFEBEE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F5350"/>
                </a:solidFill>
                <a:latin typeface="微软雅黑"/>
              </a:rPr>
              <a:t>😫 本阶段的痛点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02920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所有代码都写在一个main函数里。
代码多了之后，
main函数会变成"屎山"。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389120"/>
            <a:ext cx="5029200" cy="1828800"/>
          </a:xfrm>
          <a:prstGeom prst="roundRect">
            <a:avLst/>
          </a:prstGeom>
          <a:solidFill>
            <a:srgbClr val="E8F5E9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  <a:latin typeface="微软雅黑"/>
              </a:rPr>
              <a:t>➡️ 下一阶段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029200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02_函数封装
把代码拆分成函数，
让main函数保持清爽。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2C5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📝 本讲小结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4183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9160"/>
                <a:gridCol w="4709160"/>
              </a:tblGrid>
              <a:tr h="52251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知识点</a:t>
                      </a:r>
                    </a:p>
                  </a:txBody>
                  <a:tcPr>
                    <a:solidFill>
                      <a:srgbClr val="2C5F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要点</a:t>
                      </a:r>
                    </a:p>
                  </a:txBody>
                  <a:tcPr>
                    <a:solidFill>
                      <a:srgbClr val="2C5F8B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C语言历史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1972年，Dennis Ritchie，贝尔实验室，UNIX的副产品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表达式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C语言的灵魂 —— 几乎一切都是表达式，都有值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程序层次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表达式 → 语句 → 函数 → 程序（从小到大）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编译四步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预处理 → 编译 → 汇编 → 链接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接口思想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调用者不需要知道实现，只需要知道怎么用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进化思维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微软雅黑"/>
                        </a:rPr>
                        <a:t>每一个技术都是为了解决前一阶段的痛点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371600" y="5303520"/>
            <a:ext cx="9418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5394960"/>
            <a:ext cx="8869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C5F8B"/>
                </a:solidFill>
                <a:latin typeface="微软雅黑"/>
              </a:rPr>
              <a:t>📚 课后任务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5760720"/>
            <a:ext cx="8869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/>
              </a:rPr>
              <a:t>① 必做：完成3个实验，记录错误和修复过程
② 选做：用AI查"Dennis Ritchie 和 C语言的故事"，写300字感想
③ 预习：main函数里有100行代码，会有什么问题？怎么解决？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11247120" cy="731520"/>
          </a:xfrm>
          <a:prstGeom prst="round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/>
              </a:rPr>
              <a:t>🤔 思辨思考题（4道）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651760" cy="50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A000"/>
                </a:solidFill>
                <a:latin typeface="微软雅黑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2103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C语言的"命"
C语言50年长盛不衰，
根本原因是什么？
会被取代吗？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651760" cy="50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A000"/>
                </a:solidFill>
                <a:latin typeface="微软雅黑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11680"/>
            <a:ext cx="2103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表达式的"哲学"
"万物皆表达式"的设计，
优点和缺点分别是什么？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2651760" cy="50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554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A000"/>
                </a:solidFill>
                <a:latin typeface="微软雅黑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2103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接口的起点
从printf看接口思想，
再举3个生活中的例子。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71600"/>
            <a:ext cx="265176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60" y="1371600"/>
            <a:ext cx="2651760" cy="50800"/>
          </a:xfrm>
          <a:prstGeom prst="rect">
            <a:avLst/>
          </a:prstGeom>
          <a:solidFill>
            <a:srgbClr val="FF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5544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A000"/>
                </a:solidFill>
                <a:latin typeface="微软雅黑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011680"/>
            <a:ext cx="21031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/>
              </a:rPr>
              <a:t>从表达式到框架
大胆预测：中间需要经历
哪些关键的"跃升"？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5029200"/>
            <a:ext cx="8503920" cy="118872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3120" y="5212080"/>
            <a:ext cx="795527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</a:rPr>
              <a:t>完整题目与参考思路详见「思考题.md」
没有标准答案，重在思考过程 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5486400"/>
            <a:ext cx="365760" cy="365760"/>
          </a:xfrm>
          <a:prstGeom prst="rect">
            <a:avLst/>
          </a:prstGeom>
          <a:solidFill>
            <a:srgbClr val="2A3A50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5486400"/>
            <a:ext cx="365760" cy="365760"/>
          </a:xfrm>
          <a:prstGeom prst="rect">
            <a:avLst/>
          </a:prstGeom>
          <a:solidFill>
            <a:srgbClr val="2A3A50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5486400"/>
            <a:ext cx="365760" cy="365760"/>
          </a:xfrm>
          <a:prstGeom prst="rect">
            <a:avLst/>
          </a:prstGeom>
          <a:solidFill>
            <a:srgbClr val="2A3A50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0" y="5486400"/>
            <a:ext cx="365760" cy="365760"/>
          </a:xfrm>
          <a:prstGeom prst="rect">
            <a:avLst/>
          </a:prstGeom>
          <a:solidFill>
            <a:srgbClr val="2A3A50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5486400"/>
            <a:ext cx="365760" cy="365760"/>
          </a:xfrm>
          <a:prstGeom prst="rect">
            <a:avLst/>
          </a:prstGeom>
          <a:solidFill>
            <a:srgbClr val="2A3A50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5486400"/>
            <a:ext cx="365760" cy="365760"/>
          </a:xfrm>
          <a:prstGeom prst="rect">
            <a:avLst/>
          </a:prstGeom>
          <a:solidFill>
            <a:srgbClr val="2A3A50"/>
          </a:solidFill>
          <a:ln>
            <a:solidFill>
              <a:srgbClr val="3D5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8503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</a:rPr>
              <a:t>谢谢！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8503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2ECCFA"/>
                </a:solidFill>
                <a:latin typeface="微软雅黑"/>
              </a:rPr>
              <a:t>下一讲：函数封装 —— 告别"屎山"main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72000"/>
            <a:ext cx="8503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66666"/>
                </a:solidFill>
                <a:latin typeface="微软雅黑"/>
              </a:rPr>
              <a:t>从程序员到架构师 · 第01讲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