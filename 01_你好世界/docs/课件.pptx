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91440" cy="1828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软雅黑"/>
              </a:rPr>
              <a:t>第1讲：你好世界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2ECCFA"/>
                </a:solidFill>
                <a:latin typeface="微软雅黑"/>
              </a:rPr>
              <a:t>一切从一行代码开始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从程序员到软件框架 —— C语言插件框架演进之旅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6692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1">
                <a:solidFill>
                  <a:srgbClr val="FFA000"/>
                </a:solidFill>
                <a:latin typeface="微软雅黑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🤔 导入：为什么从 Hello World 开始？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029200" cy="50800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📚 一个经典的传统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480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几乎每一本编程教材、每一门语言课程，
第一个程序都是打印 "Hello, World!"。
这个传统起源于 1978 年 K&amp;R 的《C程序设计语言》。
它是程序员与一门新语言"打招呼"的仪式。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502920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🚀 但我们的 Hello World 不一样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03120"/>
            <a:ext cx="4480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普通的 Hello World 只是入门，
我们的 Hello World 是起点。
从这一行代码出发，经历 10 次进化，
最终抵达「插件框架」的彼岸。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389120"/>
            <a:ext cx="9418320" cy="137160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5720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微软雅黑"/>
              </a:rPr>
              <a:t>💡 思考：这一行代码 printf("Hello, Plugin Framework!") 里，
    已经藏着软件框架的种子。你能看出来吗？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🗺️ 本讲知识地图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50800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1. C程序结构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头文件、main函数、
返回值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8404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C5F8B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1645920"/>
            <a:ext cx="25603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2. 编译四步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预处理→编译→
汇编→链接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8404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ECCFA"/>
                </a:solidFill>
                <a:latin typeface="微软雅黑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645920"/>
            <a:ext cx="256032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3. 函数调用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printf背后的
接口思想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8404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9C27B0"/>
                </a:solidFill>
                <a:latin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645920"/>
            <a:ext cx="2560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645920"/>
            <a:ext cx="256032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4. 进化视角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286000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框架的种子
在哪里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8404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A000"/>
                </a:solidFill>
                <a:latin typeface="微软雅黑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029200"/>
            <a:ext cx="103327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12080"/>
            <a:ext cx="9784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📖 本讲教学范式：三个三分之一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7784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微软雅黑"/>
              </a:rPr>
              <a:t>前1/3 传统讲授 → 中1/3 AI辅助 → 后1/3 做中学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📝 一、C程序的基本结构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1148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#include &lt;stdio.h&gt;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/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int main(void)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    printf("Hello, Plugin Framework!\n");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    return 0;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1463040"/>
            <a:ext cx="4846320" cy="50800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① 头文件引入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0312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#include &lt;stdio.h&gt;
引入标准输入输出库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51460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514600"/>
            <a:ext cx="48463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69748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② 主函数入口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int main(void)
所有C程序从这里开始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56616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566160"/>
            <a:ext cx="484632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374904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③ 函数调用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20624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printf("...")
调用标准库打印字符串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61772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4617720"/>
            <a:ext cx="484632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480060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④ 返回值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25780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return 0;
返回0表示正常结束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⚙️ 编译运行的四个阶段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011680" cy="137160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hello.c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源代码</a:t>
            </a:r>
          </a:p>
        </p:txBody>
      </p:sp>
      <p:sp>
        <p:nvSpPr>
          <p:cNvPr id="7" name="Down Arrow 6"/>
          <p:cNvSpPr/>
          <p:nvPr/>
        </p:nvSpPr>
        <p:spPr>
          <a:xfrm>
            <a:off x="2468880" y="2468880"/>
            <a:ext cx="274320" cy="457200"/>
          </a:xfrm>
          <a:prstGeom prst="downArrow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1371600"/>
          </a:xfrm>
          <a:prstGeom prst="round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1945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预处理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432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展开宏和头文件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54880" y="2468880"/>
            <a:ext cx="274320" cy="457200"/>
          </a:xfrm>
          <a:prstGeom prst="downArrow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2011680"/>
            <a:ext cx="2011680" cy="1371600"/>
          </a:xfrm>
          <a:prstGeom prst="round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1945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编译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7432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翻译成汇编代码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040880" y="2468880"/>
            <a:ext cx="274320" cy="457200"/>
          </a:xfrm>
          <a:prstGeom prst="downArrow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2011680"/>
            <a:ext cx="2011680" cy="1371600"/>
          </a:xfrm>
          <a:prstGeom prst="round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21945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汇编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7432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生成目标文件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326880" y="2468880"/>
            <a:ext cx="274320" cy="457200"/>
          </a:xfrm>
          <a:prstGeom prst="downArrow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0" y="2011680"/>
            <a:ext cx="2011680" cy="137160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21945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hello.exe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7432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可执行文件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14800"/>
            <a:ext cx="10332720" cy="1828800"/>
          </a:xfrm>
          <a:prstGeom prst="roundRect">
            <a:avLst/>
          </a:prstGeom>
          <a:solidFill>
            <a:srgbClr val="FFF8E1"/>
          </a:solidFill>
          <a:ln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9768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A000"/>
                </a:solidFill>
                <a:latin typeface="微软雅黑"/>
              </a:rPr>
              <a:t>🎯 关键洞察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54880"/>
            <a:ext cx="9784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你写的代码里并没有 printf 的实现，但程序却能运行它。
这是因为「链接器」把标准库里的 printf 函数和你的代码"拼"在了一起。
这就是最朴素的"复用"思想——用别人写好的代码，做自己的事情。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🤖 二、AI化辅助：用比喻理解编译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💬 Prompt 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"我是一名大三学生，正在学习C语言。请用通俗的语言解释：
当我执行 gcc hello.c -o hello.exe 时，预处理、编译、汇编、链接这四个阶段分别做了什么？
请用「工厂流水线」的比喻来解释。"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26060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474720"/>
            <a:ext cx="260604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🥬 预处理 = 洗菜备料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2057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把 #include 的头文件"抄"进来，
把宏定义替换掉。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3474720"/>
            <a:ext cx="26060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3474720"/>
            <a:ext cx="260604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59" y="365760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🍳 编译 = 烹饪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114800"/>
            <a:ext cx="2057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把C代码翻译成汇编语言。
厨师按照食谱做菜。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474720"/>
            <a:ext cx="26060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59" y="3474720"/>
            <a:ext cx="260604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365760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🍽️ 汇编 = 装盘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4114800"/>
            <a:ext cx="2057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把汇编代码翻译成机器码（0和1），
生成目标文件。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3474720"/>
            <a:ext cx="26060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3474720"/>
            <a:ext cx="260604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365760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🍱 链接 = 送上餐桌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4114800"/>
            <a:ext cx="2057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把你的代码和 printf 等库函数"拼"在一起，
生成完整的可执行文件。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6080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CAF50"/>
                </a:solidFill>
                <a:latin typeface="微软雅黑"/>
              </a:rPr>
              <a:t>✅ 核验练习：用 gcc -E hello.c -o hello.i 查看预处理结果，验证 AI 说的对不对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🛠️ 三、做中学：动手实验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474720" cy="50800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实验1：修改输出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9260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C5F8B"/>
                </a:solidFill>
                <a:latin typeface="微软雅黑"/>
              </a:rPr>
              <a:t>📋 任务：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把字符串改成你的名字，
重新编译运行。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657600"/>
            <a:ext cx="292608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40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C5F8B"/>
                </a:solidFill>
                <a:latin typeface="微软雅黑"/>
              </a:rPr>
              <a:t>💭 思考：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观察：修改源码→编译→运行
这个过程你做了几次？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463040"/>
            <a:ext cx="34747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16459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实验2：制造错误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103120"/>
            <a:ext cx="29260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1945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CCFA"/>
                </a:solidFill>
                <a:latin typeface="微软雅黑"/>
              </a:rPr>
              <a:t>📋 任务：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256032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删掉 #include &lt;stdio.h&gt;，
编译看报什么错。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79" y="3657600"/>
            <a:ext cx="292608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3840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CCFA"/>
                </a:solidFill>
                <a:latin typeface="微软雅黑"/>
              </a:rPr>
              <a:t>💭 思考：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20624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思考：为什么没有 include
就不能用 printf？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46304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463040"/>
            <a:ext cx="347472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16459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实验3：多个printf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103120"/>
            <a:ext cx="29260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1945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微软雅黑"/>
              </a:rPr>
              <a:t>📋 任务：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56032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写三行 printf，
打印三行不同的文字。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3657600"/>
            <a:ext cx="292608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840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微软雅黑"/>
              </a:rPr>
              <a:t>💭 思考：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0624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观察：执行顺序和代码
书写顺序一致吗？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🌱 进化视角：本阶段的"种子"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现在的种子</a:t>
                      </a:r>
                    </a:p>
                  </a:txBody>
                  <a:tcPr>
                    <a:solidFill>
                      <a:srgbClr val="9C27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对应未来的概念</a:t>
                      </a:r>
                    </a:p>
                  </a:txBody>
                  <a:tcPr>
                    <a:solidFill>
                      <a:srgbClr val="9C27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出现阶段</a:t>
                      </a:r>
                    </a:p>
                  </a:txBody>
                  <a:tcPr>
                    <a:solidFill>
                      <a:srgbClr val="9C27B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调用别人写好的函数（printf）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接口 —— 定义"怎么用"，隐藏"怎么实现"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第7阶段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编译器把代码转成可执行文件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编译与链接 —— 从源码到运行的桥梁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第4-6阶段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标准库提供通用功能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库 —— 复用的基本单位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第4-5阶段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main函数是固定的入口点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框架的控制反转 —— 你写的代码被框架调用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第9阶段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029200"/>
            <a:ext cx="5029200" cy="1188720"/>
          </a:xfrm>
          <a:prstGeom prst="roundRect">
            <a:avLst/>
          </a:prstGeom>
          <a:solidFill>
            <a:srgbClr val="FFEBEE"/>
          </a:solidFill>
          <a:ln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120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F5350"/>
                </a:solidFill>
                <a:latin typeface="微软雅黑"/>
              </a:rPr>
              <a:t>😫 本阶段的痛点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48640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所有代码都写在一个文件里
代码多了之后，维护起来会很痛苦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029200"/>
            <a:ext cx="5029200" cy="118872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5120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微软雅黑"/>
              </a:rPr>
              <a:t>➡️ 下一阶段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548640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02_函数封装
把代码拆分成函数，迈向模块化的第一步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📝 本讲小结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9418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470916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知识点</a:t>
                      </a:r>
                    </a:p>
                  </a:txBody>
                  <a:tcPr>
                    <a:solidFill>
                      <a:srgbClr val="2C5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要点</a:t>
                      </a:r>
                    </a:p>
                  </a:txBody>
                  <a:tcPr>
                    <a:solidFill>
                      <a:srgbClr val="2C5F8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C程序结构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头文件 + main函数 + 函数调用 + 返回值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编译四步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预处理 → 编译 → 汇编 → 链接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函数调用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调用者不需要知道实现细节，只需要知道接口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进化思想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每一个技术都是为了解决前一阶段的痛点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5212080"/>
            <a:ext cx="9418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530352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📚 课后任务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669280"/>
            <a:ext cx="8869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① 必做：完成3个实验，记录过程和观察结果
② 选做：用 AI 查 printf 的内部实现，写200字总结
③ 预习：100行代码都写在 main 里，会有什么问题？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🤔 思辨思考题（预览）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29260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编译和运行有什么区别？
为什么不能直接运行 .c 文件？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47472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59" y="1645920"/>
            <a:ext cx="347472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18288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286000"/>
            <a:ext cx="29260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printf 是一种"接口"吗？
这和面向对象的封装有什么联系？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347472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645920"/>
            <a:ext cx="347472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Q5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9260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从一行 printf 到插件框架，
你觉得中间需要解决哪些问题？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4846320"/>
            <a:ext cx="8503920" cy="1097280"/>
          </a:xfrm>
          <a:prstGeom prst="round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5029200"/>
            <a:ext cx="79552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微软雅黑"/>
              </a:rPr>
              <a:t>完整思考题（共6道）详见「思考题.md」
没有标准答案，重在思考过程 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503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</a:rP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474720"/>
            <a:ext cx="8503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2ECCFA"/>
                </a:solidFill>
                <a:latin typeface="微软雅黑"/>
              </a:rPr>
              <a:t>下一讲：函数封装 —— 迈向模块化的第一步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8503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微软雅黑"/>
              </a:rPr>
              <a:t>从程序员到软件框架 · 第01讲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