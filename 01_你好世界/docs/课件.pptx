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23360" y="0"/>
            <a:ext cx="8168335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51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C2410C"/>
                </a:solidFill>
                <a:latin typeface="微软雅黑"/>
              </a:rPr>
              <a:t>从程序员到架构师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5569"/>
                </a:solidFill>
                <a:latin typeface="微软雅黑"/>
              </a:rPr>
              <a:t>C语言插件框架演进之旅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103120"/>
            <a:ext cx="82296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475569"/>
                </a:solidFill>
                <a:latin typeface="微软雅黑"/>
              </a:rPr>
              <a:t>第1讲 / 共 14 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206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从一行 printf</a:t>
            </a:r>
          </a:p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到软件体系的插件框架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874519"/>
            <a:ext cx="6766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0" b="1" i="0">
                <a:solidFill>
                  <a:srgbClr val="1F2937"/>
                </a:solidFill>
                <a:latin typeface="微软雅黑"/>
              </a:rPr>
              <a:t>表达式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0632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C2410C"/>
                </a:solidFill>
                <a:latin typeface="微软雅黑"/>
              </a:rPr>
              <a:t>C 语言的灵魂 · 一切的起点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3749039"/>
            <a:ext cx="5852160" cy="27432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3977639"/>
            <a:ext cx="65836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一行 printf，五个要素，四个编译阶段，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最后变成整个系列 14 讲的起点。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475569"/>
                </a:solidFill>
                <a:latin typeface="微软雅黑"/>
              </a:rPr>
              <a:t>看懂它，你就看懂了"代码如何变成软件"。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知识图谱：本讲站在哪里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表达式是整棵知识树最底层的那块砖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26111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6111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🎯 本讲定位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536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本讲（第1讲）：表达式  ——  它不是孤立的知识点，而是后面 13 讲全部内容的"地基"。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函数调用的形式是表达式，库函数的调用是表达式，插件的注册与执行也是表达式。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88742"/>
            <a:ext cx="1589989" cy="786384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57207"/>
            <a:ext cx="140710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表达式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68484"/>
            <a:ext cx="1407109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第1讲 · 你在这里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166061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49525" y="2888742"/>
            <a:ext cx="1589989" cy="786384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40965" y="3057207"/>
            <a:ext cx="140710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函数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965" y="3368484"/>
            <a:ext cx="1407109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第3讲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06694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50410" y="2888742"/>
            <a:ext cx="1589989" cy="786384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41850" y="3057207"/>
            <a:ext cx="140710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模块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1850" y="3368484"/>
            <a:ext cx="1407109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第4讲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67831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51295" y="2888742"/>
            <a:ext cx="1589989" cy="786384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2735" y="3057207"/>
            <a:ext cx="140710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3368484"/>
            <a:ext cx="1407109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第9-10讲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868716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2180" y="2888742"/>
            <a:ext cx="1589989" cy="786384"/>
          </a:xfrm>
          <a:prstGeom prst="roundRect">
            <a:avLst>
              <a:gd name="adj" fmla="val 12000"/>
            </a:avLst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3620" y="3057207"/>
            <a:ext cx="140710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插件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3620" y="3368484"/>
            <a:ext cx="1407109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第11-12讲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769602" y="316306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053066" y="2888742"/>
            <a:ext cx="1589989" cy="786384"/>
          </a:xfrm>
          <a:prstGeom prst="roundRect">
            <a:avLst>
              <a:gd name="adj" fmla="val 12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44506" y="3057207"/>
            <a:ext cx="140710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框架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4506" y="3368484"/>
            <a:ext cx="1407109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第13-14讲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876294"/>
            <a:ext cx="5419191" cy="1227582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876294"/>
            <a:ext cx="50292" cy="122758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059174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⬅ 前置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418076"/>
            <a:ext cx="49985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前置：C 语言基础语句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本讲之后才有函数、模块可言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23863" y="3876294"/>
            <a:ext cx="5419191" cy="122758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23863" y="3876294"/>
            <a:ext cx="50292" cy="122758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6743" y="4059174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➡ 后续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6743" y="4418076"/>
            <a:ext cx="49985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后续：控制结构（第2讲）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让程序会判断、会循环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后面 13 讲的所有能力，都是用"表达式"一块块垒起来的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什么是表达式？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能计算出一个值的代码片段，就是表达式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3564026" cy="126111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26111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算术表达式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3143402" cy="536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3 + 5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算出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3834" y="1426464"/>
            <a:ext cx="3564026" cy="1261110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834" y="1426464"/>
            <a:ext cx="50292" cy="126111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6714" y="1609344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赋值表达式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6714" y="1968245"/>
            <a:ext cx="3143402" cy="536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x = 10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算出 10（赋完的值）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9028" y="1426464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9028" y="1426464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1908" y="1609344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函数调用表达式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1908" y="1968245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printf("Hello")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算出打印的字符数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2925318"/>
            <a:ext cx="11094415" cy="2155698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2925318"/>
            <a:ext cx="1109441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980182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FDBA74"/>
                </a:solidFill>
                <a:latin typeface="微软雅黑"/>
              </a:rPr>
              <a:t>同一行代码里，三种表达式同时在算值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389833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DBA74"/>
                </a:solidFill>
                <a:latin typeface="Consolas"/>
              </a:rPr>
              <a:t>int main(void) {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3633292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DBA74"/>
                </a:solidFill>
                <a:latin typeface="Consolas"/>
              </a:rPr>
              <a:t>    int a = 3 + 5;              // 算术表达式：算出 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876751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DBA74"/>
                </a:solidFill>
                <a:latin typeface="Consolas"/>
              </a:rPr>
              <a:t>    int b = (a = a * 2);        // 赋值表达式：算出 16，b 也是 16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4120210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6EDF7"/>
                </a:solidFill>
                <a:latin typeface="Consolas"/>
              </a:rPr>
              <a:t>    printf("Hello, ATM!\n");    // 函数调用表达式：算出 13（打印了 13 个字符）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363669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FDBA74"/>
                </a:solidFill>
                <a:latin typeface="Consolas"/>
              </a:rPr>
              <a:t>    return 0;                    // 表达式语句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607128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245608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关键：表达式有"值"，语句是"做一件事"——C 语言里很多语句本身就是表达式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592317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正因为有值，才能层层嵌套：printf 的返回值可以再喂给别的表达式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C 语言是"表达式驱动"的语言：几乎一切操作都能算出值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拆解一行代码：printf 的五个要素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看似简单的一行，五个零件缺一不可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2101596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426464"/>
            <a:ext cx="1109441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481328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DBA74"/>
                </a:solidFill>
                <a:latin typeface="微软雅黑"/>
              </a:rPr>
              <a:t>逐字符拆解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1890979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printf("Hello, Plugin Framework!\n");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125421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|        |                      |  |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359863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|        |                      |  ④ 转义字符 \n：一个字符写成两个，表示换行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594305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|        |                      ③ 字符串常量：要打印的内容，存在只读数据段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2828747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|        ② 括号：告诉编译器"这是一次函数调用"，不是普通变量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063189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① 函数名 printf：告诉编译器"要去调谁"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65803"/>
            <a:ext cx="2101839" cy="1160526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65803"/>
            <a:ext cx="50292" cy="116052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48683"/>
            <a:ext cx="16812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① 函数名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07585"/>
            <a:ext cx="1681215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printf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链接器找代码的暗号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96783" y="3765803"/>
            <a:ext cx="2101839" cy="1160526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6783" y="3765803"/>
            <a:ext cx="50292" cy="116052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9663" y="3948683"/>
            <a:ext cx="16812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② 括号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79663" y="4307585"/>
            <a:ext cx="1681215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( )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表示一次函数调用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44927" y="3765803"/>
            <a:ext cx="2101839" cy="1160526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44927" y="3765803"/>
            <a:ext cx="50292" cy="116052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27807" y="3948683"/>
            <a:ext cx="16812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③ 字符串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27807" y="4307585"/>
            <a:ext cx="1681215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常量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存在只读数据段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93071" y="3765803"/>
            <a:ext cx="2101839" cy="1160526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3071" y="3765803"/>
            <a:ext cx="50292" cy="116052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5951" y="3948683"/>
            <a:ext cx="16812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④ 转义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5951" y="4307585"/>
            <a:ext cx="1681215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\n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一个字符写成两个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41215" y="3765803"/>
            <a:ext cx="2101839" cy="1160526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41215" y="3765803"/>
            <a:ext cx="50292" cy="1160526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24095" y="3948683"/>
            <a:ext cx="16812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⑤ 分号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4095" y="4307585"/>
            <a:ext cx="1681215" cy="435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;</a:t>
            </a:r>
          </a:p>
          <a:p>
            <a:pPr algn="l">
              <a:lnSpc>
                <a:spcPct val="132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把表达式变成语句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一行代码 = 五个要素 = 编译器的五道检查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printf 从哪里来？—— C 标准库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头文件是菜单，库文件才是厨房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529334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52933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🧰 工具箱比喻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标准库 = 一个巨大的工具箱（libc）。stdio.h 只是这个工具箱的"目录清单"：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它写下 printf、scanf 的名字和用法；真正的机器码藏在库文件里。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你用 #include &lt;stdio.h&gt; 把清单拿进来，编译器才知道 printf 长什么样。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93541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0439" y="3193541"/>
            <a:ext cx="5382615" cy="42062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248406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头文件 stdio.h（菜单）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3319" y="3248406"/>
            <a:ext cx="5016855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1" i="0">
                <a:solidFill>
                  <a:srgbClr val="FFFFFF"/>
                </a:solidFill>
                <a:latin typeface="微软雅黑"/>
              </a:rPr>
              <a:t>库文件 libc（厨房）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6902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只有声明：printf 的名字、参数、返回值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3714749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3319" y="3669029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真正的实现：函数机器码放在这里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5303" y="3714749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95503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参与"编译"阶段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3" y="4000753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3319" y="3955033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参与"链接"阶段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15303" y="4000753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24103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不产生任何机器码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3" y="4286757"/>
            <a:ext cx="68580" cy="139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3319" y="4241037"/>
            <a:ext cx="5016855" cy="231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· 最终被复制/引用进你的程序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15303" y="4286757"/>
            <a:ext cx="68580" cy="1397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48640" y="4581905"/>
            <a:ext cx="3564026" cy="976121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581905"/>
            <a:ext cx="50292" cy="976121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76478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声明 vs 实现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23687"/>
            <a:ext cx="3143402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接口与实现分离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81905"/>
            <a:ext cx="3564026" cy="976121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3834" y="4581905"/>
            <a:ext cx="50292" cy="976121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6714" y="476478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编译期 vs 链接期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6714" y="5123687"/>
            <a:ext cx="3143402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两个阶段各管一段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9028" y="4581905"/>
            <a:ext cx="3564026" cy="976121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79028" y="4581905"/>
            <a:ext cx="50292" cy="97612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61908" y="476478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这就是抽象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1908" y="5123687"/>
            <a:ext cx="3143402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后面所有架构的源头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接口与实现分离 —— 这句话贯穿后面 13 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一行代码怎么跑起来：编译四阶段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预处理 → 编译 → 汇编 → 链接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2540431" cy="96012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76133"/>
            <a:ext cx="2357551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① 预处理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87410"/>
            <a:ext cx="2357551" cy="422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展开 #include</a:t>
            </a:r>
          </a:p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处理 #define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16503" y="178765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99967" y="1426464"/>
            <a:ext cx="2540431" cy="96012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91407" y="1681797"/>
            <a:ext cx="2357551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② 编译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1407" y="1993074"/>
            <a:ext cx="2357551" cy="21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C 代码 → 汇编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7831" y="178765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1295" y="1426464"/>
            <a:ext cx="2540431" cy="96012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1576133"/>
            <a:ext cx="2357551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③ 汇编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2735" y="1887410"/>
            <a:ext cx="2357551" cy="422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汇编 → 机器码</a:t>
            </a:r>
          </a:p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(.o 目标文件)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9159" y="1787652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02623" y="1426464"/>
            <a:ext cx="2540431" cy="96012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4063" y="1576133"/>
            <a:ext cx="2357551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微软雅黑"/>
              </a:rPr>
              <a:t>④ 链接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4063" y="1887410"/>
            <a:ext cx="2357551" cy="422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拼接库函数</a:t>
            </a:r>
          </a:p>
          <a:p>
            <a:pPr algn="ctr">
              <a:lnSpc>
                <a:spcPct val="128000"/>
              </a:lnSpc>
            </a:pPr>
            <a:r>
              <a:rPr sz="1300" b="0" i="0">
                <a:solidFill>
                  <a:srgbClr val="FFFFFF"/>
                </a:solidFill>
                <a:latin typeface="微软雅黑"/>
              </a:rPr>
              <a:t>生成可执行文件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624328"/>
            <a:ext cx="11094415" cy="166878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2624328"/>
            <a:ext cx="1109441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679192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FDBA74"/>
                </a:solidFill>
                <a:latin typeface="微软雅黑"/>
              </a:rPr>
              <a:t>四步命令，看得见的编译过程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3088843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6EDF7"/>
                </a:solidFill>
                <a:latin typeface="Consolas"/>
              </a:rPr>
              <a:t>$ gcc -E hello.c -o hello.i     # ① 预处理：stdio.h 的内容被"复制粘贴"进来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3332302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6EDF7"/>
                </a:solidFill>
                <a:latin typeface="Consolas"/>
              </a:rPr>
              <a:t>$ gcc -S hello.i -o hello.s     # ② 编译：得到汇编代码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3575761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6EDF7"/>
                </a:solidFill>
                <a:latin typeface="Consolas"/>
              </a:rPr>
              <a:t>$ gcc -c hello.s -o hello.o     # ③ 汇编：得到目标文件（机器码，还不能跑）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" y="3819220"/>
            <a:ext cx="10765231" cy="243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E6EDF7"/>
                </a:solidFill>
                <a:latin typeface="Consolas"/>
              </a:rPr>
              <a:t>$ gcc hello.o -o hello.exe      # ④ 链接：把 printf 的机器码拼进来，终于能跑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457700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前三个阶段只认识"你写的代码"，第四阶段才开始管"库里的代码"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04410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每个阶段都产出一个中间文件——出错时，看是哪个阶段报的错，就知道该查哪一步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编译只管"你的代码"，链接才负责"把库接上"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链接是整条链上最关键的一步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你写了 printf，可 printf 的实现在哪？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529334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52933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📮 链接器 = 帮你把信寄出去的人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main.o 里只有一句"我要调用 printf"，并没有 printf 的机器码。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链接器拿着这个"欠条"，去标准库里找到 printf 的实现，把两边拼成一个可执行文件。</a:t>
            </a:r>
          </a:p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1F2937"/>
                </a:solidFill>
                <a:latin typeface="微软雅黑"/>
              </a:rPr>
              <a:t>这就是"链接"——把分散的零件组装成一台能转的机器。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75254"/>
            <a:ext cx="3149498" cy="1696974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75254"/>
            <a:ext cx="50292" cy="169697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58134"/>
            <a:ext cx="27288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① 你的目标文件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17036"/>
            <a:ext cx="2728874" cy="972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main.o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main()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调用 printf → 欠条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881018" y="3678174"/>
            <a:ext cx="457200" cy="310896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21098" y="3175254"/>
            <a:ext cx="3149498" cy="1453895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1098" y="3175254"/>
            <a:ext cx="50292" cy="1453895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03978" y="3358134"/>
            <a:ext cx="27288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② 标准库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3978" y="3717036"/>
            <a:ext cx="2728874" cy="7292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libc.a / libc.so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printf() 的真实机器码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53476" y="3678174"/>
            <a:ext cx="457200" cy="310896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93556" y="3175254"/>
            <a:ext cx="3149498" cy="1696974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93556" y="3175254"/>
            <a:ext cx="50292" cy="169697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76436" y="3358134"/>
            <a:ext cx="2728874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③ 可执行文件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76436" y="3717036"/>
            <a:ext cx="2728874" cy="972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hello.exe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main + printf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一个能跑的程序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091684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链接错误长什么样：undefined reference to `printf` —— 说明"欠条"没还上（库没接上）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38394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第9讲静态库、第10讲动态库，本质上都在讲"链接这一步的两种做法"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静态链接：把库代码复制进来 ｜ 动态链接：只留一张"引用单"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重点：从表达式，到软件体系的插件框架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本系列只有一条主线 —— 抽象层次的提升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01165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01165"/>
            <a:ext cx="50292" cy="976121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84045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🧭 一条主线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242946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一行 printf，怎么一步步长成能插拔组件的软件体系？答案就是这六级台阶。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78455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78455"/>
            <a:ext cx="50292" cy="1194053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0613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① 表达式（第1讲）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420237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算出一个值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最小执行单元 ← 你在这里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3834" y="2878455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3834" y="2878455"/>
            <a:ext cx="50292" cy="119405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6714" y="30613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② 函数（第3讲）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6714" y="3420237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把一段逻辑封成名字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可以反复调用、复用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79028" y="2878455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79028" y="2878455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61908" y="3061335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③ 模块（第4讲）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61908" y="3420237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接口与实现分家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多人分工、各写各的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73676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273676"/>
            <a:ext cx="50292" cy="1194053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56557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④ 库（第9-10讲）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15459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编译成二进制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跨项目复用，不用给源码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834" y="4273676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FD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3834" y="4273676"/>
            <a:ext cx="50292" cy="1194053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96714" y="4456557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BE185D"/>
                </a:solidFill>
                <a:latin typeface="微软雅黑"/>
              </a:rPr>
              <a:t>⑤ 插件（第11-12讲）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6714" y="4815459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运行时按需加载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可插可拔，不用重编程序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9028" y="4273676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79028" y="4273676"/>
            <a:ext cx="50292" cy="119405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1908" y="4456557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⑥ 框架（第13-14讲）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1908" y="4815459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框架反过来调用你的代码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这就是控制反转（IoC）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我们今天站的这一级最低，但它是唯一的地基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顺着这条主线，后面会走到哪儿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库 → 链接 → 插件 → 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26005"/>
            <a:ext cx="1589989" cy="105156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45588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第9讲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40990"/>
            <a:ext cx="1407109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静态库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代码复制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166061" y="2732913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49525" y="2326005"/>
            <a:ext cx="1589989" cy="105156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0965" y="2545588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第10讲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965" y="2840990"/>
            <a:ext cx="1407109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动态库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代码共享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66946" y="2732913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50410" y="2326005"/>
            <a:ext cx="1589989" cy="105156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1850" y="2545588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第11讲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1850" y="2840990"/>
            <a:ext cx="1407109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运行时加载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按需加载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67831" y="2732913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51295" y="2326005"/>
            <a:ext cx="1589989" cy="1051560"/>
          </a:xfrm>
          <a:prstGeom prst="roundRect">
            <a:avLst>
              <a:gd name="adj" fmla="val 12000"/>
            </a:avLst>
          </a:prstGeom>
          <a:solidFill>
            <a:srgbClr val="BE18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2735" y="2545588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第12讲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2735" y="2840990"/>
            <a:ext cx="1407109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接口抽象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统一插头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68716" y="2732913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52180" y="2326005"/>
            <a:ext cx="1589989" cy="1051560"/>
          </a:xfrm>
          <a:prstGeom prst="roundRect">
            <a:avLst>
              <a:gd name="adj" fmla="val 12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3620" y="2545588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第13讲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3620" y="2840990"/>
            <a:ext cx="1407109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插件框架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生命周期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769602" y="2732913"/>
            <a:ext cx="256032" cy="237744"/>
          </a:xfrm>
          <a:prstGeom prst="rightArrow">
            <a:avLst/>
          </a:prstGeom>
          <a:solidFill>
            <a:srgbClr val="7C8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53066" y="2326005"/>
            <a:ext cx="1589989" cy="1051560"/>
          </a:xfrm>
          <a:prstGeom prst="roundRect">
            <a:avLst>
              <a:gd name="adj" fmla="val 12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4506" y="2545588"/>
            <a:ext cx="1407109" cy="222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</a:rPr>
              <a:t>第14讲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4506" y="2840990"/>
            <a:ext cx="1407109" cy="390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完整项目</a:t>
            </a:r>
          </a:p>
          <a:p>
            <a:pPr algn="ctr">
              <a:lnSpc>
                <a:spcPct val="128000"/>
              </a:lnSpc>
            </a:pPr>
            <a:r>
              <a:rPr sz="1200" b="0" i="0">
                <a:solidFill>
                  <a:srgbClr val="FFFFFF"/>
                </a:solidFill>
                <a:latin typeface="微软雅黑"/>
              </a:rPr>
              <a:t>收官总结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615309"/>
            <a:ext cx="5419191" cy="1227582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615309"/>
            <a:ext cx="50292" cy="122758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798189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🔗 链接的两种做法（第9-10讲）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157091"/>
            <a:ext cx="49985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静态库：体积大、内存重复 —— 每个程序自带一份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动态库：多个程序共享同一份代码，可单独更新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3863" y="3615309"/>
            <a:ext cx="5419191" cy="122758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3863" y="3615309"/>
            <a:ext cx="50292" cy="122758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6743" y="3798189"/>
            <a:ext cx="4998567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🧩 从库到插件（第11-13讲）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6743" y="4157091"/>
            <a:ext cx="499856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运行时加载：跑起来才知道加载谁 → 插件诞生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插件框架：生命周期 / 配置化菜单 / 开闭原则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02577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今天讲的"头文件/库文件分离"，就是第9讲"静态库"的思想来源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372481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今天讲的"链接"，就是第10讲"动态库"要动手做的那件事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第1讲埋下的三颗种子：表达式 · 接口分离 · 链接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动手：写第一个 ATM 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src/hello.c —— 从这一行开始，一直到插件框架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700530"/>
            <a:ext cx="11094415" cy="2336037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1700530"/>
            <a:ext cx="1109441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755394"/>
            <a:ext cx="1076523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DBA74"/>
                </a:solidFill>
                <a:latin typeface="微软雅黑"/>
              </a:rPr>
              <a:t>hello.c：仓库里这份带 200 行注释，核心只有这几行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165045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9FB0C9"/>
                </a:solidFill>
                <a:latin typeface="Consolas"/>
              </a:rPr>
              <a:t>#include &lt;stdio.h&gt;          /* 引入标准库的"菜单"，printf 的声明在这里 */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399487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633929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DBA74"/>
                </a:solidFill>
                <a:latin typeface="Consolas"/>
              </a:rPr>
              <a:t>int main(void)              /* main 是程序的入口，操作系统从这里进来 */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868371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{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2813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    printf("Hello, Plugin Framework!\n");   /* 今天的主角 */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337255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DBA74"/>
                </a:solidFill>
                <a:latin typeface="Consolas"/>
              </a:rPr>
              <a:t>    return 0;               /* 返回 0 表示程序正常结束 */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571697"/>
            <a:ext cx="1076523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274311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274311"/>
            <a:ext cx="50292" cy="119405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57191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① 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16093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源文件 hello.c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人看得懂的文字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3834" y="4274311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3834" y="4274311"/>
            <a:ext cx="50292" cy="1194053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96714" y="4457191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② 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6714" y="4816093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gcc -Wall hello.c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-o hello.exe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9028" y="4274311"/>
            <a:ext cx="3564026" cy="1194053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79028" y="4274311"/>
            <a:ext cx="50292" cy="1194053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1908" y="4457191"/>
            <a:ext cx="3143402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③ 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1908" y="4816093"/>
            <a:ext cx="3143402" cy="469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屏幕出现</a:t>
            </a:r>
          </a:p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1F2937"/>
                </a:solidFill>
                <a:latin typeface="微软雅黑"/>
              </a:rPr>
              <a:t>Hello, Plugin Framework!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写 → 编 → 跑：这个循环会陪你走完 14 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运行演示：看得见的效果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编译命令、运行输出、退出码 —— 全部来自真实运行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32888"/>
            <a:ext cx="5769095" cy="1867154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2532888"/>
            <a:ext cx="5769095" cy="36576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587752"/>
            <a:ext cx="5439911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DBA74"/>
                </a:solidFill>
                <a:latin typeface="微软雅黑"/>
              </a:rPr>
              <a:t>终端实录（真实输出）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97403"/>
            <a:ext cx="543991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$ gcc -Wall hello.c -o hello.exe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31845"/>
            <a:ext cx="543991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$ ./hello.exe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466287"/>
            <a:ext cx="543991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Hello, Plugin Framework!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700729"/>
            <a:ext cx="543991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$ echo $?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935171"/>
            <a:ext cx="5439911" cy="2344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E6EDF7"/>
                </a:solidFill>
                <a:latin typeface="Consolas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5479" y="2532888"/>
            <a:ext cx="5087575" cy="2103120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55479" y="2532888"/>
            <a:ext cx="50292" cy="21031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38359" y="2715768"/>
            <a:ext cx="466695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👀 要看清楚的四个点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8359" y="3074669"/>
            <a:ext cx="4666951" cy="972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① 编译期：查语法、找符号，报错就停在这步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② 链接期：把 printf 从库里接上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③ 运行期：程序在内存里跑，向屏幕输出</a:t>
            </a:r>
          </a:p>
          <a:p>
            <a:pPr algn="l">
              <a:lnSpc>
                <a:spcPct val="132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④ 退出码：0 = 正常，非 0 = 出错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64607"/>
            <a:ext cx="11094415" cy="2552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▸ 片尾会放一段真实的编译 + 运行演示动画：命令怎么敲、屏幕怎么亮、退出码怎么读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看得见的运行结果，是最好的老师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课堂小测（当作热身）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三题检验刚才的理解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426464"/>
            <a:ext cx="11094415" cy="459105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463040"/>
            <a:ext cx="889985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FFFFFF"/>
                </a:solidFill>
                <a:latin typeface="微软雅黑"/>
              </a:rPr>
              <a:t>题号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6097" y="1463040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FFFFFF"/>
                </a:solidFill>
                <a:latin typeface="微软雅黑"/>
              </a:rPr>
              <a:t>问题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78584" y="1463040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FFFFFF"/>
                </a:solidFill>
                <a:latin typeface="微软雅黑"/>
              </a:rPr>
              <a:t>答案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885569"/>
            <a:ext cx="11094415" cy="45910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1922145"/>
            <a:ext cx="889985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微软雅黑"/>
              </a:rPr>
              <a:t>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6097" y="1922145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C 语言的编译过程分为哪几个阶段？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78584" y="1922145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预处理 → 编译 → 汇编 → 链接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44674"/>
            <a:ext cx="11094415" cy="45910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381250"/>
            <a:ext cx="889985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微软雅黑"/>
              </a:rPr>
              <a:t>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6097" y="2381250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printf 的实现在头文件里吗？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78584" y="2381250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不在。头文件只有声明，实现在库文件里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03778"/>
            <a:ext cx="11094415" cy="45910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40354"/>
            <a:ext cx="889985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微软雅黑"/>
              </a:rPr>
              <a:t>Q3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6097" y="2840354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链接器到底做了什么？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584" y="2840354"/>
            <a:ext cx="4773030" cy="38595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F2937"/>
                </a:solidFill>
                <a:latin typeface="微软雅黑"/>
              </a:rPr>
              <a:t>把你调用的库函数机器码（或引用单）接进你的程序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500628"/>
            <a:ext cx="11094415" cy="1227582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500628"/>
            <a:ext cx="50292" cy="122758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8350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💡 为什么要先答这三题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042410"/>
            <a:ext cx="1067379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这三题答对了，说明你已经能把"写一行代码"和"生成一个程序"两件事分开看了——</a:t>
            </a:r>
          </a:p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这正是从"写代码的人"走向"懂架构的人"的第一步。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能把过程讲清楚，才算真的懂了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深入思考：两个"为什么"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答案没有唯一解，但能看出你的思维层次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50418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50418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问题一：为什么要有"编译"这一步？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779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为什么 C 是编译型语言，而不是像 Python 那样边解释边运行？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→ 编译型把"翻译"提前到发布前，运行时没有翻译开销，所以快；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→ 代价是改一行要重新编译、跨平台要重新编译。这是"性能 vs 便利"的取舍。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0108"/>
            <a:ext cx="11094415" cy="1504188"/>
          </a:xfrm>
          <a:prstGeom prst="roundRect">
            <a:avLst>
              <a:gd name="adj" fmla="val 6000"/>
            </a:avLst>
          </a:prstGeom>
          <a:solidFill>
            <a:srgbClr val="E4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50108"/>
            <a:ext cx="50292" cy="150418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3298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0F766E"/>
                </a:solidFill>
                <a:latin typeface="微软雅黑"/>
              </a:rPr>
              <a:t>问题二：为什么要把"声明"和"实现"拆开？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691890"/>
            <a:ext cx="10673791" cy="779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头文件与源文件为什么要分开？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→ 分开之后，用的人只需看头文件（知道怎么调），不必关心实现（怎么做的）；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→ 这就是"接口与实现分离"，第4讲多文件、第9讲静态库、第12讲插件接口，全是它的后代。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今天想明白的两件事，会一直用到第14讲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先自己想，再看下一页的参考解答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504188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50418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思考题 ①：从一行代码到一次输出，中间隔了几层？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779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先分清两个层次：表达式是"写出来的东西"，程序是"跑起来的东西"。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那么：一行 printf 里的每个零件，分别在哪个阶段起作用？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如果我把分号去掉、把引号删掉，编译器会在哪一步、报什么错？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68396"/>
            <a:ext cx="11094415" cy="1504188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68396"/>
            <a:ext cx="50292" cy="15041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51276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思考题 ②：为什么 C 语言强调"一切皆表达式"？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10178"/>
            <a:ext cx="10673791" cy="7795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表达式有值，语句只是"做一件事"——那为什么 C 语言要把绝大多数操作都设计成表达式？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提示：想一想 printf 的返回值，如果它不返回值，你能不能写出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if (printf("...") &gt; 0) 这种写法？语言设计者为什么要留这个"值"给你？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带着问题翻页，比直接看答案收获大得多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①②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题目抄在这里，方便对照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93467"/>
            <a:ext cx="5428335" cy="1981962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593467"/>
            <a:ext cx="50292" cy="198196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63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解答 ①：四层，越早出错代价越小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35248"/>
            <a:ext cx="5007711" cy="1257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题目：从一行代码到一次输出，中间隔了几层？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① 编译期：检查 printf 有没有声明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② 链接期：去库里把实现接上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③ 装载期：操作系统读进内存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④ 运行期：在内存中执行并输出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去分号→语法错；删引号→未定义标识符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593467"/>
            <a:ext cx="5428335" cy="1772412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593467"/>
            <a:ext cx="50292" cy="17724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776347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D4ED8"/>
                </a:solidFill>
                <a:latin typeface="微软雅黑"/>
              </a:rPr>
              <a:t>解答 ②：因为"值"让代码可以拼装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3135248"/>
            <a:ext cx="5007711" cy="1047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题目：为什么 C 语言强调"一切皆表达式"？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有值 → 可以嵌套：f(g(x))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有值 → 可以判断：if (printf(..)&gt;0)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有值 → 可以统计：返回打印字符数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把最小零件做成"可拼装"的，语言才有组合力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表达式的"值"，就是代码的"可拼装接口"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两题进阶：把今天的知识接到"库"和"架构"上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1764030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176403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思考题 ③：静态链接 vs 动态链接，差别到底在哪？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1039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静态链接和动态链接，在"你写的程序"里留下的东西完全不同：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一个把库代码搬进你的 exe，一个只在 exe 里留一张"引用单"。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那么：如果同一个库有 10 个程序要用，两种做法在磁盘上和内存里各占多少份？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库修了一个 bug，两种做法分别要做什么？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8238"/>
            <a:ext cx="11094415" cy="1764030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28238"/>
            <a:ext cx="50292" cy="176403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611118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思考题 ④：从"函数名"到"插件接口"，中间要跨几步？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70020"/>
            <a:ext cx="10673791" cy="1039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本讲说"接口与实现分离"是后面所有架构的源头。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请试着推演：如果一行代码里"函数名"就是最小的"接口"，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那么到了插件框架（第13讲），"接口"会变成什么样子？</a:t>
            </a:r>
          </a:p>
          <a:p>
            <a:pPr algn="l">
              <a:lnSpc>
                <a:spcPct val="132000"/>
              </a:lnSpc>
            </a:pPr>
            <a:r>
              <a:rPr sz="1550" b="0" i="0">
                <a:solidFill>
                  <a:srgbClr val="1F2937"/>
                </a:solidFill>
                <a:latin typeface="微软雅黑"/>
              </a:rPr>
              <a:t>提示：从"函数名"到"函数指针"，再到"结构体里装一组函数指针"。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58384"/>
            <a:ext cx="11094415" cy="365760"/>
          </a:xfrm>
          <a:prstGeom prst="roundRect">
            <a:avLst>
              <a:gd name="adj" fmla="val 25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132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C2410C"/>
                </a:solidFill>
                <a:latin typeface="微软雅黑"/>
              </a:rPr>
              <a:t>这两题想通了，第9讲和第13讲就提前入门了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思考题 ③④ 参考解答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题目抄在这里，方便对照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98242"/>
            <a:ext cx="5428335" cy="1772412"/>
          </a:xfrm>
          <a:prstGeom prst="roundRect">
            <a:avLst>
              <a:gd name="adj" fmla="val 6000"/>
            </a:avLst>
          </a:prstGeom>
          <a:solidFill>
            <a:srgbClr val="F1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98242"/>
            <a:ext cx="50292" cy="177241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811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6D28D9"/>
                </a:solidFill>
                <a:latin typeface="微软雅黑"/>
              </a:rPr>
              <a:t>解答 ③：一份 vs 十份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40023"/>
            <a:ext cx="5007711" cy="1047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题目：静态链接与动态链接，磁盘和内存各占几份？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静态：磁盘 10 份副本，内存 10 份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动态：磁盘只有 1 份 .dll，进程共享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库修 bug：静态要重链 10 次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动态只换 1 个库文件即可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4719" y="2698242"/>
            <a:ext cx="5428335" cy="1772412"/>
          </a:xfrm>
          <a:prstGeom prst="roundRect">
            <a:avLst>
              <a:gd name="adj" fmla="val 6000"/>
            </a:avLst>
          </a:prstGeom>
          <a:solidFill>
            <a:srgbClr val="E8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4719" y="2698242"/>
            <a:ext cx="50292" cy="177241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7599" y="2881122"/>
            <a:ext cx="500771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15803D"/>
                </a:solidFill>
                <a:latin typeface="微软雅黑"/>
              </a:rPr>
              <a:t>解答 ④：三步进化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3240023"/>
            <a:ext cx="5007711" cy="1047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题目：从"函数名"到"插件接口"要跨几步？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第1步（第5讲）：函数名 → 函数指针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第2步（第12讲）：函数指针装进结构体 → 插座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第3步（第13讲）：框架拿着插座表调用你</a:t>
            </a:r>
          </a:p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1F2937"/>
                </a:solidFill>
                <a:latin typeface="微软雅黑"/>
              </a:rPr>
              <a:t>本质：约定从"叫什么名"变成"长什么样"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从函数名到插件接口：概念的进化，比语法更重要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07007" y="365760"/>
            <a:ext cx="1043604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1" i="0">
                <a:solidFill>
                  <a:srgbClr val="1F2937"/>
                </a:solidFill>
                <a:latin typeface="微软雅黑"/>
              </a:rPr>
              <a:t>小结与预告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5" y="987552"/>
            <a:ext cx="1043604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75569"/>
                </a:solidFill>
                <a:latin typeface="微软雅黑"/>
              </a:rPr>
              <a:t>第1讲 表达式 —— 一切的起点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16736"/>
            <a:ext cx="11094415" cy="18288"/>
          </a:xfrm>
          <a:prstGeom prst="rect">
            <a:avLst/>
          </a:prstGeom>
          <a:solidFill>
            <a:srgbClr val="DC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7660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第1讲 表达式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 i="0">
                <a:solidFill>
                  <a:srgbClr val="7C8A9C"/>
                </a:solidFill>
                <a:latin typeface="微软雅黑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26464"/>
            <a:ext cx="11094415" cy="976121"/>
          </a:xfrm>
          <a:prstGeom prst="roundRect">
            <a:avLst>
              <a:gd name="adj" fmla="val 6000"/>
            </a:avLst>
          </a:prstGeom>
          <a:solidFill>
            <a:srgbClr val="FF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426464"/>
            <a:ext cx="50292" cy="976121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609344"/>
            <a:ext cx="1067379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>
                <a:solidFill>
                  <a:srgbClr val="C2410C"/>
                </a:solidFill>
                <a:latin typeface="微软雅黑"/>
              </a:rPr>
              <a:t>📝 一句话总结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68245"/>
            <a:ext cx="10673791" cy="2514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1F2937"/>
                </a:solidFill>
                <a:latin typeface="微软雅黑"/>
              </a:rPr>
              <a:t>一行 printf 背后，是表达式、标准库、四个编译阶段和一次链接的精密协作 —— 它是这座软件体系的第一块砖。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22041"/>
            <a:ext cx="11094415" cy="43053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658618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微软雅黑"/>
              </a:rPr>
              <a:t>#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2320" y="2658618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微软雅黑"/>
              </a:rPr>
              <a:t>知识点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1203" y="2658618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微软雅黑"/>
              </a:rPr>
              <a:t>关键句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52571"/>
            <a:ext cx="11094415" cy="43053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08914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2320" y="308914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表达式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1203" y="308914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能算出一个值的代码片段，C 语言的最小执行单元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483101"/>
            <a:ext cx="11094415" cy="4305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51967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2320" y="351967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printf 五要素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1203" y="351967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函数名 · 括号 · 字符串 · 转义字符 · 分号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913631"/>
            <a:ext cx="11094415" cy="43053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95020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2320" y="395020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标准库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1203" y="395020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头文件给声明（菜单），库文件给实现（厨房）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44161"/>
            <a:ext cx="11094415" cy="4305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38073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42320" y="438073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编译四阶段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1203" y="438073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预处理 → 编译 → 汇编 → 链接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774691"/>
            <a:ext cx="11094415" cy="43053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481126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42320" y="481126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链接 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1203" y="481126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把"欠条"还上：找到库函数实现，拼成可执行文件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5221"/>
            <a:ext cx="11094415" cy="4305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5241797"/>
            <a:ext cx="446208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微软雅黑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2320" y="5241797"/>
            <a:ext cx="1999427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本讲的位置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1203" y="5241797"/>
            <a:ext cx="7990411" cy="3573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微软雅黑"/>
              </a:rPr>
              <a:t>六级台阶第一级：表达式 → 函数 → 模块 → 库 → 插件 → 框架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888736"/>
            <a:ext cx="11094415" cy="530352"/>
          </a:xfrm>
          <a:prstGeom prst="roundRect">
            <a:avLst>
              <a:gd name="adj" fmla="val 2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59" y="5980176"/>
            <a:ext cx="10545775" cy="3474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</a:rPr>
              <a:t>下一讲：控制结构 —— 让程序会判断、会循环（第2讲）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