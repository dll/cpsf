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"/>
            <a:ext cx="1828800" cy="18288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029200"/>
            <a:ext cx="1371600" cy="1371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4572000"/>
            <a:ext cx="914400" cy="9144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914400"/>
            <a:ext cx="731520" cy="731520"/>
          </a:xfrm>
          <a:prstGeom prst="ellipse">
            <a:avLst/>
          </a:prstGeom>
          <a:solidFill>
            <a:srgbClr val="FF8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C3E50"/>
                </a:solidFill>
                <a:latin typeface="微软雅黑"/>
              </a:rPr>
              <a:t>第2讲：函数封装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8C42"/>
                </a:solidFill>
                <a:latin typeface="微软雅黑"/>
              </a:rPr>
              <a:t>—— 给代码找个家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931920"/>
            <a:ext cx="3017520" cy="457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F8C8D"/>
                </a:solidFill>
                <a:latin typeface="微软雅黑"/>
              </a:rPr>
              <a:t>从程序员到架构师 · C语言插件框架演进之旅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029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6B"/>
                </a:solidFill>
                <a:latin typeface="微软雅黑"/>
              </a:rPr>
              <a:t>02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软雅黑"/>
              </a:rPr>
              <a:t>💩 导入：屎山是怎么炼成的？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微软雅黑"/>
              </a:rPr>
              <a:t>一个main函数的黑化之路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从程序员到架构师 · 第2讲：函数封装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CB77"/>
                </a:solidFill>
                <a:latin typeface="微软雅黑"/>
              </a:rPr>
              <a:t>int main()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初始化系统...  50行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用户登录...    80行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显示菜单...    60行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存款操作...    50行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取款操作...    50行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转账操作...    70行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改密码...      60行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...还有很多...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C3C7"/>
                </a:solidFill>
                <a:latin typeface="微软雅黑"/>
              </a:rPr>
              <a:t>    // 总共 800+ 行 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CB77"/>
                </a:solidFill>
                <a:latin typeface="微软雅黑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微软雅黑"/>
              </a:rPr>
              <a:t>😵 屎山症状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468880"/>
            <a:ext cx="5303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5420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</a:rPr>
              <a:t>main函数越来越长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8803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从10行→100行→1000行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383280"/>
            <a:ext cx="5303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564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</a:rPr>
              <a:t>改一处崩十处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794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牵一发而动全身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97680"/>
            <a:ext cx="5303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3708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</a:rPr>
              <a:t>看不懂自己写的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709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三个月后：这是我写的？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212080"/>
            <a:ext cx="53035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303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2852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</a:rPr>
              <a:t>新人不敢碰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623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看了代码直摇头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软雅黑"/>
              </a:rPr>
              <a:t>📦 什么是函数？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微软雅黑"/>
              </a:rPr>
              <a:t>一段有名字的、可以重复使用的代码块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从程序员到架构师 · 第2讲：函数封装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软雅黑"/>
              </a:rPr>
              <a:t>函数的「四件套」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560320"/>
            <a:ext cx="75895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B6B"/>
                </a:solidFill>
                <a:latin typeface="微软雅黑"/>
              </a:rPr>
              <a:t>double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返回值类型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8C42"/>
                </a:solidFill>
                <a:latin typeface="微软雅黑"/>
              </a:rPr>
              <a:t>deposit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函数名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DC4"/>
                </a:solidFill>
                <a:latin typeface="微软雅黑"/>
              </a:rPr>
              <a:t>(double balance, double amount)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参数列表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114800"/>
            <a:ext cx="75895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42976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29BFE"/>
                </a:solidFill>
                <a:latin typeface="微软雅黑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634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微软雅黑"/>
              </a:rPr>
              <a:t>    // 函数体：具体做什么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292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微软雅黑"/>
              </a:rPr>
              <a:t>    return balance + amount;   ← 返回值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3949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29BFE"/>
                </a:solidFill>
                <a:latin typeface="微软雅黑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软雅黑"/>
              </a:rPr>
              <a:t>🎁 封装的核心思想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微软雅黑"/>
              </a:rPr>
              <a:t>黑盒子理论：知道怎么用，不用知道怎么做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从程序员到架构师 · 第2讲：函数封装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C3E50"/>
                </a:solidFill>
                <a:latin typeface="微软雅黑"/>
              </a:rPr>
              <a:t>黑盒子理论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743200"/>
            <a:ext cx="3200400" cy="22860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deposit 函数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ECDC4"/>
                </a:solidFill>
                <a:latin typeface="微软雅黑"/>
              </a:rPr>
              <a:t>（存款机）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8C42"/>
                </a:solidFill>
                <a:latin typeface="微软雅黑"/>
              </a:rPr>
              <a:t>💰 钱
(参数)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645920" y="3474720"/>
            <a:ext cx="457200" cy="274320"/>
          </a:xfrm>
          <a:prstGeom prst="rightArrow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846320" y="3474720"/>
            <a:ext cx="457200" cy="274320"/>
          </a:xfrm>
          <a:prstGeom prst="rightArrow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200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CB77"/>
                </a:solidFill>
                <a:latin typeface="微软雅黑"/>
              </a:rPr>
              <a:t>💵 新余额
(返回值)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微软雅黑"/>
              </a:rPr>
              <a:t>封装的好处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468880"/>
            <a:ext cx="48463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560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42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</a:rPr>
              <a:t>隐藏复杂度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880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不用管里面怎么实现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383280"/>
            <a:ext cx="48463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474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456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</a:rPr>
              <a:t>标准化接口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794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知道输入输出就能用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297680"/>
            <a:ext cx="48463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4389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370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</a:rPr>
              <a:t>便于修改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内部改了，接口不变就行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212080"/>
            <a:ext cx="48463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5303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♻️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285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微软雅黑"/>
              </a:rPr>
              <a:t>代码复用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623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一个函数，到处调用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软雅黑"/>
              </a:rPr>
              <a:t>📜 函数声明 vs 函数定义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微软雅黑"/>
              </a:rPr>
              <a:t>接口和实现的分离——封装的雏形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从程序员到架构师 · 第2讲：函数封装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8C42"/>
                </a:solidFill>
                <a:latin typeface="微软雅黑"/>
              </a:rPr>
              <a:t>📋 函数声明（接口）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3E50"/>
                </a:solidFill>
                <a:latin typeface="微软雅黑"/>
              </a:rPr>
              <a:t>double deposit(double, double);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微软雅黑"/>
              </a:rPr>
              <a:t>• 告诉编译器「有这个函数」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微软雅黑"/>
              </a:rPr>
              <a:t>• 只说「长什么样」，不说「怎么做」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微软雅黑"/>
              </a:rPr>
              <a:t>• 就像菜单：告诉你菜名，没告诉你怎么做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微软雅黑"/>
              </a:rPr>
              <a:t>• 放在文件开头或头文件(.h)里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4864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DC4"/>
                </a:solidFill>
                <a:latin typeface="微软雅黑"/>
              </a:rPr>
              <a:t>🔧 函数定义（实现）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微软雅黑"/>
              </a:rPr>
              <a:t>double deposit(double bal, double amt)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微软雅黑"/>
              </a:rPr>
              <a:t>    if (amt &gt; 0)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74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微软雅黑"/>
              </a:rPr>
              <a:t>        printf("存入%.2f元\n", amt);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86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微软雅黑"/>
              </a:rPr>
              <a:t>        return bal + amt;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微软雅黑"/>
              </a:rPr>
              <a:t>  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709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微软雅黑"/>
              </a:rPr>
              <a:t>    return bal;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微软雅黑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669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• 函数的具体实现代码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897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• 告诉电脑「具体怎么做」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6126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• 就像菜谱：详细的做法步骤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355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• 放在.c文件里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软雅黑"/>
              </a:rPr>
              <a:t>🤖 AI辅助学习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微软雅黑"/>
              </a:rPr>
              <a:t>让AI当你的编程助教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从程序员到架构师 · 第2讲：函数封装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软雅黑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</a:rPr>
              <a:t>理解概念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让AI用通俗的话解释函数封装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4937760" cy="82296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函数封装就像洗衣机：放脏衣服进去，按按钮，
出来干净衣服。不用管里面怎么转的。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软雅黑"/>
              </a:rPr>
              <a:t>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74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</a:rPr>
              <a:t>生成函数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描述功能，让AI帮你写函数骨架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834640"/>
            <a:ext cx="4937760" cy="82296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写一个判断质数的函数，参数是int，返回int。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软雅黑"/>
              </a:rP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</a:rPr>
              <a:t>重构代码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把屎山代码丢给AI，让它拆分成函数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4937760" cy="82296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帮我把这段main函数拆分成多个函数。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11480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97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软雅黑"/>
              </a:rPr>
              <a:t>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微软雅黑"/>
              </a:rPr>
              <a:t>调试帮忙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微软雅黑"/>
              </a:rPr>
              <a:t>函数有bug？让AI帮你分析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5303520"/>
            <a:ext cx="4937760" cy="82296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394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这个函数为什么返回值不对？帮我看看。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软雅黑"/>
              </a:rPr>
              <a:t>🌱 进化视角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微软雅黑"/>
              </a:rPr>
              <a:t>从函数到模块，封装的层层升级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从程序员到架构师 · 第2讲：函数封装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154680"/>
            <a:ext cx="731520" cy="91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2743200"/>
            <a:ext cx="914400" cy="9144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49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表达式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3154680"/>
            <a:ext cx="731520" cy="91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57400" y="2743200"/>
            <a:ext cx="914400" cy="9144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3749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154680"/>
            <a:ext cx="731520" cy="91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57600" y="2743200"/>
            <a:ext cx="914400" cy="9144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49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模块化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154680"/>
            <a:ext cx="731520" cy="91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57800" y="2743200"/>
            <a:ext cx="914400" cy="91440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749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静态库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154680"/>
            <a:ext cx="731520" cy="91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0" y="2743200"/>
            <a:ext cx="914400" cy="914400"/>
          </a:xfrm>
          <a:prstGeom prst="ellipse">
            <a:avLst/>
          </a:prstGeom>
          <a:solidFill>
            <a:srgbClr val="FF8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749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动态库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40" y="3154680"/>
            <a:ext cx="731520" cy="914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58200" y="2743200"/>
            <a:ext cx="914400" cy="914400"/>
          </a:xfrm>
          <a:prstGeom prst="ellipse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749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...</a:t>
            </a:r>
          </a:p>
        </p:txBody>
      </p:sp>
      <p:sp>
        <p:nvSpPr>
          <p:cNvPr id="31" name="Oval 30"/>
          <p:cNvSpPr/>
          <p:nvPr/>
        </p:nvSpPr>
        <p:spPr>
          <a:xfrm>
            <a:off x="10058400" y="274320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749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插件框架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8C42"/>
                </a:solidFill>
                <a:latin typeface="微软雅黑"/>
              </a:rPr>
              <a:t>👈 当前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3E50"/>
                </a:solidFill>
                <a:latin typeface="微软雅黑"/>
              </a:rPr>
              <a:t>函数解决了什么问题？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937760"/>
            <a:ext cx="2286000" cy="640080"/>
          </a:xfrm>
          <a:prstGeom prst="roundRect">
            <a:avLst/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✅ 代码复用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4937760"/>
            <a:ext cx="2286000" cy="640080"/>
          </a:xfrm>
          <a:prstGeom prst="roundRect">
            <a:avLst/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✅ 逻辑清晰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4937760"/>
            <a:ext cx="2286000" cy="640080"/>
          </a:xfrm>
          <a:prstGeom prst="roundRect">
            <a:avLst/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✅ 便于维护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59" y="4937760"/>
            <a:ext cx="2286000" cy="640080"/>
          </a:xfrm>
          <a:prstGeom prst="roundRect">
            <a:avLst/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59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✅ 单一职责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6B"/>
                </a:solidFill>
                <a:latin typeface="微软雅黑"/>
              </a:rPr>
              <a:t>函数带来了什么新问题？→ 所有函数还在一个文件里！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C3E50"/>
                </a:solidFill>
                <a:latin typeface="微软雅黑"/>
              </a:rPr>
              <a:t>📝 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微软雅黑"/>
              </a:rPr>
              <a:t>函数封装，就是给代码找个家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从程序员到架构师 · 第2讲：函数封装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C3E50"/>
                </a:solidFill>
                <a:latin typeface="微软雅黑"/>
              </a:rPr>
              <a:t>🎯 一句话总结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560320"/>
            <a:ext cx="8503920" cy="1097280"/>
          </a:xfrm>
          <a:prstGeom prst="roundRect">
            <a:avLst/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8346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函数封装，就是给代码找个家——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</a:rPr>
              <a:t>每个功能住一个房间，整整齐齐，互不打扰。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2148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1️⃣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函数是什么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2064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有名字的可复用代码块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4023360"/>
            <a:ext cx="2148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160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2️⃣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663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函数四件套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12064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返回值、函数名、参数、函数体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023360"/>
            <a:ext cx="2148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4160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3️⃣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663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封装思想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512064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隐藏实现，只露接口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59" y="4023360"/>
            <a:ext cx="2148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59" y="4160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4️⃣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4663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声明vs定义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512064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接口（.h）和实现（.c）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4023360"/>
            <a:ext cx="214884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4160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5️⃣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6634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函数的好处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512064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复用、清晰、易调试、易协作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