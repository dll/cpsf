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E4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023360" y="0"/>
            <a:ext cx="8168335" cy="1097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05156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0F766E"/>
                </a:solidFill>
                <a:latin typeface="微软雅黑"/>
              </a:rPr>
              <a:t>从程序员到架构师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7276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75569"/>
                </a:solidFill>
                <a:latin typeface="微软雅黑"/>
              </a:rPr>
              <a:t>C语言插件框架演进之旅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103120"/>
            <a:ext cx="822960" cy="457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475569"/>
                </a:solidFill>
                <a:latin typeface="微软雅黑"/>
              </a:rPr>
              <a:t>第2讲 / 共 14 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120640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0F766E"/>
                </a:solidFill>
                <a:latin typeface="微软雅黑"/>
              </a:rPr>
              <a:t>从一行 printf</a:t>
            </a:r>
          </a:p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0F766E"/>
                </a:solidFill>
                <a:latin typeface="微软雅黑"/>
              </a:rPr>
              <a:t>到软件体系的插件框架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2040" y="1874519"/>
            <a:ext cx="67665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200" b="1" i="0">
                <a:solidFill>
                  <a:srgbClr val="1F2937"/>
                </a:solidFill>
                <a:latin typeface="微软雅黑"/>
              </a:rPr>
              <a:t>控制结构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3063240"/>
            <a:ext cx="6766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0F766E"/>
                </a:solidFill>
                <a:latin typeface="微软雅黑"/>
              </a:rPr>
              <a:t>顺序 · 分支 · 循环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92040" y="3749039"/>
            <a:ext cx="5852160" cy="27432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92040" y="3977639"/>
            <a:ext cx="65836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475569"/>
                </a:solidFill>
                <a:latin typeface="微软雅黑"/>
              </a:rPr>
              <a:t>一行 printf 只会从上到下走一遍，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475569"/>
                </a:solidFill>
                <a:latin typeface="微软雅黑"/>
              </a:rPr>
              <a:t>现实程序却要"看情况办事、重复干活"。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475569"/>
                </a:solidFill>
                <a:latin typeface="微软雅黑"/>
              </a:rPr>
              <a:t>三种基本结构，就是给程序装上判断与循环的骨架。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知识图谱：本讲站在哪里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控制结构是表达式与函数之间那道必修的门槛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第2讲 控制结构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26464"/>
            <a:ext cx="11094415" cy="1261110"/>
          </a:xfrm>
          <a:prstGeom prst="roundRect">
            <a:avLst>
              <a:gd name="adj" fmla="val 6000"/>
            </a:avLst>
          </a:prstGeom>
          <a:solidFill>
            <a:srgbClr val="E4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426464"/>
            <a:ext cx="50292" cy="126111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609344"/>
            <a:ext cx="1067379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0F766E"/>
                </a:solidFill>
                <a:latin typeface="微软雅黑"/>
              </a:rPr>
              <a:t>🎯 本讲定位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968245"/>
            <a:ext cx="10673791" cy="536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1F2937"/>
                </a:solidFill>
                <a:latin typeface="微软雅黑"/>
              </a:rPr>
              <a:t>上一讲的表达式，是程序里最小的"砖块"；本讲的控制结构，就是把这些砖块搭成房子的"骨架"。</a:t>
            </a:r>
          </a:p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1F2937"/>
                </a:solidFill>
                <a:latin typeface="微软雅黑"/>
              </a:rPr>
              <a:t>没有骨架，程序只能从上到下走一遍；有了骨架，程序才会看情况办事、才会重复干活。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888742"/>
            <a:ext cx="1318434" cy="786384"/>
          </a:xfrm>
          <a:prstGeom prst="roundRect">
            <a:avLst>
              <a:gd name="adj" fmla="val 12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073273"/>
            <a:ext cx="1135554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微软雅黑"/>
              </a:rPr>
              <a:t>表达式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368675"/>
            <a:ext cx="1135554" cy="195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200" b="0" i="0">
                <a:solidFill>
                  <a:srgbClr val="FFFFFF"/>
                </a:solidFill>
                <a:latin typeface="微软雅黑"/>
              </a:rPr>
              <a:t>第1讲 ✅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1894506" y="3163062"/>
            <a:ext cx="256032" cy="237744"/>
          </a:xfrm>
          <a:prstGeom prst="rightArrow">
            <a:avLst/>
          </a:prstGeom>
          <a:solidFill>
            <a:srgbClr val="7C8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177970" y="2888742"/>
            <a:ext cx="1318434" cy="786384"/>
          </a:xfrm>
          <a:prstGeom prst="roundRect">
            <a:avLst>
              <a:gd name="adj" fmla="val 12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69410" y="3073273"/>
            <a:ext cx="1135554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微软雅黑"/>
              </a:rPr>
              <a:t>控制结构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69410" y="3368675"/>
            <a:ext cx="1135554" cy="195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200" b="0" i="0">
                <a:solidFill>
                  <a:srgbClr val="FFFFFF"/>
                </a:solidFill>
                <a:latin typeface="微软雅黑"/>
              </a:rPr>
              <a:t>← 你在这里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3523836" y="3163062"/>
            <a:ext cx="256032" cy="237744"/>
          </a:xfrm>
          <a:prstGeom prst="rightArrow">
            <a:avLst/>
          </a:prstGeom>
          <a:solidFill>
            <a:srgbClr val="7C8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807300" y="2888742"/>
            <a:ext cx="1318434" cy="786384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98740" y="3073273"/>
            <a:ext cx="1135554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微软雅黑"/>
              </a:rPr>
              <a:t>函数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98740" y="3368675"/>
            <a:ext cx="1135554" cy="195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200" b="0" i="0">
                <a:solidFill>
                  <a:srgbClr val="FFFFFF"/>
                </a:solidFill>
                <a:latin typeface="微软雅黑"/>
              </a:rPr>
              <a:t>第3讲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5153166" y="3163062"/>
            <a:ext cx="256032" cy="237744"/>
          </a:xfrm>
          <a:prstGeom prst="rightArrow">
            <a:avLst/>
          </a:prstGeom>
          <a:solidFill>
            <a:srgbClr val="7C8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436630" y="2888742"/>
            <a:ext cx="1318434" cy="786384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28070" y="3073273"/>
            <a:ext cx="1135554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微软雅黑"/>
              </a:rPr>
              <a:t>模块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28070" y="3368675"/>
            <a:ext cx="1135554" cy="195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200" b="0" i="0">
                <a:solidFill>
                  <a:srgbClr val="FFFFFF"/>
                </a:solidFill>
                <a:latin typeface="微软雅黑"/>
              </a:rPr>
              <a:t>第4讲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6782496" y="3163062"/>
            <a:ext cx="256032" cy="237744"/>
          </a:xfrm>
          <a:prstGeom prst="rightArrow">
            <a:avLst/>
          </a:prstGeom>
          <a:solidFill>
            <a:srgbClr val="7C8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065960" y="2888742"/>
            <a:ext cx="1318434" cy="786384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57400" y="3073273"/>
            <a:ext cx="1135554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微软雅黑"/>
              </a:rPr>
              <a:t>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57400" y="3368675"/>
            <a:ext cx="1135554" cy="195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200" b="0" i="0">
                <a:solidFill>
                  <a:srgbClr val="FFFFFF"/>
                </a:solidFill>
                <a:latin typeface="微软雅黑"/>
              </a:rPr>
              <a:t>第9-10讲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8411826" y="3163062"/>
            <a:ext cx="256032" cy="237744"/>
          </a:xfrm>
          <a:prstGeom prst="rightArrow">
            <a:avLst/>
          </a:prstGeom>
          <a:solidFill>
            <a:srgbClr val="7C8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695290" y="2888742"/>
            <a:ext cx="1318434" cy="786384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786730" y="3073273"/>
            <a:ext cx="1135554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微软雅黑"/>
              </a:rPr>
              <a:t>插件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86730" y="3368675"/>
            <a:ext cx="1135554" cy="195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200" b="0" i="0">
                <a:solidFill>
                  <a:srgbClr val="FFFFFF"/>
                </a:solidFill>
                <a:latin typeface="微软雅黑"/>
              </a:rPr>
              <a:t>第11-12讲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10041157" y="3163062"/>
            <a:ext cx="256032" cy="237744"/>
          </a:xfrm>
          <a:prstGeom prst="rightArrow">
            <a:avLst/>
          </a:prstGeom>
          <a:solidFill>
            <a:srgbClr val="7C8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0324621" y="2888742"/>
            <a:ext cx="1318434" cy="786384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16061" y="3073273"/>
            <a:ext cx="1135554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微软雅黑"/>
              </a:rPr>
              <a:t>框架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16061" y="3368675"/>
            <a:ext cx="1135554" cy="195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200" b="0" i="0">
                <a:solidFill>
                  <a:srgbClr val="FFFFFF"/>
                </a:solidFill>
                <a:latin typeface="微软雅黑"/>
              </a:rPr>
              <a:t>第13-14讲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3876294"/>
            <a:ext cx="5419191" cy="1227582"/>
          </a:xfrm>
          <a:prstGeom prst="roundRect">
            <a:avLst>
              <a:gd name="adj" fmla="val 6000"/>
            </a:avLst>
          </a:prstGeom>
          <a:solidFill>
            <a:srgbClr val="E8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48640" y="3876294"/>
            <a:ext cx="50292" cy="122758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4059174"/>
            <a:ext cx="4998567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1D4ED8"/>
                </a:solidFill>
                <a:latin typeface="微软雅黑"/>
              </a:rPr>
              <a:t>⬅ 前置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" y="4418076"/>
            <a:ext cx="499856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F2937"/>
                </a:solidFill>
                <a:latin typeface="微软雅黑"/>
              </a:rPr>
              <a:t>表达式：能算出一个值的代码片段</a:t>
            </a:r>
          </a:p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F2937"/>
                </a:solidFill>
                <a:latin typeface="微软雅黑"/>
              </a:rPr>
              <a:t>本讲直接站在它的肩膀上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23863" y="3876294"/>
            <a:ext cx="5419191" cy="1227582"/>
          </a:xfrm>
          <a:prstGeom prst="roundRect">
            <a:avLst>
              <a:gd name="adj" fmla="val 6000"/>
            </a:avLst>
          </a:prstGeom>
          <a:solidFill>
            <a:srgbClr val="E4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223863" y="3876294"/>
            <a:ext cx="50292" cy="122758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6743" y="4059174"/>
            <a:ext cx="4998567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0F766E"/>
                </a:solidFill>
                <a:latin typeface="微软雅黑"/>
              </a:rPr>
              <a:t>➡ 后续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6743" y="4418076"/>
            <a:ext cx="499856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F2937"/>
                </a:solidFill>
                <a:latin typeface="微软雅黑"/>
              </a:rPr>
              <a:t>函数封装：把逻辑封成名字</a:t>
            </a:r>
          </a:p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F2937"/>
                </a:solidFill>
                <a:latin typeface="微软雅黑"/>
              </a:rPr>
              <a:t>控制结构就是函数体的骨架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48640" y="5358384"/>
            <a:ext cx="11094415" cy="365760"/>
          </a:xfrm>
          <a:prstGeom prst="roundRect">
            <a:avLst>
              <a:gd name="adj" fmla="val 25000"/>
            </a:avLst>
          </a:prstGeom>
          <a:solidFill>
            <a:srgbClr val="FF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77240" y="5413248"/>
            <a:ext cx="106372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1" i="0">
                <a:solidFill>
                  <a:srgbClr val="C2410C"/>
                </a:solidFill>
                <a:latin typeface="微软雅黑"/>
              </a:rPr>
              <a:t>本讲让程序"会判断、会循环"，为第3讲把逻辑封成函数做准备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上一讲的"痛"，本讲要解决什么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只有顺序结构，程序就只会"一路走到黑"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第2讲 控制结构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41093"/>
            <a:ext cx="5382615" cy="420624"/>
          </a:xfrm>
          <a:prstGeom prst="roundRect">
            <a:avLst>
              <a:gd name="adj" fmla="val 18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0439" y="2141093"/>
            <a:ext cx="5382615" cy="420624"/>
          </a:xfrm>
          <a:prstGeom prst="roundRect">
            <a:avLst>
              <a:gd name="adj" fmla="val 18000"/>
            </a:avLst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195957"/>
            <a:ext cx="501685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700" b="1" i="0">
                <a:solidFill>
                  <a:srgbClr val="FFFFFF"/>
                </a:solidFill>
                <a:latin typeface="微软雅黑"/>
              </a:rPr>
              <a:t>第1讲：只有顺序结构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3319" y="2195957"/>
            <a:ext cx="501685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700" b="1" i="0">
                <a:solidFill>
                  <a:srgbClr val="FFFFFF"/>
                </a:solidFill>
                <a:latin typeface="微软雅黑"/>
              </a:rPr>
              <a:t>第2讲：补上分支与循环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616581"/>
            <a:ext cx="5016855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· 代码从上到下，一行一行执行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3" y="2662301"/>
            <a:ext cx="68580" cy="1397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3319" y="2616581"/>
            <a:ext cx="5016855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· 顺序结构保留，作为默认执行方式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15303" y="2662301"/>
            <a:ext cx="68580" cy="1397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2902585"/>
            <a:ext cx="5016855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· 用户输入不同，也只能走同一条路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3" y="2948305"/>
            <a:ext cx="68580" cy="1397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3319" y="2902585"/>
            <a:ext cx="5016855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· 分支结构：if-else / switch 选路径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15303" y="2948305"/>
            <a:ext cx="68580" cy="1397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188589"/>
            <a:ext cx="5016855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· 同样的事要重复，只能照抄很多遍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3503" y="3234309"/>
            <a:ext cx="68580" cy="1397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3319" y="3188589"/>
            <a:ext cx="5016855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· 循环结构：while / for 重复执行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15303" y="3234309"/>
            <a:ext cx="68580" cy="1397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3474593"/>
            <a:ext cx="5016855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· 做完一件事，程序就退出了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503" y="3520313"/>
            <a:ext cx="68580" cy="1397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3319" y="3474593"/>
            <a:ext cx="5016855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· 程序能停在菜单里，等用户下命令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15303" y="3520313"/>
            <a:ext cx="68580" cy="1397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48640" y="3833749"/>
            <a:ext cx="3564026" cy="1194053"/>
          </a:xfrm>
          <a:prstGeom prst="roundRect">
            <a:avLst>
              <a:gd name="adj" fmla="val 6000"/>
            </a:avLst>
          </a:prstGeom>
          <a:solidFill>
            <a:srgbClr val="E8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3833749"/>
            <a:ext cx="50292" cy="1194053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4016629"/>
            <a:ext cx="3143402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1D4ED8"/>
                </a:solidFill>
                <a:latin typeface="微软雅黑"/>
              </a:rPr>
              <a:t>需求一：看情况办事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375531"/>
            <a:ext cx="3143402" cy="4693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输入 1 查余额、输入 2 存款</a:t>
            </a:r>
          </a:p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→ 需要分支结构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13834" y="3833749"/>
            <a:ext cx="3564026" cy="1194053"/>
          </a:xfrm>
          <a:prstGeom prst="roundRect">
            <a:avLst>
              <a:gd name="adj" fmla="val 6000"/>
            </a:avLst>
          </a:prstGeom>
          <a:solidFill>
            <a:srgbClr val="E4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13834" y="3833749"/>
            <a:ext cx="50292" cy="1194053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96714" y="4016629"/>
            <a:ext cx="3143402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0F766E"/>
                </a:solidFill>
                <a:latin typeface="微软雅黑"/>
              </a:rPr>
              <a:t>需求二：重复地干活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96714" y="4375531"/>
            <a:ext cx="3143402" cy="4693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同一段逻辑要跑很多次</a:t>
            </a:r>
          </a:p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→ 需要循环结构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79028" y="3833749"/>
            <a:ext cx="3564026" cy="1194053"/>
          </a:xfrm>
          <a:prstGeom prst="roundRect">
            <a:avLst>
              <a:gd name="adj" fmla="val 6000"/>
            </a:avLst>
          </a:prstGeom>
          <a:solidFill>
            <a:srgbClr val="F1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79028" y="3833749"/>
            <a:ext cx="50292" cy="1194053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61908" y="4016629"/>
            <a:ext cx="3143402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6D28D9"/>
                </a:solidFill>
                <a:latin typeface="微软雅黑"/>
              </a:rPr>
              <a:t>需求三：别做完就跑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61908" y="4375531"/>
            <a:ext cx="3143402" cy="4693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交易完回到菜单接着用</a:t>
            </a:r>
          </a:p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→ 循环里再套分支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5247259"/>
            <a:ext cx="11094415" cy="2552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500" b="0" i="0">
                <a:solidFill>
                  <a:srgbClr val="1F2937"/>
                </a:solidFill>
                <a:latin typeface="微软雅黑"/>
              </a:rPr>
              <a:t>▸ 一句话：本讲要学的，就是把"看情况"和"重复干"这两件事写进代码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从"一路走到黑"，到"会拐弯、会转圈"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什么是控制结构？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控制代码"执行顺序"的语法 —— 只有三种基本结构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第2讲 控制结构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736344"/>
            <a:ext cx="11094415" cy="1261110"/>
          </a:xfrm>
          <a:prstGeom prst="roundRect">
            <a:avLst>
              <a:gd name="adj" fmla="val 6000"/>
            </a:avLst>
          </a:prstGeom>
          <a:solidFill>
            <a:srgbClr val="FF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736344"/>
            <a:ext cx="50292" cy="126111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919224"/>
            <a:ext cx="1067379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C2410C"/>
                </a:solidFill>
                <a:latin typeface="微软雅黑"/>
              </a:rPr>
              <a:t>🚗 一个开车的比喻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278125"/>
            <a:ext cx="10673791" cy="536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1F2937"/>
                </a:solidFill>
                <a:latin typeface="微软雅黑"/>
              </a:rPr>
              <a:t>控制结构，就是决定"代码先走哪一行、要不要回头再走"的语法。</a:t>
            </a:r>
          </a:p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1F2937"/>
                </a:solidFill>
                <a:latin typeface="微软雅黑"/>
              </a:rPr>
              <a:t>想象你在开车：一直直行、在岔路口选一条、围着广场绕圈 —— 正好对应三种结构。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216910"/>
            <a:ext cx="3490874" cy="1001775"/>
          </a:xfrm>
          <a:prstGeom prst="roundRect">
            <a:avLst>
              <a:gd name="adj" fmla="val 12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363214"/>
            <a:ext cx="3307994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顺序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690366"/>
            <a:ext cx="3307994" cy="455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400" b="0" i="0">
                <a:solidFill>
                  <a:srgbClr val="FFFFFF"/>
                </a:solidFill>
                <a:latin typeface="微软雅黑"/>
              </a:rPr>
              <a:t>一直往前开</a:t>
            </a:r>
          </a:p>
          <a:p>
            <a:pPr algn="ctr">
              <a:lnSpc>
                <a:spcPct val="128000"/>
              </a:lnSpc>
            </a:pPr>
            <a:r>
              <a:rPr sz="1400" b="0" i="0">
                <a:solidFill>
                  <a:srgbClr val="FFFFFF"/>
                </a:solidFill>
                <a:latin typeface="微软雅黑"/>
              </a:rPr>
              <a:t>默认的执行方式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066946" y="3598926"/>
            <a:ext cx="256032" cy="237744"/>
          </a:xfrm>
          <a:prstGeom prst="rightArrow">
            <a:avLst/>
          </a:prstGeom>
          <a:solidFill>
            <a:srgbClr val="7C8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350410" y="3216910"/>
            <a:ext cx="3490874" cy="1001775"/>
          </a:xfrm>
          <a:prstGeom prst="roundRect">
            <a:avLst>
              <a:gd name="adj" fmla="val 12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41850" y="3363214"/>
            <a:ext cx="3307994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分支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1850" y="3690366"/>
            <a:ext cx="3307994" cy="455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400" b="0" i="0">
                <a:solidFill>
                  <a:srgbClr val="FFFFFF"/>
                </a:solidFill>
                <a:latin typeface="微软雅黑"/>
              </a:rPr>
              <a:t>岔路口选一条</a:t>
            </a:r>
          </a:p>
          <a:p>
            <a:pPr algn="ctr">
              <a:lnSpc>
                <a:spcPct val="128000"/>
              </a:lnSpc>
            </a:pPr>
            <a:r>
              <a:rPr sz="1400" b="0" i="0">
                <a:solidFill>
                  <a:srgbClr val="FFFFFF"/>
                </a:solidFill>
                <a:latin typeface="微软雅黑"/>
              </a:rPr>
              <a:t>看条件决定走哪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868716" y="3598926"/>
            <a:ext cx="256032" cy="237744"/>
          </a:xfrm>
          <a:prstGeom prst="rightArrow">
            <a:avLst/>
          </a:prstGeom>
          <a:solidFill>
            <a:srgbClr val="7C8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152180" y="3216910"/>
            <a:ext cx="3490874" cy="1001775"/>
          </a:xfrm>
          <a:prstGeom prst="roundRect">
            <a:avLst>
              <a:gd name="adj" fmla="val 12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3620" y="3363214"/>
            <a:ext cx="3307994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循环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3620" y="3690366"/>
            <a:ext cx="3307994" cy="455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400" b="0" i="0">
                <a:solidFill>
                  <a:srgbClr val="FFFFFF"/>
                </a:solidFill>
                <a:latin typeface="微软雅黑"/>
              </a:rPr>
              <a:t>围着广场绕圈</a:t>
            </a:r>
          </a:p>
          <a:p>
            <a:pPr algn="ctr">
              <a:lnSpc>
                <a:spcPct val="128000"/>
              </a:lnSpc>
            </a:pPr>
            <a:r>
              <a:rPr sz="1400" b="0" i="0">
                <a:solidFill>
                  <a:srgbClr val="FFFFFF"/>
                </a:solidFill>
                <a:latin typeface="微软雅黑"/>
              </a:rPr>
              <a:t>重复做同一件事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456430"/>
            <a:ext cx="11094415" cy="976121"/>
          </a:xfrm>
          <a:prstGeom prst="roundRect">
            <a:avLst>
              <a:gd name="adj" fmla="val 6000"/>
            </a:avLst>
          </a:prstGeom>
          <a:solidFill>
            <a:srgbClr val="E8F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4456430"/>
            <a:ext cx="50292" cy="976121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4639310"/>
            <a:ext cx="1067379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15803D"/>
                </a:solidFill>
                <a:latin typeface="微软雅黑"/>
              </a:rPr>
              <a:t>🧩 一句话结论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998212"/>
            <a:ext cx="10673791" cy="2514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F2937"/>
                </a:solidFill>
                <a:latin typeface="微软雅黑"/>
              </a:rPr>
              <a:t>不管程序多复杂，拆到最后都是这三种结构的组合 —— 这是已经被数学证明过的结论。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顺序 · 分支 · 循环：程序世界的三块乐高积木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顺序结构：从上到下，一行一行执行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最基本、也是代码默认的执行方式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第2讲 控制结构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26464"/>
            <a:ext cx="11094415" cy="1704848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1426464"/>
            <a:ext cx="11094415" cy="3657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48132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FDBA74"/>
                </a:solidFill>
                <a:latin typeface="微软雅黑"/>
              </a:rPr>
              <a:t>顺序结构示例：ATM 欢迎界面（src/atm_menu.c）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1890979"/>
            <a:ext cx="10765231" cy="252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E6EDF7"/>
                </a:solidFill>
                <a:latin typeface="Consolas"/>
              </a:rPr>
              <a:t>printf("========================================\n");   // ① 打印上分隔线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143455"/>
            <a:ext cx="10765231" cy="252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E6EDF7"/>
                </a:solidFill>
                <a:latin typeface="Consolas"/>
              </a:rPr>
              <a:t>printf("       欢迎使用 CCIT ATM 系统\n");        // ② 打印欢迎语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2395931"/>
            <a:ext cx="10765231" cy="252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E6EDF7"/>
                </a:solidFill>
                <a:latin typeface="Consolas"/>
              </a:rPr>
              <a:t>printf("========================================\n");   // ③ 打印下分隔线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2648407"/>
            <a:ext cx="10765231" cy="252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E6EDF7"/>
                </a:solidFill>
                <a:latin typeface="Consolas"/>
              </a:rPr>
              <a:t>printf("\n");                                        // ④ 打印一个空行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405631"/>
            <a:ext cx="11094415" cy="2552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500" b="0" i="0">
                <a:solidFill>
                  <a:srgbClr val="1F2937"/>
                </a:solidFill>
                <a:latin typeface="微软雅黑"/>
              </a:rPr>
              <a:t>▸ 四行 printf，谁在前谁先执行，不跳、不回头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752341"/>
            <a:ext cx="11094415" cy="2552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500" b="0" i="0">
                <a:solidFill>
                  <a:srgbClr val="1F2937"/>
                </a:solidFill>
                <a:latin typeface="微软雅黑"/>
              </a:rPr>
              <a:t>▸ 这就是"顺序结构"：代码写着什么顺序，就跑什么顺序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099051"/>
            <a:ext cx="11094415" cy="2552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500" b="0" i="0">
                <a:solidFill>
                  <a:srgbClr val="1F2937"/>
                </a:solidFill>
                <a:latin typeface="微软雅黑"/>
              </a:rPr>
              <a:t>▸ 它是另外两种结构的"底色"——分支和循环里，每一段仍然是顺序执行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537201"/>
            <a:ext cx="11094415" cy="976121"/>
          </a:xfrm>
          <a:prstGeom prst="roundRect">
            <a:avLst>
              <a:gd name="adj" fmla="val 6000"/>
            </a:avLst>
          </a:prstGeom>
          <a:solidFill>
            <a:srgbClr val="E8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537201"/>
            <a:ext cx="50292" cy="976121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720081"/>
            <a:ext cx="1067379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1D4ED8"/>
                </a:solidFill>
                <a:latin typeface="微软雅黑"/>
              </a:rPr>
              <a:t>💡 记住这一点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078983"/>
            <a:ext cx="10673791" cy="2514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F2937"/>
                </a:solidFill>
                <a:latin typeface="微软雅黑"/>
              </a:rPr>
              <a:t>顺序结构不需要任何关键字，它就是"默认"。—— 你写的每一行普通代码，都是顺序结构。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顺序结构是地板：分支和循环，都站在它上面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分支结构：if-else 让程序会判断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条件为真走一条路，为假走另一条路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第2讲 控制结构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26464"/>
            <a:ext cx="6212872" cy="3039364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1426464"/>
            <a:ext cx="6212872" cy="3657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481328"/>
            <a:ext cx="588368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FDBA74"/>
                </a:solidFill>
                <a:latin typeface="微软雅黑"/>
              </a:rPr>
              <a:t>取款时的三重判断（src/atm_menu.c）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1890979"/>
            <a:ext cx="5883688" cy="2344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E6EDF7"/>
                </a:solidFill>
                <a:latin typeface="Consolas"/>
              </a:rPr>
              <a:t>if (amount &lt;= 0) {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125421"/>
            <a:ext cx="5883688" cy="2344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E6EDF7"/>
                </a:solidFill>
                <a:latin typeface="Consolas"/>
              </a:rPr>
              <a:t>    printf("取款金额必须大于0！\n");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2359863"/>
            <a:ext cx="5883688" cy="2344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E6EDF7"/>
                </a:solidFill>
                <a:latin typeface="Consolas"/>
              </a:rPr>
              <a:t>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2594305"/>
            <a:ext cx="5883688" cy="2344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E6EDF7"/>
                </a:solidFill>
                <a:latin typeface="Consolas"/>
              </a:rPr>
              <a:t>else if (amount &gt; balance) {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2828747"/>
            <a:ext cx="5883688" cy="2344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E6EDF7"/>
                </a:solidFill>
                <a:latin typeface="Consolas"/>
              </a:rPr>
              <a:t>    printf("余额不足！\n");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3063189"/>
            <a:ext cx="5883688" cy="2344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E6EDF7"/>
                </a:solidFill>
                <a:latin typeface="Consolas"/>
              </a:rPr>
              <a:t>}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3297631"/>
            <a:ext cx="5883688" cy="2344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E6EDF7"/>
                </a:solidFill>
                <a:latin typeface="Consolas"/>
              </a:rPr>
              <a:t>else {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3532073"/>
            <a:ext cx="5883688" cy="2344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E6EDF7"/>
                </a:solidFill>
                <a:latin typeface="Consolas"/>
              </a:rPr>
              <a:t>    balance = balance - amount;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3766515"/>
            <a:ext cx="5883688" cy="2344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E6EDF7"/>
                </a:solidFill>
                <a:latin typeface="Consolas"/>
              </a:rPr>
              <a:t>    printf("取款成功！\n");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4000957"/>
            <a:ext cx="5883688" cy="2344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E6EDF7"/>
                </a:solidFill>
                <a:latin typeface="Consolas"/>
              </a:rPr>
              <a:t>}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99256" y="1426464"/>
            <a:ext cx="4643798" cy="1194053"/>
          </a:xfrm>
          <a:prstGeom prst="roundRect">
            <a:avLst>
              <a:gd name="adj" fmla="val 6000"/>
            </a:avLst>
          </a:prstGeom>
          <a:solidFill>
            <a:srgbClr val="FD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999256" y="1426464"/>
            <a:ext cx="50292" cy="1194053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82136" y="1609344"/>
            <a:ext cx="4223174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B91C1C"/>
                </a:solidFill>
                <a:latin typeface="微软雅黑"/>
              </a:rPr>
              <a:t>① 金额 ≤ 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82136" y="1968245"/>
            <a:ext cx="4223174" cy="4693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金额不合法</a:t>
            </a:r>
          </a:p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直接报错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99256" y="2766822"/>
            <a:ext cx="4643798" cy="1194053"/>
          </a:xfrm>
          <a:prstGeom prst="roundRect">
            <a:avLst>
              <a:gd name="adj" fmla="val 6000"/>
            </a:avLst>
          </a:prstGeom>
          <a:solidFill>
            <a:srgbClr val="FF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999256" y="2766822"/>
            <a:ext cx="50292" cy="1194053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82136" y="2949702"/>
            <a:ext cx="4223174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C2410C"/>
                </a:solidFill>
                <a:latin typeface="微软雅黑"/>
              </a:rPr>
              <a:t>② 金额 &gt; 余额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82136" y="3308604"/>
            <a:ext cx="4223174" cy="4693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余额不足</a:t>
            </a:r>
          </a:p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拒绝取款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999256" y="4107180"/>
            <a:ext cx="4643798" cy="1194053"/>
          </a:xfrm>
          <a:prstGeom prst="roundRect">
            <a:avLst>
              <a:gd name="adj" fmla="val 6000"/>
            </a:avLst>
          </a:prstGeom>
          <a:solidFill>
            <a:srgbClr val="E8F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999256" y="4107180"/>
            <a:ext cx="50292" cy="1194053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82136" y="4290060"/>
            <a:ext cx="4223174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15803D"/>
                </a:solidFill>
                <a:latin typeface="微软雅黑"/>
              </a:rPr>
              <a:t>③ 其他情况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82136" y="4648962"/>
            <a:ext cx="4223174" cy="4693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正常取款</a:t>
            </a:r>
          </a:p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余额相应减少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721859"/>
            <a:ext cx="11094415" cy="2552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500" b="0" i="0">
                <a:solidFill>
                  <a:srgbClr val="1F2937"/>
                </a:solidFill>
                <a:latin typeface="微软雅黑"/>
              </a:rPr>
              <a:t>▸ if 从上往下逐个判断，谁先为真就进谁的门，后面的分支不再执行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if-else 是"万能分支"：范围、组合条件，它都管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分支结构：switch 多选一 与 case 穿透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一个值对应多个选项，比 if-else 更整齐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第2讲 控制结构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26464"/>
            <a:ext cx="6434760" cy="3291839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1426464"/>
            <a:ext cx="6434760" cy="3657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481328"/>
            <a:ext cx="6105576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FDBA74"/>
                </a:solidFill>
                <a:latin typeface="微软雅黑"/>
              </a:rPr>
              <a:t>ATM 菜单：一个 choice 对应多个 case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1890979"/>
            <a:ext cx="6105576" cy="21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6EDF7"/>
                </a:solidFill>
                <a:latin typeface="Consolas"/>
              </a:rPr>
              <a:t>switch (choice) {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107387"/>
            <a:ext cx="6105576" cy="21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6EDF7"/>
                </a:solidFill>
                <a:latin typeface="Consolas"/>
              </a:rPr>
              <a:t>    case 1:                    // 查询余额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2323795"/>
            <a:ext cx="6105576" cy="21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6EDF7"/>
                </a:solidFill>
                <a:latin typeface="Consolas"/>
              </a:rPr>
              <a:t>        printf("【查询余额】\n");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2540203"/>
            <a:ext cx="6105576" cy="21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6EDF7"/>
                </a:solidFill>
                <a:latin typeface="Consolas"/>
              </a:rPr>
              <a:t>        break;                 // 跳出 switch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2756611"/>
            <a:ext cx="6105576" cy="21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6EDF7"/>
                </a:solidFill>
                <a:latin typeface="Consolas"/>
              </a:rPr>
              <a:t>    case 2:                    // 存款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2973019"/>
            <a:ext cx="6105576" cy="21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6EDF7"/>
                </a:solidFill>
                <a:latin typeface="Consolas"/>
              </a:rPr>
              <a:t>        ...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3189427"/>
            <a:ext cx="6105576" cy="21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6EDF7"/>
                </a:solidFill>
                <a:latin typeface="Consolas"/>
              </a:rPr>
              <a:t>    case 0:                    // 退出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3405835"/>
            <a:ext cx="6105576" cy="21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6EDF7"/>
                </a:solidFill>
                <a:latin typeface="Consolas"/>
              </a:rPr>
              <a:t>        running = 0;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3622243"/>
            <a:ext cx="6105576" cy="21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6EDF7"/>
                </a:solidFill>
                <a:latin typeface="Consolas"/>
              </a:rPr>
              <a:t>        break;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3838651"/>
            <a:ext cx="6105576" cy="21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6EDF7"/>
                </a:solidFill>
                <a:latin typeface="Consolas"/>
              </a:rPr>
              <a:t>    default:                   // 都不匹配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4055059"/>
            <a:ext cx="6105576" cy="21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6EDF7"/>
                </a:solidFill>
                <a:latin typeface="Consolas"/>
              </a:rPr>
              <a:t>        break;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4271467"/>
            <a:ext cx="6105576" cy="21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6EDF7"/>
                </a:solidFill>
                <a:latin typeface="Consolas"/>
              </a:rPr>
              <a:t>}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21144" y="1426464"/>
            <a:ext cx="4421910" cy="1177290"/>
          </a:xfrm>
          <a:prstGeom prst="roundRect">
            <a:avLst>
              <a:gd name="adj" fmla="val 6000"/>
            </a:avLst>
          </a:prstGeom>
          <a:solidFill>
            <a:srgbClr val="FD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21144" y="1426464"/>
            <a:ext cx="50292" cy="117729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04024" y="1609344"/>
            <a:ext cx="4001286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B91C1C"/>
                </a:solidFill>
                <a:latin typeface="微软雅黑"/>
              </a:rPr>
              <a:t>⚠️ break 的作用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4024" y="1968245"/>
            <a:ext cx="4001286" cy="4526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50" b="0" i="0">
                <a:solidFill>
                  <a:srgbClr val="1F2937"/>
                </a:solidFill>
                <a:latin typeface="微软雅黑"/>
              </a:rPr>
              <a:t>break = 跳出 switch，</a:t>
            </a:r>
          </a:p>
          <a:p>
            <a:pPr algn="l">
              <a:lnSpc>
                <a:spcPct val="132000"/>
              </a:lnSpc>
            </a:pPr>
            <a:r>
              <a:rPr sz="1350" b="0" i="0">
                <a:solidFill>
                  <a:srgbClr val="1F2937"/>
                </a:solidFill>
                <a:latin typeface="微软雅黑"/>
              </a:rPr>
              <a:t>不再往下走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221144" y="2750058"/>
            <a:ext cx="4421910" cy="1177290"/>
          </a:xfrm>
          <a:prstGeom prst="roundRect">
            <a:avLst>
              <a:gd name="adj" fmla="val 6000"/>
            </a:avLst>
          </a:prstGeom>
          <a:solidFill>
            <a:srgbClr val="FF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221144" y="2750058"/>
            <a:ext cx="50292" cy="117729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04024" y="2932938"/>
            <a:ext cx="4001286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C2410C"/>
                </a:solidFill>
                <a:latin typeface="微软雅黑"/>
              </a:rPr>
              <a:t>⚠️ 忘了 break？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04024" y="3291840"/>
            <a:ext cx="4001286" cy="4526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50" b="0" i="0">
                <a:solidFill>
                  <a:srgbClr val="1F2937"/>
                </a:solidFill>
                <a:latin typeface="微软雅黑"/>
              </a:rPr>
              <a:t>会从匹配的 case 一路往下执行，</a:t>
            </a:r>
          </a:p>
          <a:p>
            <a:pPr algn="l">
              <a:lnSpc>
                <a:spcPct val="132000"/>
              </a:lnSpc>
            </a:pPr>
            <a:r>
              <a:rPr sz="1350" b="0" i="0">
                <a:solidFill>
                  <a:srgbClr val="1F2937"/>
                </a:solidFill>
                <a:latin typeface="微软雅黑"/>
              </a:rPr>
              <a:t>这叫"case 穿透"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4937760"/>
            <a:ext cx="11094415" cy="761999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" y="5036515"/>
            <a:ext cx="10765231" cy="21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6EDF7"/>
                </a:solidFill>
                <a:latin typeface="Consolas"/>
              </a:rPr>
              <a:t>switch (x) { case 1: printf("A"); case 2: printf("B"); break; }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3232" y="5252923"/>
            <a:ext cx="10765231" cy="21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9FB0C9"/>
                </a:solidFill>
                <a:latin typeface="Consolas"/>
              </a:rPr>
              <a:t>// 若 x == 1，屏幕输出 "AB" —— 穿透了！每个 case 后面都要记得加 break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switch 管"多选一"，但每个 case 后面必须加 break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循环结构：让代码重复执行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while 靠条件驱动 ｜ for 靠计数器驱动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第2讲 控制结构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34972"/>
            <a:ext cx="5419191" cy="1867154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1934972"/>
            <a:ext cx="5419191" cy="3657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989836"/>
            <a:ext cx="5090007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FDBA74"/>
                </a:solidFill>
                <a:latin typeface="微软雅黑"/>
              </a:rPr>
              <a:t>while：条件为真就一直转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399487"/>
            <a:ext cx="5090007" cy="2344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FDBA74"/>
                </a:solidFill>
                <a:latin typeface="Consolas"/>
              </a:rPr>
              <a:t>int running = 1;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633929"/>
            <a:ext cx="5090007" cy="2344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E6EDF7"/>
                </a:solidFill>
                <a:latin typeface="Consolas"/>
              </a:rPr>
              <a:t>while (running) {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2868371"/>
            <a:ext cx="5090007" cy="2344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9FB0C9"/>
                </a:solidFill>
                <a:latin typeface="Consolas"/>
              </a:rPr>
              <a:t>    // 显示菜单 / 读取输入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3102813"/>
            <a:ext cx="5090007" cy="2344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9FB0C9"/>
                </a:solidFill>
                <a:latin typeface="Consolas"/>
              </a:rPr>
              <a:t>    // 用户选退出：running = 0;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3337255"/>
            <a:ext cx="5090007" cy="2344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E6EDF7"/>
                </a:solidFill>
                <a:latin typeface="Consolas"/>
              </a:rPr>
              <a:t>}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23863" y="1934972"/>
            <a:ext cx="5419191" cy="1632712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23863" y="1934972"/>
            <a:ext cx="5419191" cy="3657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8455" y="1989836"/>
            <a:ext cx="5090007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FDBA74"/>
                </a:solidFill>
                <a:latin typeface="微软雅黑"/>
              </a:rPr>
              <a:t>for：计数器驱动，跑固定次数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8455" y="2399487"/>
            <a:ext cx="5090007" cy="2344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E6EDF7"/>
                </a:solidFill>
                <a:latin typeface="Consolas"/>
              </a:rPr>
              <a:t>for (int i = 1; i &lt;= 3; i++) {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8455" y="2633929"/>
            <a:ext cx="5090007" cy="2344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E6EDF7"/>
                </a:solidFill>
                <a:latin typeface="Consolas"/>
              </a:rPr>
              <a:t>    printf("第 %d 次\n", i);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88455" y="2868371"/>
            <a:ext cx="5090007" cy="2344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E6EDF7"/>
                </a:solidFill>
                <a:latin typeface="Consolas"/>
              </a:rPr>
              <a:t>}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8455" y="3102813"/>
            <a:ext cx="5090007" cy="2344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9FB0C9"/>
                </a:solidFill>
                <a:latin typeface="Consolas"/>
              </a:rPr>
              <a:t>// 初始化；条件；更新 —— 三件套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039870"/>
            <a:ext cx="3564026" cy="1194053"/>
          </a:xfrm>
          <a:prstGeom prst="roundRect">
            <a:avLst>
              <a:gd name="adj" fmla="val 6000"/>
            </a:avLst>
          </a:prstGeom>
          <a:solidFill>
            <a:srgbClr val="E4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4039870"/>
            <a:ext cx="50292" cy="1194053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4222750"/>
            <a:ext cx="3143402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0F766E"/>
                </a:solidFill>
                <a:latin typeface="微软雅黑"/>
              </a:rPr>
              <a:t>while 适合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581652"/>
            <a:ext cx="3143402" cy="4693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不知道要跑多少次</a:t>
            </a:r>
          </a:p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菜单循环、等用户输入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13834" y="4039870"/>
            <a:ext cx="3564026" cy="1194053"/>
          </a:xfrm>
          <a:prstGeom prst="roundRect">
            <a:avLst>
              <a:gd name="adj" fmla="val 6000"/>
            </a:avLst>
          </a:prstGeom>
          <a:solidFill>
            <a:srgbClr val="E8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13834" y="4039870"/>
            <a:ext cx="50292" cy="1194053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96714" y="4222750"/>
            <a:ext cx="3143402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1D4ED8"/>
                </a:solidFill>
                <a:latin typeface="微软雅黑"/>
              </a:rPr>
              <a:t>for 适合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96714" y="4581652"/>
            <a:ext cx="3143402" cy="4693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知道要跑多少次</a:t>
            </a:r>
          </a:p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计数、遍历 N 个元素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79028" y="4039870"/>
            <a:ext cx="3564026" cy="1194053"/>
          </a:xfrm>
          <a:prstGeom prst="roundRect">
            <a:avLst>
              <a:gd name="adj" fmla="val 6000"/>
            </a:avLst>
          </a:prstGeom>
          <a:solidFill>
            <a:srgbClr val="FD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079028" y="4039870"/>
            <a:ext cx="50292" cy="1194053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61908" y="4222750"/>
            <a:ext cx="3143402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B91C1C"/>
                </a:solidFill>
                <a:latin typeface="微软雅黑"/>
              </a:rPr>
              <a:t>共同前提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61908" y="4581652"/>
            <a:ext cx="3143402" cy="4693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循环条件最终要能变假</a:t>
            </a:r>
          </a:p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否则就是"死循环"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5435091"/>
            <a:ext cx="11094415" cy="2552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500" b="0" i="0">
                <a:solidFill>
                  <a:srgbClr val="1F2937"/>
                </a:solidFill>
                <a:latin typeface="微软雅黑"/>
              </a:rPr>
              <a:t>▸ ATM 主循环：用 running 当开关，用户选"退出"时把它设为 0，循环自然结束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循环的力量，来自一句"什么时候停下来"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原理深入：三种结构如何"嵌套"成程序 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大结构套小结构 —— 这就是程序的组织方式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第2讲 控制结构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26464"/>
            <a:ext cx="6656649" cy="2859024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1426464"/>
            <a:ext cx="6656649" cy="3657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481328"/>
            <a:ext cx="632746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FDBA74"/>
                </a:solidFill>
                <a:latin typeface="微软雅黑"/>
              </a:rPr>
              <a:t>ATM 程序的骨架：循环里套分支，分支里再套顺序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1890979"/>
            <a:ext cx="6327465" cy="21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6EDF7"/>
                </a:solidFill>
                <a:latin typeface="Consolas"/>
              </a:rPr>
              <a:t>main()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107387"/>
            <a:ext cx="6327465" cy="21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6EDF7"/>
                </a:solidFill>
                <a:latin typeface="Consolas"/>
              </a:rPr>
              <a:t>├─ 顺序：定义 balance / choice / running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2323795"/>
            <a:ext cx="6327465" cy="21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6EDF7"/>
                </a:solidFill>
                <a:latin typeface="Consolas"/>
              </a:rPr>
              <a:t>├─ 顺序：打印欢迎界面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2540203"/>
            <a:ext cx="6327465" cy="21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6EDF7"/>
                </a:solidFill>
                <a:latin typeface="Consolas"/>
              </a:rPr>
              <a:t>└─ while (running)        ← 循环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2756611"/>
            <a:ext cx="6327465" cy="21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6EDF7"/>
                </a:solidFill>
                <a:latin typeface="Consolas"/>
              </a:rPr>
              <a:t>   ├─ 顺序：显示菜单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2973019"/>
            <a:ext cx="6327465" cy="21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6EDF7"/>
                </a:solidFill>
                <a:latin typeface="Consolas"/>
              </a:rPr>
              <a:t>   ├─ 顺序：读取用户输入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3189427"/>
            <a:ext cx="6327465" cy="21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6EDF7"/>
                </a:solidFill>
                <a:latin typeface="Consolas"/>
              </a:rPr>
              <a:t>   └─ switch (choice)     ← 分支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3405835"/>
            <a:ext cx="6327465" cy="21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6EDF7"/>
                </a:solidFill>
                <a:latin typeface="Consolas"/>
              </a:rPr>
              <a:t>      ├─ case 1 查余额（顺序）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3622243"/>
            <a:ext cx="6327465" cy="21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6EDF7"/>
                </a:solidFill>
                <a:latin typeface="Consolas"/>
              </a:rPr>
              <a:t>      ├─ case 3 取款（再套 if-else）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3838651"/>
            <a:ext cx="6327465" cy="21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6EDF7"/>
                </a:solidFill>
                <a:latin typeface="Consolas"/>
              </a:rPr>
              <a:t>      └─ case 0 退出（running = 0）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43033" y="1426464"/>
            <a:ext cx="4200022" cy="1177290"/>
          </a:xfrm>
          <a:prstGeom prst="roundRect">
            <a:avLst>
              <a:gd name="adj" fmla="val 6000"/>
            </a:avLst>
          </a:prstGeom>
          <a:solidFill>
            <a:srgbClr val="E4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43033" y="1426464"/>
            <a:ext cx="50292" cy="117729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25913" y="1609344"/>
            <a:ext cx="3779398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0F766E"/>
                </a:solidFill>
                <a:latin typeface="微软雅黑"/>
              </a:rPr>
              <a:t>① 最外层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25913" y="1968245"/>
            <a:ext cx="3779398" cy="4526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50" b="0" i="0">
                <a:solidFill>
                  <a:srgbClr val="1F2937"/>
                </a:solidFill>
                <a:latin typeface="微软雅黑"/>
              </a:rPr>
              <a:t>while 循环，</a:t>
            </a:r>
          </a:p>
          <a:p>
            <a:pPr algn="l">
              <a:lnSpc>
                <a:spcPct val="132000"/>
              </a:lnSpc>
            </a:pPr>
            <a:r>
              <a:rPr sz="1350" b="0" i="0">
                <a:solidFill>
                  <a:srgbClr val="1F2937"/>
                </a:solidFill>
                <a:latin typeface="微软雅黑"/>
              </a:rPr>
              <a:t>让菜单反复出现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43033" y="2731770"/>
            <a:ext cx="4200022" cy="1177290"/>
          </a:xfrm>
          <a:prstGeom prst="roundRect">
            <a:avLst>
              <a:gd name="adj" fmla="val 6000"/>
            </a:avLst>
          </a:prstGeom>
          <a:solidFill>
            <a:srgbClr val="F1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443033" y="2731770"/>
            <a:ext cx="50292" cy="117729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25913" y="2914650"/>
            <a:ext cx="3779398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6D28D9"/>
                </a:solidFill>
                <a:latin typeface="微软雅黑"/>
              </a:rPr>
              <a:t>② 中间层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5913" y="3273552"/>
            <a:ext cx="3779398" cy="4526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50" b="0" i="0">
                <a:solidFill>
                  <a:srgbClr val="1F2937"/>
                </a:solidFill>
                <a:latin typeface="微软雅黑"/>
              </a:rPr>
              <a:t>switch 分支，</a:t>
            </a:r>
          </a:p>
          <a:p>
            <a:pPr algn="l">
              <a:lnSpc>
                <a:spcPct val="132000"/>
              </a:lnSpc>
            </a:pPr>
            <a:r>
              <a:rPr sz="1350" b="0" i="0">
                <a:solidFill>
                  <a:srgbClr val="1F2937"/>
                </a:solidFill>
                <a:latin typeface="微软雅黑"/>
              </a:rPr>
              <a:t>按选择走不同路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43033" y="4037076"/>
            <a:ext cx="4200022" cy="1177290"/>
          </a:xfrm>
          <a:prstGeom prst="roundRect">
            <a:avLst>
              <a:gd name="adj" fmla="val 6000"/>
            </a:avLst>
          </a:prstGeom>
          <a:solidFill>
            <a:srgbClr val="E8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443033" y="4037076"/>
            <a:ext cx="50292" cy="117729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25913" y="4219956"/>
            <a:ext cx="3779398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1D4ED8"/>
                </a:solidFill>
                <a:latin typeface="微软雅黑"/>
              </a:rPr>
              <a:t>③ 最内层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25913" y="4578858"/>
            <a:ext cx="3779398" cy="4526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50" b="0" i="0">
                <a:solidFill>
                  <a:srgbClr val="1F2937"/>
                </a:solidFill>
                <a:latin typeface="微软雅黑"/>
              </a:rPr>
              <a:t>顺序 + 更小的 if</a:t>
            </a:r>
          </a:p>
          <a:p>
            <a:pPr algn="l">
              <a:lnSpc>
                <a:spcPct val="132000"/>
              </a:lnSpc>
            </a:pPr>
            <a:r>
              <a:rPr sz="1350" b="0" i="0">
                <a:solidFill>
                  <a:srgbClr val="1F2937"/>
                </a:solidFill>
                <a:latin typeface="微软雅黑"/>
              </a:rPr>
              <a:t>处理具体业务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4504943"/>
            <a:ext cx="11094415" cy="1210818"/>
          </a:xfrm>
          <a:prstGeom prst="roundRect">
            <a:avLst>
              <a:gd name="adj" fmla="val 6000"/>
            </a:avLst>
          </a:prstGeom>
          <a:solidFill>
            <a:srgbClr val="FF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8640" y="4504943"/>
            <a:ext cx="50292" cy="121081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4687823"/>
            <a:ext cx="1067379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C2410C"/>
                </a:solidFill>
                <a:latin typeface="微软雅黑"/>
              </a:rPr>
              <a:t>📐 结构化程序设计的根基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" y="5046725"/>
            <a:ext cx="10673791" cy="4861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1F2937"/>
                </a:solidFill>
                <a:latin typeface="微软雅黑"/>
              </a:rPr>
              <a:t>Böhm 和 Jacopini 在 1966 年证明：任何程序都能只用顺序、分支、循环表达出来。</a:t>
            </a:r>
          </a:p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1F2937"/>
                </a:solidFill>
                <a:latin typeface="微软雅黑"/>
              </a:rPr>
              <a:t>所以现代语言都有这三种结构 —— 它们足够表达一切，又足够简单，这就是"结构化程序设计"。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三种结构 + 层层嵌套 = 任何复杂程序的全部积木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对比与辨析：怎么选对结构？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if 还是 switch？while 还是 for？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第2讲 控制结构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26464"/>
            <a:ext cx="5382615" cy="420624"/>
          </a:xfrm>
          <a:prstGeom prst="roundRect">
            <a:avLst>
              <a:gd name="adj" fmla="val 18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0439" y="1426464"/>
            <a:ext cx="5382615" cy="420624"/>
          </a:xfrm>
          <a:prstGeom prst="roundRect">
            <a:avLst>
              <a:gd name="adj" fmla="val 18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481328"/>
            <a:ext cx="501685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700" b="1" i="0">
                <a:solidFill>
                  <a:srgbClr val="FFFFFF"/>
                </a:solidFill>
                <a:latin typeface="微软雅黑"/>
              </a:rPr>
              <a:t>if-else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3319" y="1481328"/>
            <a:ext cx="501685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700" b="1" i="0">
                <a:solidFill>
                  <a:srgbClr val="FFFFFF"/>
                </a:solidFill>
                <a:latin typeface="微软雅黑"/>
              </a:rPr>
              <a:t>switch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1901952"/>
            <a:ext cx="5016855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· 判断范围：大于、小于、区间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3" y="1947672"/>
            <a:ext cx="68580" cy="139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3319" y="1901952"/>
            <a:ext cx="5016855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· 根据一个值多选一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15303" y="1947672"/>
            <a:ext cx="68580" cy="1397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2187956"/>
            <a:ext cx="5016855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· 判断多个条件的组合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3" y="2233676"/>
            <a:ext cx="68580" cy="139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3319" y="2187956"/>
            <a:ext cx="5016855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· 选项整齐排列，一目了然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15303" y="2233676"/>
            <a:ext cx="68580" cy="1397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473960"/>
            <a:ext cx="5016855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· 条件各式各样、彼此不同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3503" y="2519680"/>
            <a:ext cx="68580" cy="139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3319" y="2473960"/>
            <a:ext cx="5016855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· 选项超过 3 个时更清晰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15303" y="2519680"/>
            <a:ext cx="68580" cy="1397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2924556"/>
            <a:ext cx="11094415" cy="44958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" y="2961132"/>
            <a:ext cx="4883974" cy="3764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FFFFFF"/>
                </a:solidFill>
                <a:latin typeface="微软雅黑"/>
              </a:rPr>
              <a:t>场景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80086" y="2961132"/>
            <a:ext cx="5771528" cy="3764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FFFFFF"/>
                </a:solidFill>
                <a:latin typeface="微软雅黑"/>
              </a:rPr>
              <a:t>推荐用法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3374136"/>
            <a:ext cx="11094415" cy="4495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6656" y="3410712"/>
            <a:ext cx="4883974" cy="3764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1F2937"/>
                </a:solidFill>
                <a:latin typeface="微软雅黑"/>
              </a:rPr>
              <a:t>判断范围 / 条件组合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80086" y="3410712"/>
            <a:ext cx="5771528" cy="3764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用 if-else，灵活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823716"/>
            <a:ext cx="11094415" cy="449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6656" y="3860292"/>
            <a:ext cx="4883974" cy="3764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1F2937"/>
                </a:solidFill>
                <a:latin typeface="微软雅黑"/>
              </a:rPr>
              <a:t>一个变量多选一（菜单）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80086" y="3860292"/>
            <a:ext cx="5771528" cy="3764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用 switch，整齐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4273296"/>
            <a:ext cx="11094415" cy="4495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6656" y="4309872"/>
            <a:ext cx="4883974" cy="3764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1F2937"/>
                </a:solidFill>
                <a:latin typeface="微软雅黑"/>
              </a:rPr>
              <a:t>不知道要循环多少次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80086" y="4309872"/>
            <a:ext cx="5771528" cy="3764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用 while，条件驱动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4722876"/>
            <a:ext cx="11094415" cy="449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6656" y="4759452"/>
            <a:ext cx="4883974" cy="3764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1F2937"/>
                </a:solidFill>
                <a:latin typeface="微软雅黑"/>
              </a:rPr>
              <a:t>知道要循环多少次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80086" y="4759452"/>
            <a:ext cx="5771528" cy="3764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用 for，计数器驱动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5172456"/>
            <a:ext cx="11094415" cy="4495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6656" y="5209032"/>
            <a:ext cx="4883974" cy="3764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1F2937"/>
                </a:solidFill>
                <a:latin typeface="微软雅黑"/>
              </a:rPr>
              <a:t>循环条件要能被改变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80086" y="5209032"/>
            <a:ext cx="5771528" cy="3764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否则会死循环，务必检查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5823204"/>
            <a:ext cx="11094415" cy="2552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500" b="0" i="0">
                <a:solidFill>
                  <a:srgbClr val="1F2937"/>
                </a:solidFill>
                <a:latin typeface="微软雅黑"/>
              </a:rPr>
              <a:t>▸ 选哪个的标准只有一条：哪种写法让人更容易看懂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语法是工具，清晰才是目的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ATM 实战：本讲源码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src/atm_menu.c —— 三种结构在同一份代码里同台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第2讲 控制结构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722120"/>
            <a:ext cx="11094415" cy="3724656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1722120"/>
            <a:ext cx="11094415" cy="3657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776984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FDBA74"/>
                </a:solidFill>
                <a:latin typeface="微软雅黑"/>
              </a:rPr>
              <a:t>core 骨架（节选自 src/atm_menu.c，完整含注释）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186635"/>
            <a:ext cx="10765231" cy="21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DBA74"/>
                </a:solidFill>
                <a:latin typeface="Consolas"/>
              </a:rPr>
              <a:t>double balance = 1000.0;   int choice = 0;   int running = 1;   // 变量定义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403043"/>
            <a:ext cx="10765231" cy="21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6EDF7"/>
                </a:solidFill>
                <a:latin typeface="Consolas"/>
              </a:rPr>
              <a:t>printf("  欢迎使用 CCIT ATM 系统\n");        // ① 顺序结构：从上到下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2619451"/>
            <a:ext cx="10765231" cy="21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6EDF7"/>
                </a:solidFill>
                <a:latin typeface="Consolas"/>
              </a:rPr>
              <a:t>while (running)                              // ② 循环结构：反复显示菜单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2835859"/>
            <a:ext cx="10765231" cy="21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6EDF7"/>
                </a:solidFill>
                <a:latin typeface="Consolas"/>
              </a:rPr>
              <a:t>{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3052267"/>
            <a:ext cx="10765231" cy="21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6EDF7"/>
                </a:solidFill>
                <a:latin typeface="Consolas"/>
              </a:rPr>
              <a:t>    scanf("%d", &amp;choice);                    // 读取用户选择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3268675"/>
            <a:ext cx="10765231" cy="21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6EDF7"/>
                </a:solidFill>
                <a:latin typeface="Consolas"/>
              </a:rPr>
              <a:t>    switch (choice)                          // ③ 分支结构：按 choice 分流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3485083"/>
            <a:ext cx="10765231" cy="21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6EDF7"/>
                </a:solidFill>
                <a:latin typeface="Consolas"/>
              </a:rPr>
              <a:t>    {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3701491"/>
            <a:ext cx="10765231" cy="21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6EDF7"/>
                </a:solidFill>
                <a:latin typeface="Consolas"/>
              </a:rPr>
              <a:t>        case 1:  printf("余额为：%.2f 元\n", balance);  break;   // 查询余额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3917899"/>
            <a:ext cx="10765231" cy="21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6EDF7"/>
                </a:solidFill>
                <a:latin typeface="Consolas"/>
              </a:rPr>
              <a:t>        case 2:  /* 存款逻辑 */                          break;   // 存款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4134307"/>
            <a:ext cx="10765231" cy="21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6EDF7"/>
                </a:solidFill>
                <a:latin typeface="Consolas"/>
              </a:rPr>
              <a:t>        case 3:  /* 取款逻辑：里面还有 if-else */         break;   // 取款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4350715"/>
            <a:ext cx="10765231" cy="21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6EDF7"/>
                </a:solidFill>
                <a:latin typeface="Consolas"/>
              </a:rPr>
              <a:t>        case 0:  running = 0;                           break;   // 退出循环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4567123"/>
            <a:ext cx="10765231" cy="21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6EDF7"/>
                </a:solidFill>
                <a:latin typeface="Consolas"/>
              </a:rPr>
              <a:t>        default: break;                                          // 其它输入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4783531"/>
            <a:ext cx="10765231" cy="21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6EDF7"/>
                </a:solidFill>
                <a:latin typeface="Consolas"/>
              </a:rPr>
              <a:t>    }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999939"/>
            <a:ext cx="10765231" cy="21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6EDF7"/>
                </a:solidFill>
                <a:latin typeface="Consolas"/>
              </a:rPr>
              <a:t>}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一份 main，把顺序、分支、循环三种结构全用上了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运行演示：真实编译与运行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编译命令、菜单交互、退出码 —— 全部来自真实运行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第2讲 控制结构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785239"/>
            <a:ext cx="6101928" cy="3598417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1785239"/>
            <a:ext cx="6101928" cy="3657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840103"/>
            <a:ext cx="577274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FDBA74"/>
                </a:solidFill>
                <a:latin typeface="微软雅黑"/>
              </a:rPr>
              <a:t>终端实录（真实输出）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249754"/>
            <a:ext cx="5772744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$ gcc -Wall atm_menu.c -o atm_menu.exe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457145"/>
            <a:ext cx="5772744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$ ./atm_menu.exe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2664536"/>
            <a:ext cx="5772744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========================================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2871927"/>
            <a:ext cx="5772744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       欢迎使用 CCIT ATM 系统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3079318"/>
            <a:ext cx="5772744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========================================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3286709"/>
            <a:ext cx="5772744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-------- 主菜单 --------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3494100"/>
            <a:ext cx="5772744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  1. 查询余额    2. 存款    3. 取款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3701491"/>
            <a:ext cx="5772744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请输入您的选择：1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3908882"/>
            <a:ext cx="5772744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【查询余额】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4116273"/>
            <a:ext cx="5772744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您当前的账户余额为：1000.00 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4323664"/>
            <a:ext cx="5772744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请输入您的选择：0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4531055"/>
            <a:ext cx="5772744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感谢使用 CCIT ATM 系统，再见！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4738446"/>
            <a:ext cx="5772744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$ echo $?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945837"/>
            <a:ext cx="5772744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88312" y="1785239"/>
            <a:ext cx="4754742" cy="3108960"/>
          </a:xfrm>
          <a:prstGeom prst="roundRect">
            <a:avLst>
              <a:gd name="adj" fmla="val 6000"/>
            </a:avLst>
          </a:prstGeom>
          <a:solidFill>
            <a:srgbClr val="FF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888312" y="1785239"/>
            <a:ext cx="50292" cy="310896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71192" y="1968119"/>
            <a:ext cx="4334118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C2410C"/>
                </a:solidFill>
                <a:latin typeface="微软雅黑"/>
              </a:rPr>
              <a:t>👀 要看清楚的五个点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71192" y="2327020"/>
            <a:ext cx="4334118" cy="11315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50" b="0" i="0">
                <a:solidFill>
                  <a:srgbClr val="1F2937"/>
                </a:solidFill>
                <a:latin typeface="微软雅黑"/>
              </a:rPr>
              <a:t>① 编译期：gcc -Wall 检查语法，有错就停在这步</a:t>
            </a:r>
          </a:p>
          <a:p>
            <a:pPr algn="l">
              <a:lnSpc>
                <a:spcPct val="132000"/>
              </a:lnSpc>
            </a:pPr>
            <a:r>
              <a:rPr sz="1350" b="0" i="0">
                <a:solidFill>
                  <a:srgbClr val="1F2937"/>
                </a:solidFill>
                <a:latin typeface="微软雅黑"/>
              </a:rPr>
              <a:t>② 运行期：菜单反复出现 —— 循环在起作用</a:t>
            </a:r>
          </a:p>
          <a:p>
            <a:pPr algn="l">
              <a:lnSpc>
                <a:spcPct val="132000"/>
              </a:lnSpc>
            </a:pPr>
            <a:r>
              <a:rPr sz="1350" b="0" i="0">
                <a:solidFill>
                  <a:srgbClr val="1F2937"/>
                </a:solidFill>
                <a:latin typeface="微软雅黑"/>
              </a:rPr>
              <a:t>③ 输入 1：只走查询那条路 —— 分支在起作用</a:t>
            </a:r>
          </a:p>
          <a:p>
            <a:pPr algn="l">
              <a:lnSpc>
                <a:spcPct val="132000"/>
              </a:lnSpc>
            </a:pPr>
            <a:r>
              <a:rPr sz="1350" b="0" i="0">
                <a:solidFill>
                  <a:srgbClr val="1F2937"/>
                </a:solidFill>
                <a:latin typeface="微软雅黑"/>
              </a:rPr>
              <a:t>④ 输入 0：running 置 0，循环结束</a:t>
            </a:r>
          </a:p>
          <a:p>
            <a:pPr algn="l">
              <a:lnSpc>
                <a:spcPct val="132000"/>
              </a:lnSpc>
            </a:pPr>
            <a:r>
              <a:rPr sz="1350" b="0" i="0">
                <a:solidFill>
                  <a:srgbClr val="1F2937"/>
                </a:solidFill>
                <a:latin typeface="微软雅黑"/>
              </a:rPr>
              <a:t>⑤ 退出码 0：程序正常结束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621401"/>
            <a:ext cx="11094415" cy="2552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500" b="0" i="0">
                <a:solidFill>
                  <a:srgbClr val="1F2937"/>
                </a:solidFill>
                <a:latin typeface="微软雅黑"/>
              </a:rPr>
              <a:t>▸ 片尾会放一段真实的编译 + 运行演示动画：命令怎么敲、菜单怎么转、退出码怎么读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看得见的运行结果，是最好的老师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本讲在主线上的位置 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控制结构，是"函数体的骨架"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第2讲 控制结构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26464"/>
            <a:ext cx="11094415" cy="1244346"/>
          </a:xfrm>
          <a:prstGeom prst="roundRect">
            <a:avLst>
              <a:gd name="adj" fmla="val 6000"/>
            </a:avLst>
          </a:prstGeom>
          <a:solidFill>
            <a:srgbClr val="FF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426464"/>
            <a:ext cx="50292" cy="1244346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609344"/>
            <a:ext cx="1067379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C2410C"/>
                </a:solidFill>
                <a:latin typeface="微软雅黑"/>
              </a:rPr>
              <a:t>🧭 一条主线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968245"/>
            <a:ext cx="10673791" cy="5196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50" b="0" i="0">
                <a:solidFill>
                  <a:srgbClr val="1F2937"/>
                </a:solidFill>
                <a:latin typeface="微软雅黑"/>
              </a:rPr>
              <a:t>六级台阶：表达式 → 函数 → 模块 → 库 → 插件 → 框架。</a:t>
            </a:r>
          </a:p>
          <a:p>
            <a:pPr algn="l">
              <a:lnSpc>
                <a:spcPct val="132000"/>
              </a:lnSpc>
            </a:pPr>
            <a:r>
              <a:rPr sz="1550" b="0" i="0">
                <a:solidFill>
                  <a:srgbClr val="1F2937"/>
                </a:solidFill>
                <a:latin typeface="微软雅黑"/>
              </a:rPr>
              <a:t>本讲落在"函数"这一级的前面 —— 函数体里写的，正是顺序、分支、循环这些控制结构。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871978"/>
            <a:ext cx="1589989" cy="960120"/>
          </a:xfrm>
          <a:prstGeom prst="roundRect">
            <a:avLst>
              <a:gd name="adj" fmla="val 12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143377"/>
            <a:ext cx="1407109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微软雅黑"/>
              </a:rPr>
              <a:t>① 表达式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438779"/>
            <a:ext cx="1407109" cy="195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200" b="0" i="0">
                <a:solidFill>
                  <a:srgbClr val="FFFFFF"/>
                </a:solidFill>
                <a:latin typeface="微软雅黑"/>
              </a:rPr>
              <a:t>第1讲 ✅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2166061" y="3233166"/>
            <a:ext cx="256032" cy="237744"/>
          </a:xfrm>
          <a:prstGeom prst="rightArrow">
            <a:avLst/>
          </a:prstGeom>
          <a:solidFill>
            <a:srgbClr val="7C8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449525" y="2871978"/>
            <a:ext cx="1589989" cy="960120"/>
          </a:xfrm>
          <a:prstGeom prst="roundRect">
            <a:avLst>
              <a:gd name="adj" fmla="val 12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40965" y="3143377"/>
            <a:ext cx="1407109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微软雅黑"/>
              </a:rPr>
              <a:t>② 函数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40965" y="3438779"/>
            <a:ext cx="1407109" cy="195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200" b="0" i="0">
                <a:solidFill>
                  <a:srgbClr val="FFFFFF"/>
                </a:solidFill>
                <a:latin typeface="微软雅黑"/>
              </a:rPr>
              <a:t>本讲为它铺路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4066946" y="3233166"/>
            <a:ext cx="256032" cy="237744"/>
          </a:xfrm>
          <a:prstGeom prst="rightArrow">
            <a:avLst/>
          </a:prstGeom>
          <a:solidFill>
            <a:srgbClr val="7C8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350410" y="2871978"/>
            <a:ext cx="1589989" cy="96012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41850" y="3143377"/>
            <a:ext cx="1407109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微软雅黑"/>
              </a:rPr>
              <a:t>③ 模块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41850" y="3438779"/>
            <a:ext cx="1407109" cy="195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200" b="0" i="0">
                <a:solidFill>
                  <a:srgbClr val="FFFFFF"/>
                </a:solidFill>
                <a:latin typeface="微软雅黑"/>
              </a:rPr>
              <a:t>第4讲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5967831" y="3233166"/>
            <a:ext cx="256032" cy="237744"/>
          </a:xfrm>
          <a:prstGeom prst="rightArrow">
            <a:avLst/>
          </a:prstGeom>
          <a:solidFill>
            <a:srgbClr val="7C8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51295" y="2871978"/>
            <a:ext cx="1589989" cy="96012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2735" y="3143377"/>
            <a:ext cx="1407109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微软雅黑"/>
              </a:rPr>
              <a:t>④ 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2735" y="3438779"/>
            <a:ext cx="1407109" cy="195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200" b="0" i="0">
                <a:solidFill>
                  <a:srgbClr val="FFFFFF"/>
                </a:solidFill>
                <a:latin typeface="微软雅黑"/>
              </a:rPr>
              <a:t>第9-10讲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7868716" y="3233166"/>
            <a:ext cx="256032" cy="237744"/>
          </a:xfrm>
          <a:prstGeom prst="rightArrow">
            <a:avLst/>
          </a:prstGeom>
          <a:solidFill>
            <a:srgbClr val="7C8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152180" y="2871978"/>
            <a:ext cx="1589989" cy="96012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43620" y="3143377"/>
            <a:ext cx="1407109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微软雅黑"/>
              </a:rPr>
              <a:t>⑤ 插件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3620" y="3438779"/>
            <a:ext cx="1407109" cy="195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200" b="0" i="0">
                <a:solidFill>
                  <a:srgbClr val="FFFFFF"/>
                </a:solidFill>
                <a:latin typeface="微软雅黑"/>
              </a:rPr>
              <a:t>第11-12讲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9769602" y="3233166"/>
            <a:ext cx="256032" cy="237744"/>
          </a:xfrm>
          <a:prstGeom prst="rightArrow">
            <a:avLst/>
          </a:prstGeom>
          <a:solidFill>
            <a:srgbClr val="7C8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0053066" y="2871978"/>
            <a:ext cx="1589989" cy="96012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144506" y="3143377"/>
            <a:ext cx="1407109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微软雅黑"/>
              </a:rPr>
              <a:t>⑥ 框架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44506" y="3438779"/>
            <a:ext cx="1407109" cy="195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200" b="0" i="0">
                <a:solidFill>
                  <a:srgbClr val="FFFFFF"/>
                </a:solidFill>
                <a:latin typeface="微软雅黑"/>
              </a:rPr>
              <a:t>第13-14讲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4051554"/>
            <a:ext cx="5419191" cy="1194053"/>
          </a:xfrm>
          <a:prstGeom prst="roundRect">
            <a:avLst>
              <a:gd name="adj" fmla="val 6000"/>
            </a:avLst>
          </a:prstGeom>
          <a:solidFill>
            <a:srgbClr val="E4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" y="4051554"/>
            <a:ext cx="50292" cy="1194053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4234434"/>
            <a:ext cx="4998567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0F766E"/>
                </a:solidFill>
                <a:latin typeface="微软雅黑"/>
              </a:rPr>
              <a:t>本讲贡献了什么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4593336"/>
            <a:ext cx="4998567" cy="4693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让程序会判断、会循环</a:t>
            </a:r>
          </a:p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有了骨架，逻辑才装得进函数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23863" y="4051554"/>
            <a:ext cx="5419191" cy="1194053"/>
          </a:xfrm>
          <a:prstGeom prst="roundRect">
            <a:avLst>
              <a:gd name="adj" fmla="val 6000"/>
            </a:avLst>
          </a:prstGeom>
          <a:solidFill>
            <a:srgbClr val="E8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23863" y="4051554"/>
            <a:ext cx="50292" cy="1194053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6743" y="4234434"/>
            <a:ext cx="4998567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1D4ED8"/>
                </a:solidFill>
                <a:latin typeface="微软雅黑"/>
              </a:rPr>
              <a:t>下一讲接着做什么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6743" y="4593336"/>
            <a:ext cx="4998567" cy="4693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第3讲把今天这三段逻辑封成</a:t>
            </a:r>
          </a:p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独立的函数，重复的代码就能只写一遍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本讲让程序会判断、会循环，为第3讲把逻辑封成函数做准备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思考题 ①②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先自己想，再看下一页的参考解答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第2讲 控制结构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86534"/>
            <a:ext cx="11094415" cy="1479042"/>
          </a:xfrm>
          <a:prstGeom prst="roundRect">
            <a:avLst>
              <a:gd name="adj" fmla="val 6000"/>
            </a:avLst>
          </a:prstGeom>
          <a:solidFill>
            <a:srgbClr val="FF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986534"/>
            <a:ext cx="50292" cy="147904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169414"/>
            <a:ext cx="1067379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C2410C"/>
                </a:solidFill>
                <a:latin typeface="微软雅黑"/>
              </a:rPr>
              <a:t>思考题 ①：为什么三种结构"够用"？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528315"/>
            <a:ext cx="10673791" cy="7543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F2937"/>
                </a:solidFill>
                <a:latin typeface="微软雅黑"/>
              </a:rPr>
              <a:t>我们已经学了顺序、分支、循环三种结构。ATM 程序里，它们并不是各管一段，而是层层套在一起：</a:t>
            </a:r>
          </a:p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F2937"/>
                </a:solidFill>
                <a:latin typeface="微软雅黑"/>
              </a:rPr>
              <a:t>最外层是 while，里面是 switch，switch 的某个 case 里又藏着 if-else。</a:t>
            </a:r>
          </a:p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F2937"/>
                </a:solidFill>
                <a:latin typeface="微软雅黑"/>
              </a:rPr>
              <a:t>想一想：为什么"只用三种结构"就能拼出任意复杂的程序？这种嵌套，到底解决了一个什么问题？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03320"/>
            <a:ext cx="11094415" cy="1479042"/>
          </a:xfrm>
          <a:prstGeom prst="roundRect">
            <a:avLst>
              <a:gd name="adj" fmla="val 6000"/>
            </a:avLst>
          </a:prstGeom>
          <a:solidFill>
            <a:srgbClr val="F1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703320"/>
            <a:ext cx="50292" cy="147904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886200"/>
            <a:ext cx="1067379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6D28D9"/>
                </a:solidFill>
                <a:latin typeface="微软雅黑"/>
              </a:rPr>
              <a:t>思考题 ②：case 穿透，是 bug 还是特性？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245102"/>
            <a:ext cx="10673791" cy="7543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F2937"/>
                </a:solidFill>
                <a:latin typeface="微软雅黑"/>
              </a:rPr>
              <a:t>在 switch 里，如果某个 case 忘写 break，程序会从匹配处一直往下执行，直到遇到 break —— 这叫"case 穿透"。</a:t>
            </a:r>
          </a:p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F2937"/>
                </a:solidFill>
                <a:latin typeface="微软雅黑"/>
              </a:rPr>
              <a:t>有人说它是设计缺陷，有人说它能被巧妙利用。</a:t>
            </a:r>
          </a:p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F2937"/>
                </a:solidFill>
                <a:latin typeface="微软雅黑"/>
              </a:rPr>
              <a:t>提示：想想多个 case 能不能共用同一段代码；再想想，忘了写 break 时，这个 bug 好不好查？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带着问题翻页，比直接看答案收获大得多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思考题 ①② 参考解答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看看你的思路和参考答案差在哪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第2讲 控制结构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568321"/>
            <a:ext cx="5428335" cy="2032254"/>
          </a:xfrm>
          <a:prstGeom prst="roundRect">
            <a:avLst>
              <a:gd name="adj" fmla="val 6000"/>
            </a:avLst>
          </a:prstGeom>
          <a:solidFill>
            <a:srgbClr val="FF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568321"/>
            <a:ext cx="50292" cy="2032254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751201"/>
            <a:ext cx="500771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C2410C"/>
                </a:solidFill>
                <a:latin typeface="微软雅黑"/>
              </a:rPr>
              <a:t>解答 ①：结构少，但可以嵌套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110102"/>
            <a:ext cx="5007711" cy="1307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顺序、分支、循环是三种"原子"，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嵌套就是"原子套原子"，组合无限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ATM：while 里 switch，switch 里 if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这是 Böhm-Jacopini 定理的结论：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三种结构足以表达一切计算逻辑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把它们拆开，任何程序都不会更复杂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4719" y="2568321"/>
            <a:ext cx="5428335" cy="2032254"/>
          </a:xfrm>
          <a:prstGeom prst="roundRect">
            <a:avLst>
              <a:gd name="adj" fmla="val 6000"/>
            </a:avLst>
          </a:prstGeom>
          <a:solidFill>
            <a:srgbClr val="F1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4719" y="2568321"/>
            <a:ext cx="50292" cy="203225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7599" y="2751201"/>
            <a:ext cx="500771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6D28D9"/>
                </a:solidFill>
                <a:latin typeface="微软雅黑"/>
              </a:rPr>
              <a:t>解答 ②：弊大于利的"历史特性"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97599" y="3110102"/>
            <a:ext cx="5007711" cy="1307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能用：多个 case 共用一段代码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（case 1: case 2: 同一句 break;）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是坑：99% 是忘了写 break，很难查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Java / C# / Go 都已禁止隐式穿透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结论：除非明确要用穿透，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否则每个 case 后面都要加 break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简单规则 + 层层嵌套 = 复杂而清晰的程序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思考题 ③④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两题进阶：从循环的边界，接到结构化思想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第2讲 控制结构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86534"/>
            <a:ext cx="11094415" cy="1479042"/>
          </a:xfrm>
          <a:prstGeom prst="roundRect">
            <a:avLst>
              <a:gd name="adj" fmla="val 6000"/>
            </a:avLst>
          </a:prstGeom>
          <a:solidFill>
            <a:srgbClr val="E4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986534"/>
            <a:ext cx="50292" cy="147904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169414"/>
            <a:ext cx="1067379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0F766E"/>
                </a:solidFill>
                <a:latin typeface="微软雅黑"/>
              </a:rPr>
              <a:t>思考题 ③：循环靠什么结束？死循环怎么来的？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528315"/>
            <a:ext cx="10673791" cy="7543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F2937"/>
                </a:solidFill>
                <a:latin typeface="微软雅黑"/>
              </a:rPr>
              <a:t>循环能不能停下来，全看循环条件会不会从"真"变成"假"。ATM 里是用户选了退出，把 running 设成 0。</a:t>
            </a:r>
          </a:p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F2937"/>
                </a:solidFill>
                <a:latin typeface="微软雅黑"/>
              </a:rPr>
              <a:t>如果条件永远为真，程序就会一直转下去 —— 这就是"死循环"。</a:t>
            </a:r>
          </a:p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F2937"/>
                </a:solidFill>
                <a:latin typeface="微软雅黑"/>
              </a:rPr>
              <a:t>提示：想一想 while (1) 什么时候不算 bug？循环变量忘了更新会怎样？怎么快速判断一个循环会不会停？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03320"/>
            <a:ext cx="11094415" cy="1479042"/>
          </a:xfrm>
          <a:prstGeom prst="roundRect">
            <a:avLst>
              <a:gd name="adj" fmla="val 6000"/>
            </a:avLst>
          </a:prstGeom>
          <a:solidFill>
            <a:srgbClr val="E8F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703320"/>
            <a:ext cx="50292" cy="147904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886200"/>
            <a:ext cx="1067379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15803D"/>
                </a:solidFill>
                <a:latin typeface="微软雅黑"/>
              </a:rPr>
              <a:t>思考题 ④：结构化程序设计，是谁提出来的？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245102"/>
            <a:ext cx="10673791" cy="7543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F2937"/>
                </a:solidFill>
                <a:latin typeface="微软雅黑"/>
              </a:rPr>
              <a:t>我们常说"顺序、分支、循环是程序的三种基本结构"，这句话其实来自一个数学结论，而不是经验总结。</a:t>
            </a:r>
          </a:p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F2937"/>
                </a:solidFill>
                <a:latin typeface="微软雅黑"/>
              </a:rPr>
              <a:t>它是谁、在哪一年证明的？为什么当年的 goto 语句会引起那么大的争论？</a:t>
            </a:r>
          </a:p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F2937"/>
                </a:solidFill>
                <a:latin typeface="微软雅黑"/>
              </a:rPr>
              <a:t>提示：这个思想，和我们后面要学的函数、模块、分层架构，是不是一脉相承？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这两题想通了，第3讲函数封装就提前入门了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思考题 ③④ 参考解答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把今天的"循环"和"结构化"，接到后面的函数与架构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第2讲 控制结构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568321"/>
            <a:ext cx="5428335" cy="2032254"/>
          </a:xfrm>
          <a:prstGeom prst="roundRect">
            <a:avLst>
              <a:gd name="adj" fmla="val 6000"/>
            </a:avLst>
          </a:prstGeom>
          <a:solidFill>
            <a:srgbClr val="E4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568321"/>
            <a:ext cx="50292" cy="203225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751201"/>
            <a:ext cx="500771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0F766E"/>
                </a:solidFill>
                <a:latin typeface="微软雅黑"/>
              </a:rPr>
              <a:t>解答 ③：条件是唯一的刹车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110102"/>
            <a:ext cx="5007711" cy="1307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while / for 都要"条件最终变假"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for：忘写 i++，i 永远小于上限 → 死循环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while：忘改循环变量 → 条件永远为真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排查法：盯住"条件里的变量"在哪里被改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while (1) 不算 bug：当循环里一定有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break / return 或退出条件时，它是惯用法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4719" y="2568321"/>
            <a:ext cx="5428335" cy="2032254"/>
          </a:xfrm>
          <a:prstGeom prst="roundRect">
            <a:avLst>
              <a:gd name="adj" fmla="val 6000"/>
            </a:avLst>
          </a:prstGeom>
          <a:solidFill>
            <a:srgbClr val="E8F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4719" y="2568321"/>
            <a:ext cx="50292" cy="203225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7599" y="2751201"/>
            <a:ext cx="500771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15803D"/>
                </a:solidFill>
                <a:latin typeface="微软雅黑"/>
              </a:rPr>
              <a:t>解答 ④：一次数学证明，一场范式革命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97599" y="3110102"/>
            <a:ext cx="5007711" cy="1307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Böhm 与 Jacopini，1966 年证明：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任何程序都可用顺序、分支、循环表达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1968 年 Dijkstra 发表《goto 有害论》，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推动"结构化程序设计"普及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与架构的关系：本质是"执行路径要清晰"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函数、模块、分层，都是更高层的结构化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越往上层走，越是在"结构化"——只是结构越来越大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小结与预告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第2讲 控制结构 —— 让程序会判断、会循环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第2讲 控制结构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26464"/>
            <a:ext cx="11094415" cy="976121"/>
          </a:xfrm>
          <a:prstGeom prst="roundRect">
            <a:avLst>
              <a:gd name="adj" fmla="val 6000"/>
            </a:avLst>
          </a:prstGeom>
          <a:solidFill>
            <a:srgbClr val="FF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426464"/>
            <a:ext cx="50292" cy="976121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609344"/>
            <a:ext cx="1067379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C2410C"/>
                </a:solidFill>
                <a:latin typeface="微软雅黑"/>
              </a:rPr>
              <a:t>📝 一句话总结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968245"/>
            <a:ext cx="10673791" cy="2514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F2937"/>
                </a:solidFill>
                <a:latin typeface="微软雅黑"/>
              </a:rPr>
              <a:t>顺序让代码跑起来，分支让代码有选择，循环让代码有力量；三种结构层层嵌套，就能搭出任何程序。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622041"/>
            <a:ext cx="11094415" cy="43053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" y="2658618"/>
            <a:ext cx="446208" cy="3573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FFFFFF"/>
                </a:solidFill>
                <a:latin typeface="微软雅黑"/>
              </a:rPr>
              <a:t>#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2320" y="2658618"/>
            <a:ext cx="1999427" cy="3573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FFFFFF"/>
                </a:solidFill>
                <a:latin typeface="微软雅黑"/>
              </a:rPr>
              <a:t>知识点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1203" y="2658618"/>
            <a:ext cx="7990411" cy="3573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FFFFFF"/>
                </a:solidFill>
                <a:latin typeface="微软雅黑"/>
              </a:rPr>
              <a:t>关键句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052571"/>
            <a:ext cx="11094415" cy="43053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3089147"/>
            <a:ext cx="446208" cy="3573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F2937"/>
                </a:solidFill>
                <a:latin typeface="微软雅黑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42320" y="3089147"/>
            <a:ext cx="1999427" cy="3573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顺序结构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1203" y="3089147"/>
            <a:ext cx="7990411" cy="3573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从上到下，一行一行执行，不需要关键字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3483101"/>
            <a:ext cx="11094415" cy="4305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6656" y="3519677"/>
            <a:ext cx="446208" cy="3573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F2937"/>
                </a:solidFill>
                <a:latin typeface="微软雅黑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42320" y="3519677"/>
            <a:ext cx="1999427" cy="3573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if-else 分支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1203" y="3519677"/>
            <a:ext cx="7990411" cy="3573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灵活的条件判断，适合范围与条件组合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3913631"/>
            <a:ext cx="11094415" cy="43053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" y="3950207"/>
            <a:ext cx="446208" cy="3573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F2937"/>
                </a:solidFill>
                <a:latin typeface="微软雅黑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42320" y="3950207"/>
            <a:ext cx="1999427" cy="3573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switch 分支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1203" y="3950207"/>
            <a:ext cx="7990411" cy="3573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简洁的多选一，每个 case 后面记得加 break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344161"/>
            <a:ext cx="11094415" cy="4305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4380737"/>
            <a:ext cx="446208" cy="3573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F2937"/>
                </a:solidFill>
                <a:latin typeface="微软雅黑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42320" y="4380737"/>
            <a:ext cx="1999427" cy="3573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while 循环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1203" y="4380737"/>
            <a:ext cx="7990411" cy="3573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不知道次数时用，条件驱动，注意别死循环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774691"/>
            <a:ext cx="11094415" cy="43053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6656" y="4811267"/>
            <a:ext cx="446208" cy="3573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F2937"/>
                </a:solidFill>
                <a:latin typeface="微软雅黑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42320" y="4811267"/>
            <a:ext cx="1999427" cy="3573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for 循环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1203" y="4811267"/>
            <a:ext cx="7990411" cy="3573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知道次数时用，计数器驱动，注意更新变量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205221"/>
            <a:ext cx="11094415" cy="4305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6656" y="5241797"/>
            <a:ext cx="446208" cy="3573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F2937"/>
                </a:solidFill>
                <a:latin typeface="微软雅黑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42320" y="5241797"/>
            <a:ext cx="1999427" cy="3573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嵌套与结构化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1203" y="5241797"/>
            <a:ext cx="7990411" cy="3573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三种结构嵌套组合，可表达一切程序（Böhm-Jacopini）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下一讲：函数封装 —— 让代码有名字、能复用（第3讲）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