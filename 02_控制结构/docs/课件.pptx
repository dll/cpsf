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ounded Rectangle 6"/>
          <p:cNvSpPr/>
          <p:nvPr/>
        </p:nvSpPr>
        <p:spPr>
          <a:xfrm>
            <a:off x="1463040" y="1463040"/>
            <a:ext cx="9418320" cy="4114800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4572000"/>
            <a:ext cx="2286000" cy="22860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9418320" cy="4114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11680" y="2011680"/>
            <a:ext cx="1828800" cy="2286000"/>
          </a:xfrm>
          <a:prstGeom prst="roundRect">
            <a:avLst>
              <a:gd name="adj" fmla="val 8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40280" y="2194560"/>
            <a:ext cx="1371600" cy="8001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54580" y="2308860"/>
            <a:ext cx="914400" cy="68580"/>
          </a:xfrm>
          <a:prstGeom prst="rect">
            <a:avLst/>
          </a:prstGeom>
          <a:solidFill>
            <a:srgbClr val="6BCB77"/>
          </a:solidFill>
          <a:ln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54580" y="2491740"/>
            <a:ext cx="914400" cy="68580"/>
          </a:xfrm>
          <a:prstGeom prst="rect">
            <a:avLst/>
          </a:prstGeom>
          <a:solidFill>
            <a:srgbClr val="6BCB77"/>
          </a:solidFill>
          <a:ln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54580" y="2674620"/>
            <a:ext cx="914400" cy="68580"/>
          </a:xfrm>
          <a:prstGeom prst="rect">
            <a:avLst/>
          </a:prstGeom>
          <a:solidFill>
            <a:srgbClr val="6BCB77"/>
          </a:solidFill>
          <a:ln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0" y="315468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43200" y="315468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00400" y="315468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86000" y="342900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43200" y="342900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00400" y="342900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86000" y="370332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743200" y="370332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00400" y="370332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68880" y="4023360"/>
            <a:ext cx="914400" cy="11430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10312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5200" b="1">
                <a:solidFill>
                  <a:srgbClr val="2C3E50"/>
                </a:solidFill>
                <a:latin typeface="微软雅黑"/>
              </a:rPr>
              <a:t>第2讲：控制结构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017520"/>
            <a:ext cx="5486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FF8C42"/>
                </a:solidFill>
                <a:latin typeface="微软雅黑"/>
              </a:rPr>
              <a:t>ATM菜单背后的秘密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749039"/>
            <a:ext cx="1371600" cy="54864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393192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7F8C8D"/>
                </a:solidFill>
                <a:latin typeface="微软雅黑"/>
              </a:rPr>
              <a:t>《从程序员到架构师》· C语言插件框架演进之旅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389120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FF6B6B"/>
                </a:solidFill>
                <a:latin typeface="微软雅黑"/>
              </a:rPr>
              <a:t>顺序 · 分支 · 循环 —— 三种结构构建交互程序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937760"/>
            <a:ext cx="21031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微软雅黑"/>
              </a:rPr>
              <a:t>02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🗺️ 知识图谱 · 第2讲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本讲在整个知识体系中的位置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第2讲 控制结构</a:t>
            </a:r>
          </a:p>
        </p:txBody>
      </p:sp>
      <p:sp>
        <p:nvSpPr>
          <p:cNvPr id="9" name="Oval 8"/>
          <p:cNvSpPr/>
          <p:nvPr/>
        </p:nvSpPr>
        <p:spPr>
          <a:xfrm>
            <a:off x="3931920" y="2468880"/>
            <a:ext cx="2743200" cy="27432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97680" y="2834640"/>
            <a:ext cx="2011680" cy="201168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0" y="2880360"/>
            <a:ext cx="2377440" cy="1005840"/>
          </a:xfrm>
          <a:prstGeom prst="roundRect">
            <a:avLst>
              <a:gd name="adj" fmla="val 30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97180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微软雅黑"/>
              </a:rPr>
              <a:t>🔀 控制结构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74720"/>
            <a:ext cx="2377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（第2讲 核心）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1188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37360" y="1325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1280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表达式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1645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第1讲 · 基础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74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变量与数据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31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数据的容器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188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325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1280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函数封装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1645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→ 第3讲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347472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361188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56616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多文件编程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93192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→ 第4讲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5486400"/>
            <a:ext cx="219456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5623560"/>
            <a:ext cx="5486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0">
                <a:solidFill>
                  <a:srgbClr val="2C3E50"/>
                </a:solidFill>
                <a:latin typeface="微软雅黑"/>
              </a:rPr>
              <a:t>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557784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微软雅黑"/>
              </a:rPr>
              <a:t>ATM菜单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943600"/>
            <a:ext cx="1463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7F8C8D"/>
                </a:solidFill>
                <a:latin typeface="微软雅黑"/>
              </a:rPr>
              <a:t>本讲实战案例</a:t>
            </a:r>
          </a:p>
        </p:txBody>
      </p:sp>
      <p:cxnSp>
        <p:nvCxnSpPr>
          <p:cNvPr id="34" name="Connector 33"/>
          <p:cNvCxnSpPr/>
          <p:nvPr/>
        </p:nvCxnSpPr>
        <p:spPr>
          <a:xfrm flipH="1" flipV="1">
            <a:off x="2743200" y="1645920"/>
            <a:ext cx="2103120" cy="17373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1828800" y="3566160"/>
            <a:ext cx="3017520" cy="3657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760720" y="1645920"/>
            <a:ext cx="3200400" cy="17373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760720" y="3566160"/>
            <a:ext cx="3200400" cy="36576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303520" y="3840480"/>
            <a:ext cx="640080" cy="2103120"/>
          </a:xfrm>
          <a:prstGeom prst="line">
            <a:avLst/>
          </a:prstGeom>
          <a:ln w="19050">
            <a:solidFill>
              <a:srgbClr val="7F8C8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371600" y="5943600"/>
            <a:ext cx="9418320" cy="54864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6016752"/>
            <a:ext cx="9418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2C3E50"/>
                </a:solidFill>
                <a:latin typeface="微软雅黑"/>
              </a:rPr>
              <a:t>💡 控制结构是程序的骨架——顺序、分支、循环，三种结构组合出所有复杂逻辑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🚗 什么是控制结构？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想象你在开车...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第2讲 控制结构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47472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474720" cy="64008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直行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43200"/>
            <a:ext cx="3474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2C3E50"/>
                </a:solidFill>
                <a:latin typeface="微软雅黑"/>
              </a:rPr>
              <a:t>⬆️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微软雅黑"/>
              </a:rPr>
              <a:t>顺序结构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80560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一直往前开
代码从上到下一行一行执行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828800"/>
            <a:ext cx="347472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828800"/>
            <a:ext cx="3474720" cy="64008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92024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岔路口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743200"/>
            <a:ext cx="3474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2C3E50"/>
                </a:solidFill>
                <a:latin typeface="微软雅黑"/>
              </a:rPr>
              <a:t>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93192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微软雅黑"/>
              </a:rPr>
              <a:t>分支结构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480560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选左边还是右边
根据条件走不同的代码路径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828800"/>
            <a:ext cx="3474720" cy="3657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828800"/>
            <a:ext cx="3474720" cy="64008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92024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绕圈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743200"/>
            <a:ext cx="3474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600" b="0">
                <a:solidFill>
                  <a:srgbClr val="2C3E50"/>
                </a:solidFill>
                <a:latin typeface="微软雅黑"/>
              </a:rP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931920"/>
            <a:ext cx="3474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C3E50"/>
                </a:solidFill>
                <a:latin typeface="微软雅黑"/>
              </a:rPr>
              <a:t>循环结构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4480560"/>
            <a:ext cx="29260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围着广场转三圈
重复执行同一段代码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5852160"/>
            <a:ext cx="9418320" cy="64008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🏆 金句：无论多么复杂的程序，拆到底都是这三种结构的组合！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⬆️ 顺序结构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最简单也最基本——从上到下，一行一行走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第2讲 控制结构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2286000" cy="320040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3726180"/>
            <a:ext cx="182880" cy="32004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03020" y="3726180"/>
            <a:ext cx="182880" cy="32004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920" y="3726180"/>
            <a:ext cx="182880" cy="32004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88819" y="3726180"/>
            <a:ext cx="182880" cy="32004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3726180"/>
            <a:ext cx="182880" cy="32004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74620" y="3726180"/>
            <a:ext cx="182880" cy="32004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182880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2C3E50"/>
                </a:solidFill>
                <a:latin typeface="微软雅黑"/>
              </a:rPr>
              <a:t>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83464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2C3E50"/>
                </a:solidFill>
                <a:latin typeface="微软雅黑"/>
              </a:rPr>
              <a:t>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40480"/>
            <a:ext cx="914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2C3E50"/>
                </a:solidFill>
                <a:latin typeface="微软雅黑"/>
              </a:rPr>
              <a:t>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  <a:latin typeface="微软雅黑"/>
              </a:rPr>
              <a:t>一步一步向前走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1828800"/>
            <a:ext cx="7772400" cy="384048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0" y="1828800"/>
            <a:ext cx="7772400" cy="36576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0480" y="1901952"/>
            <a:ext cx="182880" cy="1828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60520" y="1901952"/>
            <a:ext cx="182880" cy="18288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80559" y="1901952"/>
            <a:ext cx="182880" cy="182880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185623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atm_menu.c</a:t>
            </a:r>
          </a:p>
        </p:txBody>
      </p:sp>
      <p:sp>
        <p:nvSpPr>
          <p:cNvPr id="26" name="Oval 25"/>
          <p:cNvSpPr/>
          <p:nvPr/>
        </p:nvSpPr>
        <p:spPr>
          <a:xfrm>
            <a:off x="3931920" y="2423160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2450592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377440"/>
            <a:ext cx="6400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BCB77"/>
                </a:solidFill>
                <a:latin typeface="微软雅黑"/>
              </a:rPr>
              <a:t>printf("==== 欢迎使用 ATM ====\n");</a:t>
            </a:r>
          </a:p>
        </p:txBody>
      </p:sp>
      <p:sp>
        <p:nvSpPr>
          <p:cNvPr id="29" name="Oval 28"/>
          <p:cNvSpPr/>
          <p:nvPr/>
        </p:nvSpPr>
        <p:spPr>
          <a:xfrm>
            <a:off x="3931920" y="2926080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31920" y="2953512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</a:rPr>
              <a:t>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2880360"/>
            <a:ext cx="6400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BCB77"/>
                </a:solidFill>
                <a:latin typeface="微软雅黑"/>
              </a:rPr>
              <a:t>printf("  1. 查询余额\n");</a:t>
            </a:r>
          </a:p>
        </p:txBody>
      </p:sp>
      <p:sp>
        <p:nvSpPr>
          <p:cNvPr id="32" name="Oval 31"/>
          <p:cNvSpPr/>
          <p:nvPr/>
        </p:nvSpPr>
        <p:spPr>
          <a:xfrm>
            <a:off x="3931920" y="3429000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0" y="3456432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</a:rPr>
              <a:t>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383280"/>
            <a:ext cx="6400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BCB77"/>
                </a:solidFill>
                <a:latin typeface="微软雅黑"/>
              </a:rPr>
              <a:t>printf("  2. 存款\n");</a:t>
            </a:r>
          </a:p>
        </p:txBody>
      </p:sp>
      <p:sp>
        <p:nvSpPr>
          <p:cNvPr id="35" name="Oval 34"/>
          <p:cNvSpPr/>
          <p:nvPr/>
        </p:nvSpPr>
        <p:spPr>
          <a:xfrm>
            <a:off x="3931920" y="3931920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31920" y="3959352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</a:rPr>
              <a:t>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3886200"/>
            <a:ext cx="6400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BCB77"/>
                </a:solidFill>
                <a:latin typeface="微软雅黑"/>
              </a:rPr>
              <a:t>printf("  3. 取款\n");</a:t>
            </a:r>
          </a:p>
        </p:txBody>
      </p:sp>
      <p:sp>
        <p:nvSpPr>
          <p:cNvPr id="38" name="Oval 37"/>
          <p:cNvSpPr/>
          <p:nvPr/>
        </p:nvSpPr>
        <p:spPr>
          <a:xfrm>
            <a:off x="3931920" y="4434840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31920" y="4462272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389120"/>
            <a:ext cx="6400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BCB77"/>
                </a:solidFill>
                <a:latin typeface="微软雅黑"/>
              </a:rPr>
              <a:t>printf("  0. 退出\n");</a:t>
            </a:r>
          </a:p>
        </p:txBody>
      </p:sp>
      <p:sp>
        <p:nvSpPr>
          <p:cNvPr id="41" name="Oval 40"/>
          <p:cNvSpPr/>
          <p:nvPr/>
        </p:nvSpPr>
        <p:spPr>
          <a:xfrm>
            <a:off x="3931920" y="4937760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31920" y="4965192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</a:rPr>
              <a:t>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4892040"/>
            <a:ext cx="6400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BCB77"/>
                </a:solidFill>
                <a:latin typeface="微软雅黑"/>
              </a:rPr>
              <a:t>printf("======================\n");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303520"/>
            <a:ext cx="7772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4ECDC4"/>
                </a:solidFill>
                <a:latin typeface="微软雅黑"/>
              </a:rPr>
              <a:t>⬆️  从上到下，依次执行，不会跳，不会回头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🔀 分支结构：if-else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岔路口——往左走还是往右走？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第2讲 控制结构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20" y="2926080"/>
            <a:ext cx="365760" cy="1371600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entagon 9"/>
          <p:cNvSpPr/>
          <p:nvPr/>
        </p:nvSpPr>
        <p:spPr>
          <a:xfrm>
            <a:off x="914400" y="2354580"/>
            <a:ext cx="1143000" cy="685800"/>
          </a:xfrm>
          <a:prstGeom prst="homePlate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entagon 10"/>
          <p:cNvSpPr/>
          <p:nvPr/>
        </p:nvSpPr>
        <p:spPr>
          <a:xfrm>
            <a:off x="2057400" y="2011680"/>
            <a:ext cx="1143000" cy="685800"/>
          </a:xfrm>
          <a:prstGeom prst="homePlat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00200" y="4183380"/>
            <a:ext cx="914400" cy="182880"/>
          </a:xfrm>
          <a:prstGeom prst="rect">
            <a:avLst/>
          </a:prstGeom>
          <a:solidFill>
            <a:srgbClr val="654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3200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  <a:latin typeface="微软雅黑"/>
              </a:rPr>
              <a:t>条件判断 = 路牌指示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645920"/>
            <a:ext cx="7498079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1645920"/>
            <a:ext cx="7498079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719072"/>
            <a:ext cx="74980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📝 取款的 if-else 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8600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微软雅黑"/>
              </a:rPr>
              <a:t>if (amount &lt;= 0) {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33472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>    printf("金额必须大于0！");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980944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6B6B"/>
                </a:solidFill>
                <a:latin typeface="微软雅黑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328416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8C42"/>
                </a:solidFill>
                <a:latin typeface="微软雅黑"/>
              </a:rPr>
              <a:t>else if (amount &gt; balance)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675887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>    printf("余额不足！");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60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FF8C42"/>
                </a:solidFill>
                <a:latin typeface="微软雅黑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370832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else 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18304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微软雅黑"/>
              </a:rPr>
              <a:t>    balance = balance - amount;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65776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    printf("取款成功！");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413248"/>
            <a:ext cx="6400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BCB77"/>
                </a:solidFill>
                <a:latin typeface="微软雅黑"/>
              </a:rPr>
              <a:t>}</a:t>
            </a:r>
          </a:p>
        </p:txBody>
      </p:sp>
      <p:sp>
        <p:nvSpPr>
          <p:cNvPr id="27" name="Oval 26"/>
          <p:cNvSpPr/>
          <p:nvPr/>
        </p:nvSpPr>
        <p:spPr>
          <a:xfrm>
            <a:off x="10789920" y="2606040"/>
            <a:ext cx="228600" cy="2286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6B6B"/>
                </a:solidFill>
                <a:latin typeface="微软雅黑"/>
              </a:rPr>
              <a:t>❌ 金额无效</a:t>
            </a:r>
          </a:p>
        </p:txBody>
      </p:sp>
      <p:sp>
        <p:nvSpPr>
          <p:cNvPr id="29" name="Oval 28"/>
          <p:cNvSpPr/>
          <p:nvPr/>
        </p:nvSpPr>
        <p:spPr>
          <a:xfrm>
            <a:off x="10789920" y="4160520"/>
            <a:ext cx="228600" cy="2286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64240" y="411480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8C42"/>
                </a:solidFill>
                <a:latin typeface="微软雅黑"/>
              </a:rPr>
              <a:t>❌ 余额不足</a:t>
            </a:r>
          </a:p>
        </p:txBody>
      </p:sp>
      <p:sp>
        <p:nvSpPr>
          <p:cNvPr id="31" name="Oval 30"/>
          <p:cNvSpPr/>
          <p:nvPr/>
        </p:nvSpPr>
        <p:spPr>
          <a:xfrm>
            <a:off x="10789920" y="5806440"/>
            <a:ext cx="228600" cy="228600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064240" y="576072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6BCB77"/>
                </a:solidFill>
                <a:latin typeface="微软雅黑"/>
              </a:rPr>
              <a:t>✅ 正常取款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🎯 分支结构：switch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多选一的场景，用 switch 更清晰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第2讲 控制结构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200400" cy="4114800"/>
          </a:xfrm>
          <a:prstGeom prst="roundRect">
            <a:avLst>
              <a:gd name="adj" fmla="val 5000"/>
            </a:avLst>
          </a:prstGeom>
          <a:solidFill>
            <a:srgbClr val="A29BFE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2103120"/>
            <a:ext cx="2651760" cy="2286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2194560"/>
            <a:ext cx="777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31720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微软雅黑"/>
              </a:rPr>
              <a:t>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2194560"/>
            <a:ext cx="777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331720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微软雅黑"/>
              </a:rPr>
              <a:t>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194560"/>
            <a:ext cx="777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40" y="2331720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微软雅黑"/>
              </a:rPr>
              <a:t>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200400"/>
            <a:ext cx="777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337560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微软雅黑"/>
              </a:rPr>
              <a:t>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65960" y="3200400"/>
            <a:ext cx="777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65960" y="3337560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微软雅黑"/>
              </a:rPr>
              <a:t>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3200400"/>
            <a:ext cx="777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4640" y="3337560"/>
            <a:ext cx="777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微软雅黑"/>
              </a:rPr>
              <a:t>🍪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" y="4663440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709160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</a:rPr>
              <a:t>1</a:t>
            </a:r>
          </a:p>
        </p:txBody>
      </p:sp>
      <p:sp>
        <p:nvSpPr>
          <p:cNvPr id="25" name="Oval 24"/>
          <p:cNvSpPr/>
          <p:nvPr/>
        </p:nvSpPr>
        <p:spPr>
          <a:xfrm>
            <a:off x="1554480" y="4663440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4709160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</a:rPr>
              <a:t>2</a:t>
            </a:r>
          </a:p>
        </p:txBody>
      </p:sp>
      <p:sp>
        <p:nvSpPr>
          <p:cNvPr id="27" name="Oval 26"/>
          <p:cNvSpPr/>
          <p:nvPr/>
        </p:nvSpPr>
        <p:spPr>
          <a:xfrm>
            <a:off x="2011680" y="4663440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11680" y="4709160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</a:rP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2468880" y="4663440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0" y="4709160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</a:rPr>
              <a:t>4</a:t>
            </a:r>
          </a:p>
        </p:txBody>
      </p:sp>
      <p:sp>
        <p:nvSpPr>
          <p:cNvPr id="31" name="Oval 30"/>
          <p:cNvSpPr/>
          <p:nvPr/>
        </p:nvSpPr>
        <p:spPr>
          <a:xfrm>
            <a:off x="2926080" y="4663440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4709160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</a:rPr>
              <a:t>5</a:t>
            </a:r>
          </a:p>
        </p:txBody>
      </p:sp>
      <p:sp>
        <p:nvSpPr>
          <p:cNvPr id="33" name="Oval 32"/>
          <p:cNvSpPr/>
          <p:nvPr/>
        </p:nvSpPr>
        <p:spPr>
          <a:xfrm>
            <a:off x="3383280" y="4663440"/>
            <a:ext cx="320040" cy="32004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83280" y="4709160"/>
            <a:ext cx="320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</a:rPr>
              <a:t>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5303520"/>
            <a:ext cx="173736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852160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选几号，出几号货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645920"/>
            <a:ext cx="704088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0" y="1645920"/>
            <a:ext cx="7040880" cy="50292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1719072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📝 ATM 菜单的 switch 结构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2331720"/>
            <a:ext cx="6126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29BFE"/>
                </a:solidFill>
                <a:latin typeface="微软雅黑"/>
              </a:rPr>
              <a:t>switch (choice) {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2770632"/>
            <a:ext cx="6126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74B9FF"/>
                </a:solidFill>
                <a:latin typeface="微软雅黑"/>
              </a:rPr>
              <a:t>  case 1: 查询余额; break;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3209544"/>
            <a:ext cx="6126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6BCB77"/>
                </a:solidFill>
                <a:latin typeface="微软雅黑"/>
              </a:rPr>
              <a:t>  case 2: 存款; break;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3648456"/>
            <a:ext cx="6126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D93D"/>
                </a:solidFill>
                <a:latin typeface="微软雅黑"/>
              </a:rPr>
              <a:t>  case 3: 取款; break;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087368"/>
            <a:ext cx="6126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85A6"/>
                </a:solidFill>
                <a:latin typeface="微软雅黑"/>
              </a:rPr>
              <a:t>  case 4: 转账; break;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4526279"/>
            <a:ext cx="6126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  <a:latin typeface="微软雅黑"/>
              </a:rPr>
              <a:t>  case 0: 退出; break;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4965192"/>
            <a:ext cx="6126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7F8C8D"/>
                </a:solidFill>
                <a:latin typeface="微软雅黑"/>
              </a:rPr>
              <a:t>  default: 输入错误;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5404104"/>
            <a:ext cx="6126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A29BFE"/>
                </a:solidFill>
                <a:latin typeface="微软雅黑"/>
              </a:rPr>
              <a:t>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0" y="5486400"/>
            <a:ext cx="6126480" cy="45720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0" y="5532120"/>
            <a:ext cx="6126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2C3E50"/>
                </a:solidFill>
                <a:latin typeface="微软雅黑"/>
              </a:rPr>
              <a:t>⚠️ 每个 case 后面要加 break！否则会发生 case 穿透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🔄 循环结构：while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重复做同一件事——不知道做多少次的时候用它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第2讲 控制结构</a:t>
            </a:r>
          </a:p>
        </p:txBody>
      </p:sp>
      <p:sp>
        <p:nvSpPr>
          <p:cNvPr id="9" name="Donut 8"/>
          <p:cNvSpPr/>
          <p:nvPr/>
        </p:nvSpPr>
        <p:spPr>
          <a:xfrm>
            <a:off x="914400" y="1828800"/>
            <a:ext cx="2743200" cy="2743200"/>
          </a:xfrm>
          <a:prstGeom prst="donu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3040" y="2377440"/>
            <a:ext cx="1645920" cy="1645920"/>
          </a:xfrm>
          <a:prstGeom prst="ellipse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>
                <a:solidFill>
                  <a:srgbClr val="2C3E50"/>
                </a:solidFill>
                <a:latin typeface="微软雅黑"/>
              </a:rPr>
              <a:t>🔄</a:t>
            </a:r>
          </a:p>
        </p:txBody>
      </p:sp>
      <p:sp>
        <p:nvSpPr>
          <p:cNvPr id="12" name="Right Arrow 11"/>
          <p:cNvSpPr/>
          <p:nvPr/>
        </p:nvSpPr>
        <p:spPr>
          <a:xfrm rot="8100000">
            <a:off x="2971800" y="3611880"/>
            <a:ext cx="685800" cy="548640"/>
          </a:xfrm>
          <a:prstGeom prst="rightArrow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3657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  <a:latin typeface="微软雅黑"/>
              </a:rPr>
              <a:t>条件为真，就再来一圈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645920"/>
            <a:ext cx="704088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645920"/>
            <a:ext cx="7040880" cy="50292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719072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📝 ATM 菜单的 while 主循环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286000"/>
            <a:ext cx="6126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4B9FF"/>
                </a:solidFill>
                <a:latin typeface="微软雅黑"/>
              </a:rPr>
              <a:t>int running = 1;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606040"/>
            <a:ext cx="6126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926080"/>
            <a:ext cx="6126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29BFE"/>
                </a:solidFill>
                <a:latin typeface="微软雅黑"/>
              </a:rPr>
              <a:t>while (running) {        // 只要为真，就一直循环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46120"/>
            <a:ext cx="6126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566160"/>
            <a:ext cx="6126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    显示菜单...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886200"/>
            <a:ext cx="6126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    读取用户输入...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06240"/>
            <a:ext cx="6126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ECDC4"/>
                </a:solidFill>
                <a:latin typeface="微软雅黑"/>
              </a:rPr>
              <a:t>    switch (choice) {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526279"/>
            <a:ext cx="6126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微软雅黑"/>
              </a:rPr>
              <a:t>        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846320"/>
            <a:ext cx="6126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微软雅黑"/>
              </a:rPr>
              <a:t>        case 0: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166360"/>
            <a:ext cx="6126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微软雅黑"/>
              </a:rPr>
              <a:t>            running = 0;  // 设为0，循环就结束了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5486400"/>
            <a:ext cx="6126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4ECDC4"/>
                </a:solidFill>
                <a:latin typeface="微软雅黑"/>
              </a:rPr>
              <a:t>    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806440"/>
            <a:ext cx="61264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A29BFE"/>
                </a:solidFill>
                <a:latin typeface="微软雅黑"/>
              </a:rPr>
              <a:t>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5486400"/>
            <a:ext cx="6126480" cy="457200"/>
          </a:xfrm>
          <a:prstGeom prst="roundRect">
            <a:avLst>
              <a:gd name="adj" fmla="val 30000"/>
            </a:avLst>
          </a:prstGeom>
          <a:solidFill>
            <a:srgbClr val="4ECDC4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0" y="5532120"/>
            <a:ext cx="6126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💡 这是菜单程序的经典写法——用标志变量控制循环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🔢 循环结构：for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知道循环多少次的时候用它——计数器驱动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第2讲 控制结构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011680"/>
            <a:ext cx="2926080" cy="3474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011680"/>
            <a:ext cx="2926080" cy="54864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2C3E50"/>
                </a:solidFill>
                <a:latin typeface="微软雅黑"/>
              </a:rPr>
              <a:t>计数器 i = 0, 1, 2...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475488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00600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" y="443484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200" y="4480560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41148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4160520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379476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3840480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34640" y="347472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3520440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120" y="315468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3200400"/>
            <a:ext cx="365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029200"/>
            <a:ext cx="2926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从0数到N，数完就结束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0" y="1737360"/>
            <a:ext cx="7040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1737360"/>
            <a:ext cx="7040880" cy="457200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1783080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🔧 for 循环 = 三件套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2377440"/>
            <a:ext cx="2011680" cy="1005840"/>
          </a:xfrm>
          <a:prstGeom prst="roundRect">
            <a:avLst>
              <a:gd name="adj" fmla="val 20000"/>
            </a:avLst>
          </a:prstGeom>
          <a:solidFill>
            <a:srgbClr val="6BCB77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42316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初始化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274320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int i = 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06324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从哪开始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86600" y="2377440"/>
            <a:ext cx="2011680" cy="1005840"/>
          </a:xfrm>
          <a:prstGeom prst="roundRect">
            <a:avLst>
              <a:gd name="adj" fmla="val 2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242316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条件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86600" y="274320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i &lt;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86600" y="306324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到哪结束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326880" y="2377440"/>
            <a:ext cx="2011680" cy="100584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242316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更新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274320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微软雅黑"/>
              </a:rPr>
              <a:t>i++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3063240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微软雅黑"/>
              </a:rPr>
              <a:t>每次加多少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0" y="3840480"/>
            <a:ext cx="7040880" cy="21945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0" y="3931920"/>
            <a:ext cx="6126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// 打印 5 次欢迎语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4151376"/>
            <a:ext cx="6126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4B9FF"/>
                </a:solidFill>
                <a:latin typeface="微软雅黑"/>
              </a:rPr>
              <a:t>for (int i = 1; i &lt;= 5; i++) {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4370831"/>
            <a:ext cx="6126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BCB77"/>
                </a:solidFill>
                <a:latin typeface="微软雅黑"/>
              </a:rPr>
              <a:t>    printf("第 %d 次：欢迎光临！\n", i);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4590288"/>
            <a:ext cx="6126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4B9FF"/>
                </a:solidFill>
                <a:latin typeface="微软雅黑"/>
              </a:rPr>
              <a:t>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4809744"/>
            <a:ext cx="6126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  <a:latin typeface="微软雅黑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0" y="5029200"/>
            <a:ext cx="6126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// 输出：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5248656"/>
            <a:ext cx="6126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ECDC4"/>
                </a:solidFill>
                <a:latin typeface="微软雅黑"/>
              </a:rPr>
              <a:t>// 第 1 次：欢迎光临！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5468112"/>
            <a:ext cx="6126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4ECDC4"/>
                </a:solidFill>
                <a:latin typeface="微软雅黑"/>
              </a:rPr>
              <a:t>// 第 2 次：欢迎光临！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5687568"/>
            <a:ext cx="612648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//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🎁 组合的力量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大结构套小结构，层层嵌套 = 复杂程序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第2讲 控制结构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2560320"/>
            <a:ext cx="2286000" cy="2286000"/>
          </a:xfrm>
          <a:prstGeom prst="ellipse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360420"/>
            <a:ext cx="2286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while 循环</a:t>
            </a:r>
          </a:p>
        </p:txBody>
      </p:sp>
      <p:sp>
        <p:nvSpPr>
          <p:cNvPr id="11" name="Oval 10"/>
          <p:cNvSpPr/>
          <p:nvPr/>
        </p:nvSpPr>
        <p:spPr>
          <a:xfrm>
            <a:off x="1508760" y="3200400"/>
            <a:ext cx="1645920" cy="164592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08760" y="3776472"/>
            <a:ext cx="1645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switch 分支</a:t>
            </a:r>
          </a:p>
        </p:txBody>
      </p:sp>
      <p:sp>
        <p:nvSpPr>
          <p:cNvPr id="13" name="Oval 12"/>
          <p:cNvSpPr/>
          <p:nvPr/>
        </p:nvSpPr>
        <p:spPr>
          <a:xfrm>
            <a:off x="1828800" y="3840480"/>
            <a:ext cx="1005840" cy="10058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4192524"/>
            <a:ext cx="10058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if 判断</a:t>
            </a:r>
          </a:p>
        </p:txBody>
      </p:sp>
      <p:sp>
        <p:nvSpPr>
          <p:cNvPr id="15" name="Oval 14"/>
          <p:cNvSpPr/>
          <p:nvPr/>
        </p:nvSpPr>
        <p:spPr>
          <a:xfrm>
            <a:off x="2103120" y="4389120"/>
            <a:ext cx="457200" cy="457200"/>
          </a:xfrm>
          <a:prstGeom prst="ellipse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4549140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顺序执行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669280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像俄罗斯套娃一样层层嵌套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645920"/>
            <a:ext cx="7040880" cy="457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1645920"/>
            <a:ext cx="7040880" cy="50292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719072"/>
            <a:ext cx="7040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🏗️ ATM 程序结构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331720"/>
            <a:ext cx="6126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2C3E50"/>
                </a:solidFill>
                <a:latin typeface="微软雅黑"/>
              </a:rPr>
              <a:t>main 函数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2633472"/>
            <a:ext cx="6126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├─ 顺序：变量定义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935224"/>
            <a:ext cx="6126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├─ 顺序：打印欢迎界面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236976"/>
            <a:ext cx="6126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A29BFE"/>
                </a:solidFill>
                <a:latin typeface="微软雅黑"/>
              </a:rPr>
              <a:t>└─ 🔄 while 循环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538728"/>
            <a:ext cx="6126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    ├─ 顺序：显示菜单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840480"/>
            <a:ext cx="6126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    ├─ 顺序：读取输入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142231"/>
            <a:ext cx="6126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FFD93D"/>
                </a:solidFill>
                <a:latin typeface="微软雅黑"/>
              </a:rPr>
              <a:t>    └─ 🔀 switch 分支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443983"/>
            <a:ext cx="6126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微软雅黑"/>
              </a:rPr>
              <a:t>        ├─ case 1 查询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4745736"/>
            <a:ext cx="6126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微软雅黑"/>
              </a:rPr>
              <a:t>        ├─ case 2 存款 + if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047488"/>
            <a:ext cx="6126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微软雅黑"/>
              </a:rPr>
              <a:t>        ├─ case 3 取款 + if-else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349240"/>
            <a:ext cx="6126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6B6B"/>
                </a:solidFill>
                <a:latin typeface="微软雅黑"/>
              </a:rPr>
              <a:t>        ├─ case 4 转账 + if-else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5650992"/>
            <a:ext cx="6126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CB77"/>
                </a:solidFill>
                <a:latin typeface="微软雅黑"/>
              </a:rPr>
              <a:t>        └─ case 0 退出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943600"/>
            <a:ext cx="10332720" cy="64008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6016752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🎯 顺序让代码跑起来，分支让代码有选择，循环让代码有力量。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🤔 代码的坏味道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ATM能跑，但代码写得好吗？—— 为下一讲埋伏笔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第2讲 控制结构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26517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265176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2C3E50"/>
                </a:solidFill>
                <a:latin typeface="微软雅黑"/>
              </a:rPr>
              <a:t>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软雅黑"/>
              </a:rPr>
              <a:t>main 太长了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所有代码都堆在main里
加功能 = 代码越来越长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828800"/>
            <a:ext cx="26517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828800"/>
            <a:ext cx="2651760" cy="7315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10312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2C3E50"/>
                </a:solidFill>
                <a:latin typeface="微软雅黑"/>
              </a:rPr>
              <a:t>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10896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软雅黑"/>
              </a:rPr>
              <a:t>代码重复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65760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存款/取款/转账逻辑很像
都是复制粘贴改一点点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1828800"/>
            <a:ext cx="26517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1828800"/>
            <a:ext cx="2651760" cy="73152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210312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2C3E50"/>
                </a:solidFill>
                <a:latin typeface="微软雅黑"/>
              </a:rPr>
              <a:t>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10896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软雅黑"/>
              </a:rPr>
              <a:t>阅读困难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39" y="365760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想改取款逻辑？
得在代码海里慢慢找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19" y="1828800"/>
            <a:ext cx="2651760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19" y="1828800"/>
            <a:ext cx="2651760" cy="73152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19" y="2103120"/>
            <a:ext cx="26517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800" b="0">
                <a:solidFill>
                  <a:srgbClr val="2C3E50"/>
                </a:solidFill>
                <a:latin typeface="微软雅黑"/>
              </a:rPr>
              <a:t>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3108960"/>
            <a:ext cx="2651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2C3E50"/>
                </a:solidFill>
                <a:latin typeface="微软雅黑"/>
              </a:rPr>
              <a:t>没法复用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599" y="3657600"/>
            <a:ext cx="22860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另一个程序也要用存款？
只能复制粘贴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5394960"/>
            <a:ext cx="8503920" cy="1097280"/>
          </a:xfrm>
          <a:prstGeom prst="roundRect">
            <a:avLst>
              <a:gd name="adj" fmla="val 30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548640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</a:rPr>
              <a:t>💡 怎么办？代码越来越乱，怎么收拾？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943600"/>
            <a:ext cx="8503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D93D"/>
                </a:solidFill>
                <a:latin typeface="微软雅黑"/>
              </a:rPr>
              <a:t>👉 下一讲：函数封装 —— 给代码找个家！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🤔 思考题 · 往深了想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没有标准答案，重要的是思考过程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第2讲 控制结构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38328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3383280" cy="6400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微软雅黑"/>
              </a:rP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96596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case 穿透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34640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</a:rPr>
              <a:t>switch中忘记写break会怎样？
这是bug还是特性？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4206240"/>
            <a:ext cx="2834640" cy="548640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💡 答案见课件文档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828800"/>
            <a:ext cx="338328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828800"/>
            <a:ext cx="3383280" cy="640080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9202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微软雅黑"/>
              </a:rP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196596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while vs 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834640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</a:rPr>
              <a:t>while和for可以互相改写吗？
什么时候用哪个？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206240"/>
            <a:ext cx="2834640" cy="548640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2976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💡 答案见课件文档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1828800"/>
            <a:ext cx="3383280" cy="3200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80960" y="1828800"/>
            <a:ext cx="3383280" cy="64008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1920240"/>
            <a:ext cx="5486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2C3E50"/>
                </a:solidFill>
                <a:latin typeface="微软雅黑"/>
              </a:rPr>
              <a:t>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1965960"/>
            <a:ext cx="2377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/>
              </a:rPr>
              <a:t>减少重复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2834640"/>
            <a:ext cx="28346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2C3E50"/>
                </a:solidFill>
                <a:latin typeface="微软雅黑"/>
              </a:rPr>
              <a:t>不用函数，怎么减少代码重复？
你能想到什么办法？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4206240"/>
            <a:ext cx="2834640" cy="548640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254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4297680"/>
            <a:ext cx="2834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微软雅黑"/>
              </a:rPr>
              <a:t>💡 答案见课件文档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5394960"/>
            <a:ext cx="9418320" cy="914400"/>
          </a:xfrm>
          <a:prstGeom prst="roundRect">
            <a:avLst>
              <a:gd name="adj" fmla="val 30000"/>
            </a:avLst>
          </a:prstGeom>
          <a:solidFill>
            <a:srgbClr val="FFD93D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48640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3E50"/>
                </a:solidFill>
                <a:latin typeface="微软雅黑"/>
              </a:rPr>
              <a:t>🌟 学编程，最重要的不是记住答案，而是学会提出好问题。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89788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  <a:latin typeface="微软雅黑"/>
              </a:rPr>
              <a:t>带着问题学习下一讲——函数封装，你会理解得更深刻！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457200"/>
            <a:ext cx="320040" cy="3200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502920"/>
            <a:ext cx="228600" cy="22860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微软雅黑"/>
              </a:rPr>
              <a:t>📝 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6012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7F8C8D"/>
                </a:solidFill>
                <a:latin typeface="微软雅黑"/>
              </a:rPr>
              <a:t>三种控制结构构建交互程序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46520"/>
            <a:ext cx="109728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  <a:latin typeface="微软雅黑"/>
              </a:rPr>
              <a:t>第2讲 控制结构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645920"/>
            <a:ext cx="9418320" cy="1005840"/>
          </a:xfrm>
          <a:prstGeom prst="roundRect">
            <a:avLst>
              <a:gd name="adj" fmla="val 8000"/>
            </a:avLst>
          </a:prstGeom>
          <a:solidFill>
            <a:srgbClr val="FF8C42"/>
          </a:solidFill>
          <a:ln w="2540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37360"/>
            <a:ext cx="9418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D93D"/>
                </a:solidFill>
                <a:latin typeface="微软雅黑"/>
              </a:rPr>
              <a:t>🎯 一句话总结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57400"/>
            <a:ext cx="9418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顺序让代码跑起来，分支让代码有选择，循环让代码有力量。
三种结构组合起来，就能构建任何复杂的程序。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74B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2148840" cy="73152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2148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1️⃣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3E50"/>
                </a:solidFill>
                <a:latin typeface="微软雅黑"/>
              </a:rPr>
              <a:t>顺序结构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4434840"/>
            <a:ext cx="685800" cy="36576"/>
          </a:xfrm>
          <a:prstGeom prst="rect">
            <a:avLst/>
          </a:prstGeom>
          <a:solidFill>
            <a:srgbClr val="74B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57200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从上到下
一行一行执行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88920" y="3108960"/>
            <a:ext cx="214884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3291840"/>
            <a:ext cx="2148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2️⃣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9319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3E50"/>
                </a:solidFill>
                <a:latin typeface="微软雅黑"/>
              </a:rPr>
              <a:t>if-else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4434840"/>
            <a:ext cx="6858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457200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灵活的条件判断
适合范围判断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20640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3108960"/>
            <a:ext cx="2148840" cy="73152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3291840"/>
            <a:ext cx="2148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3️⃣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9319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3E50"/>
                </a:solidFill>
                <a:latin typeface="微软雅黑"/>
              </a:rPr>
              <a:t>switch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4434840"/>
            <a:ext cx="685800" cy="36576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7800" y="457200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简洁的多选一
记得加 break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52359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52359" y="3108960"/>
            <a:ext cx="2148840" cy="73152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52359" y="3291840"/>
            <a:ext cx="2148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4️⃣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52359" y="39319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3E50"/>
                </a:solidFill>
                <a:latin typeface="微软雅黑"/>
              </a:rPr>
              <a:t>while循环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4434840"/>
            <a:ext cx="685800" cy="36576"/>
          </a:xfrm>
          <a:prstGeom prst="rect">
            <a:avLst/>
          </a:prstGeom>
          <a:solidFill>
            <a:srgbClr val="A29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19" y="457200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不知道次数
用条件控制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310896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6BC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84080" y="3108960"/>
            <a:ext cx="2148840" cy="73152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3291840"/>
            <a:ext cx="21488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0">
                <a:solidFill>
                  <a:srgbClr val="2C3E50"/>
                </a:solidFill>
                <a:latin typeface="微软雅黑"/>
              </a:rPr>
              <a:t>5️⃣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931920"/>
            <a:ext cx="2148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2C3E50"/>
                </a:solidFill>
                <a:latin typeface="微软雅黑"/>
              </a:rPr>
              <a:t>for循环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15600" y="4434840"/>
            <a:ext cx="685800" cy="36576"/>
          </a:xfrm>
          <a:prstGeom prst="rect">
            <a:avLst/>
          </a:prstGeom>
          <a:solidFill>
            <a:srgbClr val="6BC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4572000"/>
            <a:ext cx="1874519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7F8C8D"/>
                </a:solidFill>
                <a:latin typeface="微软雅黑"/>
              </a:rPr>
              <a:t>知道次数
计数器驱动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5669280"/>
            <a:ext cx="6675120" cy="731520"/>
          </a:xfrm>
          <a:prstGeom prst="roundRect">
            <a:avLst>
              <a:gd name="adj" fmla="val 30000"/>
            </a:avLst>
          </a:prstGeom>
          <a:solidFill>
            <a:srgbClr val="FF6B6B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0" y="5760720"/>
            <a:ext cx="66751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👉 下一讲：函数封装 —— 给代码找个家！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