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103120"/>
            <a:ext cx="2011680" cy="18288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2C3E50"/>
                </a:solidFill>
                <a:latin typeface="微软雅黑"/>
              </a:rP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>
                <a:solidFill>
                  <a:srgbClr val="2C3E50"/>
                </a:solidFill>
                <a:latin typeface="微软雅黑"/>
              </a:rPr>
              <a:t>第3讲：函数封装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8C42"/>
                </a:solidFill>
                <a:latin typeface="微软雅黑"/>
              </a:rPr>
              <a:t>给代码找个家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3749039"/>
            <a:ext cx="137160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</a:rPr>
              <a:t>《从程序员到架构师》· C语言插件框架演进之旅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3891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微软雅黑"/>
              </a:rPr>
              <a:t>封装 · 复用 · 单一职责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9377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微软雅黑"/>
              </a:rPr>
              <a:t>03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🗺️ 知识图谱 · 第3讲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本讲在整个知识体系中的位置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246888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834640"/>
            <a:ext cx="2011680" cy="20116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880360"/>
            <a:ext cx="2377440" cy="10058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🔧 函数封装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（第3讲 核心）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控制结构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第2讲 · 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表达式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第1讲 · 基础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多文件编程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第4讲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指针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第5讲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4864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6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57784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ATM案例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943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贯穿全系列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2743200" y="1645920"/>
            <a:ext cx="210312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828800" y="3566160"/>
            <a:ext cx="301752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60720" y="1645920"/>
            <a:ext cx="320040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3566160"/>
            <a:ext cx="320040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03520" y="3840480"/>
            <a:ext cx="640080" cy="210312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💡 函数是代码的家——把相关代码打包、命名、隐藏细节，让代码更清晰、更好复用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🤔 第2讲的痛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所有代码堆在一起——又长又乱又重复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517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main太长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几十行代码堆在一起
加功能=越来越长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828800"/>
            <a:ext cx="265176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代码重复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存款取款转账的逻辑
几乎一样，复制粘贴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1828800"/>
            <a:ext cx="265176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阅读困难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想改取款？
在一大堆代码里找半天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19" y="1828800"/>
            <a:ext cx="265176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19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没法复用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另一个程序要用存款？
只能整段复制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394960"/>
            <a:ext cx="8503920" cy="109728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💡 怎么办？给代码找个家——函数封装！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D93D"/>
                </a:solidFill>
                <a:latin typeface="微软雅黑"/>
              </a:rPr>
              <a:t>把相关代码打包在一起，起个名字，各归各位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🗄️ 函数就是抽屉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把零散的东西分类放进抽屉——整洁又好找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6B6B"/>
                </a:solidFill>
                <a:latin typeface="微软雅黑"/>
              </a:rPr>
              <a:t>❌ 没有函数（乱的）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printf(...)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6032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scanf(...)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39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if (amount&gt;0)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63239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balance+=amount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printf(...)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6616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scanf(...)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if (amount&gt;bal)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069080"/>
            <a:ext cx="2103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balance-=amount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828800"/>
            <a:ext cx="5760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920240"/>
            <a:ext cx="5760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CB77"/>
                </a:solidFill>
                <a:latin typeface="微软雅黑"/>
              </a:rPr>
              <a:t>✅ 有了函数（整齐）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60320"/>
            <a:ext cx="2468880" cy="1097280"/>
          </a:xfrm>
          <a:prstGeom prst="roundRect">
            <a:avLst>
              <a:gd name="adj" fmla="val 15000"/>
            </a:avLst>
          </a:prstGeom>
          <a:solidFill>
            <a:srgbClr val="74B9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deposit()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089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存款逻辑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60320"/>
            <a:ext cx="2468880" cy="1097280"/>
          </a:xfrm>
          <a:prstGeom prst="roundRect">
            <a:avLst>
              <a:gd name="adj" fmla="val 15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6517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withdraw()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取款逻辑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2468880" cy="1097280"/>
          </a:xfrm>
          <a:prstGeom prst="roundRect">
            <a:avLst>
              <a:gd name="adj" fmla="val 15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0233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transfer()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480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转账逻辑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931920"/>
            <a:ext cx="2468880" cy="1097280"/>
          </a:xfrm>
          <a:prstGeom prst="roundRect">
            <a:avLst>
              <a:gd name="adj" fmla="val 15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40233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print_success()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480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成功提示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303520" y="3657600"/>
            <a:ext cx="731520" cy="45720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📝 函数语法：三阶段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声明 → 定义 → 调用（菜单 → 厨房 → 点菜）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📋 声明 函数原型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void deposit(void);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告诉编译器
有这个函数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108960" cy="8229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就像菜单：
告诉你有什么菜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828800"/>
            <a:ext cx="3657600" cy="64008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92024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🍳 定义 函数实现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65176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7432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void deposit() {
  // 具体代码
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函数的具体实现
怎么做这件事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846320"/>
            <a:ext cx="3108960" cy="8229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93776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就像厨房：
真正做菜的地方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828800"/>
            <a:ext cx="365760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92024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🔔 调用 使用函数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65176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74320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deposit();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93192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让函数执行一次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46320"/>
            <a:ext cx="3108960" cy="8229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93776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就像点菜：
告诉厨房我要这个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931920" y="3657600"/>
            <a:ext cx="365760" cy="32004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863840" y="3657600"/>
            <a:ext cx="365760" cy="32004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📦 参数传递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让函数可以接收外部数据——做什么菜看食材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48640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01952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1901952"/>
            <a:ext cx="182880" cy="1828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54479" y="1901952"/>
            <a:ext cx="182880" cy="18288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8562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参数传递.c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3172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不带参数：只能做固定的事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06039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void say_hello()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8036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printf("Hello!\n");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79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2900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带参数：根据传入的值做不同的事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77639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微软雅黑"/>
              </a:rPr>
              <a:t>void print_success(char* op, double amt)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5196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printf("✅ %s %.2f元\n", op, amt);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79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微软雅黑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调用时传入不同的值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微软雅黑"/>
              </a:rPr>
              <a:t>print_success("存入", 100.0);  // 存入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23559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微软雅黑"/>
              </a:rPr>
              <a:t>print_success("取出", 50.0);   // 取出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828800"/>
            <a:ext cx="47548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1828800"/>
            <a:ext cx="4754880" cy="502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1901952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🍳 参数 = 食材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56032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微软雅黑"/>
              </a:rPr>
              <a:t>同一个厨房（函数），不同的食材（参数）→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01752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微软雅黑"/>
              </a:rPr>
              <a:t>做出不同的菜（不同的结果）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84048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88620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</a:rPr>
              <a:t>print_success("存入", 100)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20624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BCB77"/>
                </a:solidFill>
                <a:latin typeface="微软雅黑"/>
              </a:rPr>
              <a:t>→ "✅ 存入 100.00元"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75488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80060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</a:rPr>
              <a:t>print_success("取出", 50)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120640"/>
            <a:ext cx="4023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微软雅黑"/>
              </a:rPr>
              <a:t>→ "✅ 取出 50.00元"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📋 值传递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传的是副本，不是原件——改副本不影响原件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48640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562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值传递.c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void add_one(int x)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87752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x = x + 1;  // 改的是x（副本）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43784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printf("函数内: x=%d\n", x);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5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55848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int main()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67912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微软雅黑"/>
              </a:rPr>
              <a:t>    int a = 10;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23944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微软雅黑"/>
              </a:rPr>
              <a:t>    add_one(a);  // 传a的值(10)的副本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79976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微软雅黑"/>
              </a:rPr>
              <a:t>    printf("函数外: a=%d\n", a);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36008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    return 0;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48072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04104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输出：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60136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// 函数内: x=11  ← 改了副本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16168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// 函数外: a=10  ← 原件没变！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828800"/>
            <a:ext cx="47548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1828800"/>
            <a:ext cx="475488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901952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📄 复印件比喻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65176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743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原件 a=10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2004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（在main里）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26880" y="3017520"/>
            <a:ext cx="548640" cy="36576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6517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6B6B"/>
                </a:solidFill>
                <a:latin typeface="微软雅黑"/>
              </a:rPr>
              <a:t>复制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651760"/>
            <a:ext cx="1097280" cy="13716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74320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微软雅黑"/>
              </a:rPr>
              <a:t>副本 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10896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BCB77"/>
                </a:solidFill>
                <a:latin typeface="微软雅黑"/>
              </a:rPr>
              <a:t>→11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4747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  <a:latin typeface="微软雅黑"/>
              </a:rPr>
              <a:t>（改了它）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389120"/>
            <a:ext cx="3840480" cy="12801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48056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4ECDC4"/>
                </a:solidFill>
                <a:latin typeface="微软雅黑"/>
              </a:rPr>
              <a:t>💡 想改原件？用指针！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846320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传变量的地址，函数就知道
原件在哪，直接改原件
→ 第5讲：指针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↩️ 返回值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函数执行完，把结果带回来——上菜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48640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562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返回值.c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计算两数之和，返回结果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87752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int add(int a, int b)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43784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return a + b;  // 返回计算结果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5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55848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int main()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67912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    // 调用函数，接收返回值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23944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D93D"/>
                </a:solidFill>
                <a:latin typeface="微软雅黑"/>
              </a:rPr>
              <a:t>    int result = add(3, 5);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79976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printf("3+5=%d\n", result);  // 输出8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36008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    return 0;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48072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04104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// return的作用：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60136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// 1. 结束函数（跳出去）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16168"/>
            <a:ext cx="4937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// 2. 返回一个值给调用者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828800"/>
            <a:ext cx="47548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1828800"/>
            <a:ext cx="4754880" cy="50292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901952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🍽️ 上菜比喻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743200"/>
            <a:ext cx="1371600" cy="1097280"/>
          </a:xfrm>
          <a:prstGeom prst="roundRect">
            <a:avLst>
              <a:gd name="adj" fmla="val 15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83464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3832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</a:rPr>
              <a:t>厨房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78240" y="2926080"/>
            <a:ext cx="914400" cy="457200"/>
          </a:xfrm>
          <a:prstGeom prst="rightArrow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3832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6BCB77"/>
                </a:solidFill>
                <a:latin typeface="微软雅黑"/>
              </a:rPr>
              <a:t>return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2743200"/>
            <a:ext cx="1371600" cy="1097280"/>
          </a:xfrm>
          <a:prstGeom prst="roundRect">
            <a:avLst>
              <a:gd name="adj" fmla="val 15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283464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🍽️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3832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上菜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206240"/>
            <a:ext cx="3840480" cy="14630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29768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4B9FF"/>
                </a:solidFill>
                <a:latin typeface="微软雅黑"/>
              </a:rPr>
              <a:t>return 两个作用：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66344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① 结束函数——立刻跳出去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02920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② 返回值——把结果带给调用者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📊 第2讲 vs 第3讲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从"大杂烩"到"各归各位"——变化一目了然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main长度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6B6B"/>
                </a:solidFill>
                <a:latin typeface="微软雅黑"/>
              </a:rPr>
              <a:t>❌ 几十行堆在一起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82880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BCB77"/>
                </a:solidFill>
                <a:latin typeface="微软雅黑"/>
              </a:rPr>
              <a:t>✅ 十几行只调度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1460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代码重复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5146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6060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6B6B"/>
                </a:solidFill>
                <a:latin typeface="微软雅黑"/>
              </a:rPr>
              <a:t>❌ 到处复制粘贴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51460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6060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BCB77"/>
                </a:solidFill>
                <a:latin typeface="微软雅黑"/>
              </a:rPr>
              <a:t>✅ 抽成公共函数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0040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找代码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2004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2918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6B6B"/>
                </a:solidFill>
                <a:latin typeface="微软雅黑"/>
              </a:rPr>
              <a:t>❌ 在main里慢慢找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20040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BCB77"/>
                </a:solidFill>
                <a:latin typeface="微软雅黑"/>
              </a:rPr>
              <a:t>✅ 直接找对应函数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8620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代码复用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8862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9776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6B6B"/>
                </a:solidFill>
                <a:latin typeface="微软雅黑"/>
              </a:rPr>
              <a:t>❌ 只能复制粘贴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388620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39776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BCB77"/>
                </a:solidFill>
                <a:latin typeface="微软雅黑"/>
              </a:rPr>
              <a:t>✅ 直接调用函数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57200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可读性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45720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46634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6B6B"/>
                </a:solidFill>
                <a:latin typeface="微软雅黑"/>
              </a:rPr>
              <a:t>❌ 从头读到尾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457200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46634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BCB77"/>
                </a:solidFill>
                <a:latin typeface="微软雅黑"/>
              </a:rPr>
              <a:t>✅ 看函数名就知道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25780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34924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可维护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525780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0" y="53492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6B6B"/>
                </a:solidFill>
                <a:latin typeface="微软雅黑"/>
              </a:rPr>
              <a:t>❌ 改一处查所有副本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525780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53492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BCB77"/>
                </a:solidFill>
                <a:latin typeface="微软雅黑"/>
              </a:rPr>
              <a:t>✅ 改一个函数就行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13716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6B6B"/>
                </a:solidFill>
                <a:latin typeface="微软雅黑"/>
              </a:rPr>
              <a:t>第2讲（无函数）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37160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BCB77"/>
                </a:solidFill>
                <a:latin typeface="微软雅黑"/>
              </a:rPr>
              <a:t>第3讲（函数封装）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🏆 封装的力量——让代码从"能用"变成"好用、好改、好理解"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🎯 三个设计原则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好代码的共同特征——从函数开始养成习惯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1️⃣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单一职责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200400"/>
            <a:ext cx="1280160" cy="36576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一个函数只做一件事
并且把它做好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3108960" cy="13716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✅ deposit() 只管存款
❌ deposit_and_withdraw() 混在一起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828800"/>
            <a:ext cx="365760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2️⃣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代码复用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200400"/>
            <a:ext cx="1280160" cy="3657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38328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同样的代码不要写两遍
抽成函数，到处调用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297680"/>
            <a:ext cx="3108960" cy="13716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389120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存款取款转账都有成功提示
→ 抽成 print_success() 函数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6576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828800"/>
            <a:ext cx="365760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3️⃣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5176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信息隐藏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3200400"/>
            <a:ext cx="1280160" cy="36576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383280"/>
            <a:ext cx="3108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调用者不需要知道
内部怎么实现的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297680"/>
            <a:ext cx="3108960" cy="1371600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389120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你用printf不需要知道它
内部怎么把字显示到屏幕上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603504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10819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  <a:latin typeface="微软雅黑"/>
              </a:rPr>
              <a:t>💡 这三个原则贯穿整个系列：函数→模块→库→框架，都是在更高层次做同样的事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🤔 思考题 · 往深了想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没有标准答案，重要的是思考过程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38328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659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函数=封装？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为什么说函数是C语言中
最基础的封装手段？
封装到底是什么意思？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06240"/>
            <a:ext cx="2834640" cy="54864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💡 答案见课件文档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82880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828800"/>
            <a:ext cx="3383280" cy="64008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659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值传递的得与失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34640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值传递有什么好处？
有什么坏处？
你会怎么选？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206240"/>
            <a:ext cx="2834640" cy="54864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976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💡 答案见课件文档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82880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3383280" cy="6400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9659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函数越小越好？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834640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函数该写多长？
拆得太小有问题吗？
判断标准是什么？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4206240"/>
            <a:ext cx="2834640" cy="54864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42976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💡 答案见课件文档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394960"/>
            <a:ext cx="9418320" cy="91440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🌟 函数是封装的起点——后面所有的架构思想，都是在这个基础上一层一层堆起来的。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89788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带着问题学习下一讲——多文件编程，你会理解得更深刻！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📝 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函数是代码的家——封装、复用、隐藏细节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第3讲 函数封装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64592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D93D"/>
                </a:solidFill>
                <a:latin typeface="微软雅黑"/>
              </a:rPr>
              <a:t>🎯 一句话总结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函数是代码的家——把相关代码打包、命名、隐藏细节，让代码更清晰、更好维护、更容易复用。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214884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1️⃣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函数的意义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434840"/>
            <a:ext cx="685800" cy="36576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封装代码
消除重复
提高复用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88920" y="3108960"/>
            <a:ext cx="2148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2️⃣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声明/定义/调用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434840"/>
            <a:ext cx="685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三阶段
菜单→厨房→点菜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3108960"/>
            <a:ext cx="214884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值传递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434840"/>
            <a:ext cx="685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传的是副本
改副本不影响原件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59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59" y="3108960"/>
            <a:ext cx="214884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59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4️⃣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返回值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4434840"/>
            <a:ext cx="685800" cy="36576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19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return两个作用
结束函数+返回结果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3108960"/>
            <a:ext cx="214884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5️⃣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设计原则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4434840"/>
            <a:ext cx="685800" cy="3657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单一职责
代码复用
信息隐藏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669280"/>
            <a:ext cx="6675120" cy="7315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5760720"/>
            <a:ext cx="6675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👉 下一讲：多文件编程 —— 函数太多了怎么办？拆成多个文件！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