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114800"/>
            <a:ext cx="4114800" cy="41148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4572000"/>
            <a:ext cx="2286000" cy="228600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941832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11680" y="2286000"/>
            <a:ext cx="1028700" cy="137160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2766060" y="2286000"/>
            <a:ext cx="274320" cy="274320"/>
          </a:xfrm>
          <a:prstGeom prst="rtTriangl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697480"/>
            <a:ext cx="10287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108960"/>
            <a:ext cx="1028700" cy="342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.c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560320"/>
            <a:ext cx="1028700" cy="1371600"/>
          </a:xfrm>
          <a:prstGeom prst="roundRect">
            <a:avLst>
              <a:gd name="adj" fmla="val 8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Triangle 11"/>
          <p:cNvSpPr/>
          <p:nvPr/>
        </p:nvSpPr>
        <p:spPr>
          <a:xfrm rot="5400000">
            <a:off x="3131820" y="2560320"/>
            <a:ext cx="274320" cy="274320"/>
          </a:xfrm>
          <a:prstGeom prst="rtTriangl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971800"/>
            <a:ext cx="10287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account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383280"/>
            <a:ext cx="1028700" cy="342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.c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2834640"/>
            <a:ext cx="1028700" cy="137160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Triangle 15"/>
          <p:cNvSpPr/>
          <p:nvPr/>
        </p:nvSpPr>
        <p:spPr>
          <a:xfrm rot="5400000">
            <a:off x="3497580" y="2834640"/>
            <a:ext cx="274320" cy="274320"/>
          </a:xfrm>
          <a:prstGeom prst="rtTriangl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3246120"/>
            <a:ext cx="10287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utils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657600"/>
            <a:ext cx="1028700" cy="342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</a:rPr>
              <a:t>.c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103120"/>
            <a:ext cx="5486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200" b="1">
                <a:solidFill>
                  <a:srgbClr val="2C3E50"/>
                </a:solidFill>
                <a:latin typeface="微软雅黑"/>
              </a:rPr>
              <a:t>第4讲：多文件编程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0175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8C42"/>
                </a:solidFill>
                <a:latin typeface="微软雅黑"/>
              </a:rPr>
              <a:t>给代码分个家——从单文件到多模块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749039"/>
            <a:ext cx="1371600" cy="54864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9319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《从程序员到架构师》· C语言插件框架演进之旅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3891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微软雅黑"/>
              </a:rPr>
              <a:t>头文件 · 源文件 · static · 接口与实现分离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93776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微软雅黑"/>
              </a:rPr>
              <a:t>04 / 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🗺️ 知识图谱 · 第4讲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本讲在整个知识体系中的位置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Oval 8"/>
          <p:cNvSpPr/>
          <p:nvPr/>
        </p:nvSpPr>
        <p:spPr>
          <a:xfrm>
            <a:off x="3931920" y="2468880"/>
            <a:ext cx="2743200" cy="27432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7680" y="2834640"/>
            <a:ext cx="2011680" cy="2011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2880360"/>
            <a:ext cx="2377440" cy="100584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97180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📂 多文件编程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474720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（第4讲 核心）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1188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1325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280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函数封装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1645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第3讲 · 前置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74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⚠️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566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全局变量问题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第3讲痛点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188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325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1280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指针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1645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→ 第5讲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474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3611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566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结构体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931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→ 第7讲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548640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562356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57784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静态库/动态库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59436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→ 第9-10讲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2743200" y="1645920"/>
            <a:ext cx="2103120" cy="17373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828800" y="3566160"/>
            <a:ext cx="3017520" cy="3657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60720" y="1645920"/>
            <a:ext cx="3200400" cy="17373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60720" y="3566160"/>
            <a:ext cx="3200400" cy="3657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303520" y="3840480"/>
            <a:ext cx="640080" cy="21031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371600" y="5943600"/>
            <a:ext cx="9418320" cy="54864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6016752"/>
            <a:ext cx="9418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💡 多文件编程是模块化架构的第一步——从函数封装到模块封装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🤔 第3讲的痛点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函数封装很好，但单文件不够用了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65176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65176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2C3E50"/>
                </a:solidFill>
                <a:latin typeface="微软雅黑"/>
              </a:rPr>
              <a:t>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C3E50"/>
                </a:solidFill>
                <a:latin typeface="微软雅黑"/>
              </a:rPr>
              <a:t>文件太长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250+行代码全在一个文件
函数越来越多
文件越来越长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828800"/>
            <a:ext cx="265176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828800"/>
            <a:ext cx="2651760" cy="7315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10312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2C3E50"/>
                </a:solidFill>
                <a:latin typeface="微软雅黑"/>
              </a:rPr>
              <a:t>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1089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C3E50"/>
                </a:solidFill>
                <a:latin typeface="微软雅黑"/>
              </a:rPr>
              <a:t>全局变量危险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6576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g_balance 谁都能改
改乱了找不到凶手
公共牧场悲剧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828800"/>
            <a:ext cx="265176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828800"/>
            <a:ext cx="265176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210312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2C3E50"/>
                </a:solidFill>
                <a:latin typeface="微软雅黑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31089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C3E50"/>
                </a:solidFill>
                <a:latin typeface="微软雅黑"/>
              </a:rPr>
              <a:t>不好复用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39" y="36576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想拿走菜单模块？
得从一大坨代码里抠
复制粘贴容易错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19" y="1828800"/>
            <a:ext cx="265176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19" y="1828800"/>
            <a:ext cx="2651760" cy="73152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19" y="210312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2C3E50"/>
                </a:solidFill>
                <a:latin typeface="微软雅黑"/>
              </a:rPr>
              <a:t>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310896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C3E50"/>
                </a:solidFill>
                <a:latin typeface="微软雅黑"/>
              </a:rPr>
              <a:t>没法协作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599" y="36576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两人同时改一个文件
合并代码是噩梦
互相踩踏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394960"/>
            <a:ext cx="8503920" cy="109728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5486400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💡 函数封装解决了代码重复，但单文件的问题怎么破？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943600"/>
            <a:ext cx="8503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D93D"/>
                </a:solidFill>
                <a:latin typeface="微软雅黑"/>
              </a:rPr>
              <a:t>👉 按职责拆分到不同文件——给代码分个家！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📂 多文件思路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按职责拆分——每个模块各管各的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200400" cy="3657600"/>
          </a:xfrm>
          <a:prstGeom prst="roundRect">
            <a:avLst>
              <a:gd name="adj" fmla="val 5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📄 atm_func.c（250+行）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show_welcome()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show_menu()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63824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query_balance()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11296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deposit()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58768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withdraw()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transfer()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53712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print_success()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01184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  print_error()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03520"/>
            <a:ext cx="3200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全部混在一起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40480" y="3474720"/>
            <a:ext cx="914400" cy="548640"/>
          </a:xfrm>
          <a:prstGeom prst="right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411480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8C42"/>
                </a:solidFill>
                <a:latin typeface="微软雅黑"/>
              </a:rPr>
              <a:t>拆分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82880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1828800"/>
            <a:ext cx="73152" cy="914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0" y="192024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  <a:latin typeface="微软雅黑"/>
              </a:rPr>
              <a:t>main.c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28600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程序入口
调度各模块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288036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0" y="2880360"/>
            <a:ext cx="73152" cy="9144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297180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  <a:latin typeface="微软雅黑"/>
              </a:rPr>
              <a:t>menu.c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33756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显示菜单
读取选择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0" y="39319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3931920"/>
            <a:ext cx="73152" cy="914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0" y="40233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  <a:latin typeface="微软雅黑"/>
              </a:rPr>
              <a:t>account.c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38912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余额管理
存款取款转账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4983479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0" y="4983479"/>
            <a:ext cx="73152" cy="91440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0" y="5074919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  <a:latin typeface="微软雅黑"/>
              </a:rPr>
              <a:t>utils.c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5440679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成功提示
错误提示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76072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8C42"/>
                </a:solidFill>
                <a:latin typeface="微软雅黑"/>
              </a:rPr>
              <a:t>各管各的，互不干扰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6126480"/>
            <a:ext cx="6400800" cy="36576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6144768"/>
            <a:ext cx="6400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2C3E50"/>
                </a:solidFill>
                <a:latin typeface="微软雅黑"/>
              </a:rPr>
              <a:t>✅ 按职责拆分：改菜单只动 menu.c，改业务只动 account.c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📋 头文件原理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头文件是菜单，源文件是厨房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3200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200400" cy="5486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3200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📋 menu.h（菜单）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void show_welcome(void);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036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void show_menu(void);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0040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int  read_choice(void);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39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79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声明 = 告诉你有什么菜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但不告诉你怎么做！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828800" y="4937760"/>
            <a:ext cx="640080" cy="457200"/>
          </a:xfrm>
          <a:prstGeom prst="downArrow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ECDC4"/>
                </a:solidFill>
                <a:latin typeface="微软雅黑"/>
              </a:rPr>
              <a:t>顾客看菜单点菜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1828800"/>
            <a:ext cx="6675120" cy="4114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1828800"/>
            <a:ext cx="6675120" cy="5029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54880" y="1901952"/>
            <a:ext cx="182880" cy="18288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74920" y="1901952"/>
            <a:ext cx="182880" cy="18288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59" y="1901952"/>
            <a:ext cx="182880" cy="18288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1856231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微软雅黑"/>
              </a:rPr>
              <a:t>menu.c（厨房）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68880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#include "menu.h"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724912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980944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show_welcome(void) 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236976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    printf("欢迎使用ATM系统\n");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493008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749040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4005072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show_menu(void) {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261104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    printf("1.查询 2.存款...\n");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517136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773168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5029200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// 定义 = 菜是怎么做的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5285232"/>
            <a:ext cx="5943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外部不需要看到这些代码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6126480"/>
            <a:ext cx="11064240" cy="36576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144768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💡 头文件(.h) = 接口（声明），源文件(.c) = 实现（定义）——顾客看菜单，不用进厨房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🛡️ 头文件保护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#ifndef / #define / #endif 三件套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475488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75488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❌ 不加保护的后果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#include 的本质 = 复制粘贴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63824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main.c 包含了 menu.h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11296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menu.h 包含了 utils.h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5876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→ utils.h 内容出现两遍！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53712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函数声明重复 → 不报错（但浪费）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01184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类型定义重复 → 编译错误！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0" y="1828800"/>
            <a:ext cx="5943600" cy="50292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0" y="1901952"/>
            <a:ext cx="5943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✅ 加上保护三件套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246888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/* menu.h */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61488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#ifndef MENU_H       ← 如果没定义过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054096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#define MENU_H       ← 就定义它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46704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3639312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void show_menu(void);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93192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int  read_choice(void);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224528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517136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#endif  /* MENU_H */  ← 保护结束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4809744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5102352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// 第一次包含：处理内容 + 定义宏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539496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// 后续包含：宏已定义 → 跳过！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🔒 头文件保护 = 一次性门：第一次打开后自动锁上，后面再推就推不动了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🔑 static 的两种用法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一个关键词，两种含义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53035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303520" cy="59436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1️⃣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20240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</a:rPr>
              <a:t>函数级 static（函数内部）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微软雅黑"/>
              </a:rPr>
              <a:t>void counter()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26079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  static int count = 0;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  count++;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7472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  printf("%d\n", count);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49039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微软雅黑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02336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97679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counter();  →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7200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counter();  →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4632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counter();  →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12080"/>
            <a:ext cx="4754880" cy="59436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39512"/>
            <a:ext cx="4754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29BFE"/>
                </a:solidFill>
                <a:latin typeface="微软雅黑"/>
              </a:rPr>
              <a:t>💡 生命周期=程序结束 | 作用域=仅本函数 | 价值=保持状态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8288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828800"/>
            <a:ext cx="539496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901952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2️⃣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920240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</a:rPr>
              <a:t>文件级 static（函数外部）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651760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/* account.c */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926079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static double s_balance = 1000.0;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static int validate_amount(double amt);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474720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749039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// s_balance 仅 account.c 可见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23360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// main.c / menu.c 看不到它！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297679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// 想查余额？→ account_get_balance()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572000"/>
            <a:ext cx="4846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// 想改余额？→ account_deposit()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5212080"/>
            <a:ext cx="4846320" cy="59436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239512"/>
            <a:ext cx="4846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6B6B"/>
                </a:solidFill>
                <a:latin typeface="微软雅黑"/>
              </a:rPr>
              <a:t>💡 生命周期=程序结束 | 作用域=仅本文件 | 价值=信息隐藏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943600"/>
            <a:ext cx="11064240" cy="457200"/>
          </a:xfrm>
          <a:prstGeom prst="roundRect">
            <a:avLst>
              <a:gd name="adj" fmla="val 30000"/>
            </a:avLst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61888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D93D"/>
                </a:solidFill>
                <a:latin typeface="微软雅黑"/>
              </a:rPr>
              <a:t>第3讲 g_balance（全局可见，谁都能改）  →  第4讲 s_balance（仅本文件可见，安全！）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⚙️ 多文件编译过程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编译器逐文件编译，链接器跨文件接线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main.c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777240" y="2560320"/>
            <a:ext cx="457200" cy="32004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37360" y="182880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196596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menu.c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057400" y="2560320"/>
            <a:ext cx="457200" cy="320040"/>
          </a:xfrm>
          <a:prstGeom prst="downArrow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182880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96596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account.c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337560" y="2560320"/>
            <a:ext cx="457200" cy="320040"/>
          </a:xfrm>
          <a:prstGeom prst="downArrow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79" y="182880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79" y="196596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utils.c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4617719" y="2560320"/>
            <a:ext cx="457200" cy="320040"/>
          </a:xfrm>
          <a:prstGeom prst="downArrow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2971800"/>
            <a:ext cx="10332720" cy="457200"/>
          </a:xfrm>
          <a:prstGeom prst="roundRect">
            <a:avLst>
              <a:gd name="adj" fmla="val 2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017520"/>
            <a:ext cx="10332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🔧 编译器：逐文件编译（预处理→编译→汇编）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56616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0332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8C42"/>
                </a:solidFill>
                <a:latin typeface="微软雅黑"/>
              </a:rPr>
              <a:t>main.o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37360" y="356616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370332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ECDC4"/>
                </a:solidFill>
                <a:latin typeface="微软雅黑"/>
              </a:rPr>
              <a:t>menu.o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17520" y="356616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370332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6B6B"/>
                </a:solidFill>
                <a:latin typeface="微软雅黑"/>
              </a:rPr>
              <a:t>account.o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3566160"/>
            <a:ext cx="109728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3703320"/>
            <a:ext cx="1097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A29BFE"/>
                </a:solidFill>
                <a:latin typeface="微软雅黑"/>
              </a:rPr>
              <a:t>utils.o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005840" y="4297680"/>
            <a:ext cx="320040" cy="27432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2286000" y="4297680"/>
            <a:ext cx="320040" cy="27432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3566160" y="4297680"/>
            <a:ext cx="320040" cy="27432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4846319" y="4297680"/>
            <a:ext cx="320040" cy="27432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86000" y="4663440"/>
            <a:ext cx="6675120" cy="502920"/>
          </a:xfrm>
          <a:prstGeom prst="roundRect">
            <a:avLst>
              <a:gd name="adj" fmla="val 2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" y="4709160"/>
            <a:ext cx="6675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🔗 链接器：解决外部引用，把 .o 拼成 .exe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5303520" y="5257800"/>
            <a:ext cx="640080" cy="32004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57600" y="5669280"/>
            <a:ext cx="3931920" cy="548640"/>
          </a:xfrm>
          <a:prstGeom prst="roundRect">
            <a:avLst>
              <a:gd name="adj" fmla="val 15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57332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✅ atm_multi.exe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gcc main.c menu.c account.c utils.c -o atm_multi.exe  ←  一行命令搞定四阶段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🔀 接口与实现分离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对外只暴露'能做什么'，内部'怎么做'藏起来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47548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754880" cy="50292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📋 account.h（接口 = 菜单）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#ifndef ACCOUNT_H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#define ACCOUNT_H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1752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9184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account_query(void);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6616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account_deposit(void);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account_withdraw(void);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1480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account_transfer(void);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8912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double account_get_balance(void);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只告诉你：能做什么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1208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不告诉你：怎么做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#endif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1828800"/>
            <a:ext cx="5943600" cy="4114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1828800"/>
            <a:ext cx="5943600" cy="5029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52160" y="1901952"/>
            <a:ext cx="182880" cy="18288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72200" y="1901952"/>
            <a:ext cx="182880" cy="18288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39" y="1901952"/>
            <a:ext cx="182880" cy="18288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1856231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微软雅黑"/>
              </a:rPr>
              <a:t>account.c（实现 = 厨房）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246888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#include "account.h"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274320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#include "utils.h"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301752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29184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static double s_balance = 1000.0;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56616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static int validate_amount(double amt)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384048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{ /* 内部验证逻辑... */ 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411480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438912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void account_deposit(void) {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66344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  // 具体实现代码...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493776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  s_balance += amount;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521208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  print_success("存入", amount, s_balance);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5486400"/>
            <a:ext cx="5303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微软雅黑"/>
              </a:rPr>
              <a:t>}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💡 好处：实现可替换 | 降低耦合 | 团队协作 | 信息隐藏 | 编译隔离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🏗️ ATM 多文件结构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第3讲单文件 → 第4讲多文件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4754880" cy="4114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754880" cy="45720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4114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📁 src/ 项目结构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src/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24912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├── main.c        ← 主程序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26664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├── menu.h        ← 菜单接口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28415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微软雅黑"/>
              </a:rPr>
              <a:t>├── menu.c        ← 菜单实现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30168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├── account.h     ← 账户接口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3192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├── account.c     ← 账户实现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33672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微软雅黑"/>
              </a:rPr>
              <a:t>├── utils.h       ← 工具接口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35424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微软雅黑"/>
              </a:rPr>
              <a:t>├── utils.c       ← 工具实现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37176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8C42"/>
                </a:solidFill>
                <a:latin typeface="微软雅黑"/>
              </a:rPr>
              <a:t>└── build.bat     ← 编译脚本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38928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40680"/>
            <a:ext cx="42062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微软雅黑"/>
              </a:rPr>
              <a:t>3个模块 × (.h + .c) + main = 8个文件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1828800"/>
            <a:ext cx="58521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720" y="1828800"/>
            <a:ext cx="5852160" cy="4572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1874519"/>
            <a:ext cx="5029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🔗 模块依赖关系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468880"/>
            <a:ext cx="1828800" cy="502920"/>
          </a:xfrm>
          <a:prstGeom prst="roundRect">
            <a:avLst>
              <a:gd name="adj" fmla="val 2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542032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main.c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3474720"/>
            <a:ext cx="1828800" cy="11887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3474720"/>
            <a:ext cx="1828800" cy="7315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0" y="36118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ECDC4"/>
                </a:solidFill>
                <a:latin typeface="微软雅黑"/>
              </a:rPr>
              <a:t>menu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97764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show_menu
read_choice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3474720"/>
            <a:ext cx="1828800" cy="11887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0" y="3474720"/>
            <a:ext cx="182880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6118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微软雅黑"/>
              </a:rPr>
              <a:t>account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97764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deposit
withdraw
transfer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3474720"/>
            <a:ext cx="1828800" cy="11887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09759" y="3474720"/>
            <a:ext cx="182880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59" y="36118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A29BFE"/>
                </a:solidFill>
                <a:latin typeface="微软雅黑"/>
              </a:rPr>
              <a:t>utils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397764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print_success
print_error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6949440" y="2971800"/>
            <a:ext cx="1737360" cy="5029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686800" y="2971800"/>
            <a:ext cx="0" cy="5029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686800" y="2971800"/>
            <a:ext cx="1737359" cy="5029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509759" y="4069080"/>
            <a:ext cx="91441" cy="0"/>
          </a:xfrm>
          <a:prstGeom prst="line">
            <a:avLst/>
          </a:prstGeom>
          <a:ln w="254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961120" y="4114800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6B6B"/>
                </a:solidFill>
                <a:latin typeface="微软雅黑"/>
              </a:rPr>
              <a:t>依赖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0" y="4937760"/>
            <a:ext cx="5303520" cy="86868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5010912"/>
            <a:ext cx="5120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4ECDC4"/>
                </a:solidFill>
                <a:latin typeface="微软雅黑"/>
              </a:rPr>
              <a:t>🔑 关键变化：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53035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/>
              </a:rPr>
              <a:t>g_balance(全局) → s_balance(文件级static)
外部只能通过接口函数操作余额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🤔 思考题 · 往深了想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没有标准答案，重要的是思考过程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38328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3383280" cy="5943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6596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头文件保护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834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为什么需要 #ifndef 三件套？
不加会怎样？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828800"/>
            <a:ext cx="338328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828800"/>
            <a:ext cx="3383280" cy="59436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96596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static两种用法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606040"/>
            <a:ext cx="2834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函数内 static 和文件级 static
有什么区别？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31920"/>
            <a:ext cx="338328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931920"/>
            <a:ext cx="3383280" cy="5943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233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编译 vs 链接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09160"/>
            <a:ext cx="2834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编译器和链接器各做了什么？
undefined reference 是什么错？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931920"/>
            <a:ext cx="338328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931920"/>
            <a:ext cx="3383280" cy="5943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233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接口与实现分离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709160"/>
            <a:ext cx="2834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为什么要分离？
好处是什么？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182880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286000"/>
            <a:ext cx="3657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0">
                <a:solidFill>
                  <a:srgbClr val="2C3E50"/>
                </a:solidFill>
                <a:latin typeface="微软雅黑"/>
              </a:rPr>
              <a:t>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11480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  <a:latin typeface="微软雅黑"/>
              </a:rPr>
              <a:t>带着问题学习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66344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答案见课件文档和思考题.md
思考过程比答案更重要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71600" y="6217920"/>
            <a:ext cx="9418320" cy="36576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6236208"/>
            <a:ext cx="9418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🌟 从函数封装到模块封装——每一步演进都让代码更好一点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📝 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多文件编程——从单文件到多模块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第4讲 多文件编程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645920"/>
            <a:ext cx="9418320" cy="1005840"/>
          </a:xfrm>
          <a:prstGeom prst="roundRect">
            <a:avLst>
              <a:gd name="adj" fmla="val 8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73736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D93D"/>
                </a:solidFill>
                <a:latin typeface="微软雅黑"/>
              </a:rPr>
              <a:t>🎯 一句话总结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5740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多文件编程 = 按职责拆分 + 头文件做接口 + static 做信息隐藏
让代码更安全、更好维护、更容易复用。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82880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2918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2C3E50"/>
                </a:solidFill>
                <a:latin typeface="微软雅黑"/>
              </a:rPr>
              <a:t>1️⃣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3192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多文件动机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389120"/>
            <a:ext cx="73152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5262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文件太长
全局变量危险
不好复用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04288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04288" y="3108960"/>
            <a:ext cx="1828800" cy="7315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4288" y="32918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2C3E50"/>
                </a:solidFill>
                <a:latin typeface="微软雅黑"/>
              </a:rPr>
              <a:t>2️⃣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393192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.h 与 .c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52928" y="4389120"/>
            <a:ext cx="73152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5728" y="45262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头文件=菜单(声明)
源文件=厨房(定义)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42816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3108960"/>
            <a:ext cx="182880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2816" y="32918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2C3E50"/>
                </a:solidFill>
                <a:latin typeface="微软雅黑"/>
              </a:rPr>
              <a:t>3️⃣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393192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头文件保护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91456" y="4389120"/>
            <a:ext cx="731520" cy="36576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34256" y="45262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#ifndef
#define
#endif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81344" y="3108960"/>
            <a:ext cx="1828800" cy="73152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32918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2C3E50"/>
                </a:solidFill>
                <a:latin typeface="微软雅黑"/>
              </a:rPr>
              <a:t>4️⃣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393192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static两种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9984" y="4389120"/>
            <a:ext cx="731520" cy="36576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2784" y="45262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函数级=保持状态
文件级=信息隐藏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19872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19872" y="3108960"/>
            <a:ext cx="1828800" cy="7315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9872" y="32918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2C3E50"/>
                </a:solidFill>
                <a:latin typeface="微软雅黑"/>
              </a:rPr>
              <a:t>5️⃣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9872" y="393192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编译过程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68512" y="4389120"/>
            <a:ext cx="731520" cy="36576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1312" y="45262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编译器逐文件编译
链接器跨文件接线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58400" y="3108960"/>
            <a:ext cx="1828800" cy="7315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0" y="32918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2C3E50"/>
                </a:solidFill>
                <a:latin typeface="微软雅黑"/>
              </a:rPr>
              <a:t>6️⃣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93192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接口与实现分离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07040" y="4389120"/>
            <a:ext cx="731520" cy="36576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45262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对外暴露接口
内部藏实现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86000" y="5669280"/>
            <a:ext cx="7589520" cy="731520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0" y="5760720"/>
            <a:ext cx="7589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👉 下一讲：指针 —— 给函数一双能摸到原件的手！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