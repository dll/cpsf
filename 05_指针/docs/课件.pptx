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1463040" y="146304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2286000"/>
            <a:ext cx="914400" cy="9144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2560320"/>
            <a:ext cx="365760" cy="365760"/>
          </a:xfrm>
          <a:prstGeom prst="ellipse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6100" y="2628900"/>
            <a:ext cx="1028700" cy="228600"/>
          </a:xfrm>
          <a:prstGeom prst="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71900" y="2857500"/>
            <a:ext cx="137160" cy="274320"/>
          </a:xfrm>
          <a:prstGeom prst="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500" y="2857500"/>
            <a:ext cx="137160" cy="182880"/>
          </a:xfrm>
          <a:prstGeom prst="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84048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8C42"/>
                </a:solidFill>
                <a:latin typeface="微软雅黑"/>
              </a:rPr>
              <a:t>&amp; 取地址  * 解引用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>
                <a:solidFill>
                  <a:srgbClr val="2C3E50"/>
                </a:solidFill>
                <a:latin typeface="微软雅黑"/>
              </a:rPr>
              <a:t>第5讲：指针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0175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8C42"/>
                </a:solidFill>
                <a:latin typeface="微软雅黑"/>
              </a:rPr>
              <a:t>打通任督二脉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749039"/>
            <a:ext cx="137160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</a:rPr>
              <a:t>《从程序员到架构师》· C语言插件框架演进之旅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微软雅黑"/>
              </a:rPr>
              <a:t>地址 · 解引用 · 指针传参 —— 消灭全局变量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9377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微软雅黑"/>
              </a:rPr>
              <a:t>05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知识图谱 · 第5讲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本讲在整个知识体系中的位置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246888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834640"/>
            <a:ext cx="2011680" cy="20116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880360"/>
            <a:ext cx="2377440" cy="10058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指针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（第5讲 核心）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3258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函数封装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69164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第3讲 · 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多文件编程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4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第4讲 · 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3258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数组与字符串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第6讲 · 后续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6118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结构体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97764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第7讲 · 后续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54864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56235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函数指针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9893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第12讲 · 插件框架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2286000" y="1645920"/>
            <a:ext cx="256032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828800" y="3566160"/>
            <a:ext cx="301752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760720" y="1645920"/>
            <a:ext cx="338328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60720" y="3566160"/>
            <a:ext cx="338328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03520" y="3840480"/>
            <a:ext cx="640080" cy="210312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指针 = 地址 + 类型 —— 让函数能修改调用者的变量，消灭全局变量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什么是指针？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内存就像一栋酒店——房间号就是地址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08860"/>
            <a:ext cx="2560320" cy="2720340"/>
          </a:xfrm>
          <a:prstGeom prst="roundRect">
            <a:avLst>
              <a:gd name="adj" fmla="val 5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571500" y="1828800"/>
            <a:ext cx="2880360" cy="800100"/>
          </a:xfrm>
          <a:prstGeom prst="triangl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568" y="278892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19656" y="278892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23744" y="278892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15568" y="342900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19656" y="342900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23744" y="342900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5568" y="406908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19656" y="406908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23744" y="4069080"/>
            <a:ext cx="480060" cy="416052"/>
          </a:xfrm>
          <a:prstGeom prst="roundRect">
            <a:avLst>
              <a:gd name="adj" fmla="val 2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55648" y="4133088"/>
            <a:ext cx="512064" cy="896112"/>
          </a:xfrm>
          <a:prstGeom prst="roundRect">
            <a:avLst>
              <a:gd name="adj" fmla="val 3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91740" y="1988820"/>
            <a:ext cx="8001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1740" y="2020824"/>
            <a:ext cx="8001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C3E50"/>
                </a:solidFill>
                <a:latin typeface="微软雅黑"/>
              </a:rPr>
              <a:t>A123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每个房间有编号（地址）
每个房间住着客人（数据）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645920"/>
            <a:ext cx="7040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1645920"/>
            <a:ext cx="7040880" cy="50292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71907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内存酒店 · 房间分布图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331720"/>
            <a:ext cx="164592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42316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4ECDC4"/>
                </a:solidFill>
                <a:latin typeface="微软雅黑"/>
              </a:rPr>
              <a:t>0x7FFF0000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3317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4231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1000.0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4231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balance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3017520"/>
            <a:ext cx="164592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10896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4ECDC4"/>
                </a:solidFill>
                <a:latin typeface="微软雅黑"/>
              </a:rPr>
              <a:t>0x7FFF0008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0175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1089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089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3703320"/>
            <a:ext cx="164592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79476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4ECDC4"/>
                </a:solidFill>
                <a:latin typeface="微软雅黑"/>
              </a:rPr>
              <a:t>0x7FFF0010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37033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7947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3.14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7947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4389120"/>
            <a:ext cx="164592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48056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4ECDC4"/>
                </a:solidFill>
                <a:latin typeface="微软雅黑"/>
              </a:rPr>
              <a:t>0x7FFF0018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43891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4805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'A'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4805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5074920"/>
            <a:ext cx="164592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516636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4ECDC4"/>
                </a:solidFill>
                <a:latin typeface="微软雅黑"/>
              </a:rPr>
              <a:t>0x7FFF0020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50749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1663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0x7FFF0000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1663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p_balance (指针!)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5989320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8C42"/>
                </a:solidFill>
                <a:latin typeface="微软雅黑"/>
              </a:rPr>
              <a:t>p_balance 存的不是数据，是 balance 的地址！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指针变量的定义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int* p = &amp;a —— 一行代码三种含义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828800"/>
            <a:ext cx="941832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01168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6BCB77"/>
                </a:solidFill>
                <a:latin typeface="微软雅黑"/>
              </a:rPr>
              <a:t>int*  p  =  &amp;a;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17520" y="3017520"/>
            <a:ext cx="274320" cy="365760"/>
          </a:xfrm>
          <a:prstGeom prst="downArrow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320" y="347472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5204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4B9FF"/>
                </a:solidFill>
                <a:latin typeface="微软雅黑"/>
              </a:rPr>
              <a:t>int*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指针类型
指向 int 的指针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029200" y="3017520"/>
            <a:ext cx="274320" cy="365760"/>
          </a:xfrm>
          <a:prstGeom prst="down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347472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5204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6B6B"/>
                </a:solidFill>
                <a:latin typeface="微软雅黑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319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指针变量名
p_ 前缀表示指针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675120" y="3017520"/>
            <a:ext cx="274320" cy="36576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F8C8D"/>
                </a:solidFill>
                <a:latin typeface="微软雅黑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319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赋值
把地址赋给指针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229600" y="3017520"/>
            <a:ext cx="274320" cy="365760"/>
          </a:xfrm>
          <a:prstGeom prst="down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347472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5204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D93D"/>
                </a:solidFill>
                <a:latin typeface="微软雅黑"/>
              </a:rPr>
              <a:t>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319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取地址
得到 a 的内存地址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029200"/>
            <a:ext cx="9418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0749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不同类型的指针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44068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48640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int*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7607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解引用读 4字节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544068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48640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double*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7607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解引用读 8字节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544068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548640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char*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7607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解引用读 1字节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两个核心操作：&amp; 和 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取地址 = 问房间号，解引用 = 拿钥匙开门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303520" cy="64008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取地址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51760"/>
            <a:ext cx="4754880" cy="64008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B9FF"/>
                </a:solidFill>
                <a:latin typeface="微软雅黑"/>
              </a:rPr>
              <a:t>你住哪个房间？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int a = 42;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int* p = &amp;a;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// p 得到 a 的地址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从变量 → 得到地址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530352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7452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解引用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651760"/>
            <a:ext cx="4754880" cy="64008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697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6B6B"/>
                </a:solidFill>
                <a:latin typeface="微软雅黑"/>
              </a:rPr>
              <a:t>按房间号去找人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int b = *p;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404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// b =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2062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*p = 100;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720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// a 变成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0352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从地址 → 得到变量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619963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&amp; 和 * 是互逆操作：*(&amp;a) == a，&amp;(*p) == 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指针作为函数参数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解决值传递的局限 —— 让函数能修改调用者的变量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值传递 —— 改不了！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void add_one(int x)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79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    x = x + 1;  // 改副本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39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4B9FF"/>
                </a:solidFill>
                <a:latin typeface="微软雅黑"/>
              </a:rPr>
              <a:t>int a = 10;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4B9FF"/>
                </a:solidFill>
                <a:latin typeface="微软雅黑"/>
              </a:rPr>
              <a:t>add_one(a);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printf("%d", a);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// 输出: 10  没变!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3035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6B6B"/>
                </a:solidFill>
                <a:latin typeface="微软雅黑"/>
              </a:rPr>
              <a:t>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4592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645920"/>
            <a:ext cx="5303520" cy="50292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19072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指针传递 —— 改成功!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31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void add_one(int* p)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697479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    *p = *p + 1;  // 改原件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63239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290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947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4B9FF"/>
                </a:solidFill>
                <a:latin typeface="微软雅黑"/>
              </a:rPr>
              <a:t>int a = 10;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1605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4B9FF"/>
                </a:solidFill>
                <a:latin typeface="微软雅黑"/>
              </a:rPr>
              <a:t>add_one(&amp;a);  // 传地址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5262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printf("%d", a);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8920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// 输出: 11  变了!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53035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BCB77"/>
                </a:solidFill>
                <a:latin typeface="微软雅黑"/>
              </a:rPr>
              <a:t>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64240" cy="45720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值传递 = 给复印件    指针传递 = 给钥匙 —— 钥匙能打开保险箱改原件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指针与数组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数组名就是指针 —— arr[i] 等价于 *(arr+i)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3736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微软雅黑"/>
              </a:rPr>
              <a:t>int arr[5] = {10, 20, 30, 40, 50};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1945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arr[0]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addr+0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1945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2860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5176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arr[1]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5468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addr+4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1945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2860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5176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arr[2]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15468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addr+8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945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2860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5176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arr[3]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5468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addr+12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1945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2860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65176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arr[4]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15468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addr+16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3931920"/>
            <a:ext cx="9418320" cy="731520"/>
          </a:xfrm>
          <a:prstGeom prst="roundRect">
            <a:avLst>
              <a:gd name="adj" fmla="val 2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977639"/>
            <a:ext cx="9418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arr[i]  ==  *(arr + i)      下标写法  ==  指针写法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846320"/>
            <a:ext cx="8503920" cy="3200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48463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特性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8463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数组名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463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指针变量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21208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本质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21208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地址常量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21208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变量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5778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能否赋值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5778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不能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5778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59436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sizeof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94360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数组大小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94360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指针大小(8字节)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内存模型简图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程序运行时，内存分为四个区域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5029200" cy="836127360000"/>
          </a:xfrm>
          <a:prstGeom prst="roundRect">
            <a:avLst>
              <a:gd name="adj" fmla="val 10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代码区 (Text)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663440" cy="836126994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函数的机器指令
只读，程序运行期间存在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836129005920"/>
            <a:ext cx="5029200" cy="10451592000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83612905164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全局区 (Data/BSS)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836129325960"/>
            <a:ext cx="4663440" cy="1045158834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全局变量、静态变量
程序启动到结束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881288205920"/>
            <a:ext cx="5029200" cy="125419104000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88128825164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栈区 (Stack)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81288525960"/>
            <a:ext cx="4663440" cy="1254190674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局部变量、函数参数
函数调用到返回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135479245920"/>
            <a:ext cx="5029200" cy="104515920000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13547929164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堆区 (Heap)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35479565960"/>
            <a:ext cx="4663440" cy="1045158834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malloc 分配的内存
手动分配回收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737360"/>
            <a:ext cx="137160" cy="1005840"/>
          </a:xfrm>
          <a:prstGeom prst="rect">
            <a:avLst/>
          </a:prstGeom>
          <a:solidFill>
            <a:srgbClr val="A29BFE"/>
          </a:solidFill>
          <a:ln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7830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29BFE"/>
                </a:solidFill>
                <a:latin typeface="微软雅黑"/>
              </a:rPr>
              <a:t>代码区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03120"/>
            <a:ext cx="4572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存放函数的机器指令
只读，程序运行期间存在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88036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880360"/>
            <a:ext cx="137160" cy="10058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  <a:latin typeface="微软雅黑"/>
              </a:rPr>
              <a:t>全局区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46120"/>
            <a:ext cx="4572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全局变量、静态变量
第3讲的 g_balance 在这里
第5讲没有全局变量了!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023360"/>
            <a:ext cx="137160" cy="1005840"/>
          </a:xfrm>
          <a:prstGeom prst="rect">
            <a:avLst/>
          </a:prstGeom>
          <a:solidFill>
            <a:srgbClr val="4ECDC4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0690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ECDC4"/>
                </a:solidFill>
                <a:latin typeface="微软雅黑"/>
              </a:rPr>
              <a:t>栈区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389120"/>
            <a:ext cx="4572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局部变量、函数参数
第5讲的 balance 在这里
指针参数 p_balance 也在这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6636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166360"/>
            <a:ext cx="137160" cy="1005840"/>
          </a:xfrm>
          <a:prstGeom prst="rect">
            <a:avLst/>
          </a:prstGeom>
          <a:solidFill>
            <a:srgbClr val="FFD93D"/>
          </a:solidFill>
          <a:ln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2120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D93D"/>
                </a:solidFill>
                <a:latin typeface="微软雅黑"/>
              </a:rPr>
              <a:t>堆区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532120"/>
            <a:ext cx="4572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malloc 分配的内存
手动分配，手动回收
不用指针没法操作堆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943600"/>
            <a:ext cx="103327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016752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第5讲消灭了全局区里的 g_balance —— 余额搬到了栈区的 main 函数里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ATM 指针版对比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全局变量 vs 指针 —— 从公共牧场到钥匙授权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第3讲：全局变量版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double g_balance = 1000.0;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1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26663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void deposit(void)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74136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    g_balance += amount;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    // 直接改全局变量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79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4024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11496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deposit();  // 看不出依赖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微软雅黑"/>
              </a:rPr>
              <a:t>X 谁都能改，改乱了找谁？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微软雅黑"/>
              </a:rPr>
              <a:t>X 隐藏依赖，参数列表看不出来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微软雅黑"/>
              </a:rPr>
              <a:t>X 搬到别的程序要带全局变量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4592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645920"/>
            <a:ext cx="5303520" cy="50292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719072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第5讲：指针版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331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余额在 main 中（局部变量）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679191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double balance = 1000.0;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026663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74136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void deposit(double* p)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2160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    if (p == NULL) return;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79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    *p += amount;  // 通过指针改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416552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764024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11496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deposit(&amp;balance);  // 显式传地址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0292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微软雅黑"/>
              </a:rPr>
              <a:t>OK 余额只在 main 中可见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3492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微软雅黑"/>
              </a:rPr>
              <a:t>OK 函数参数明确声明依赖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6692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微软雅黑"/>
              </a:rPr>
              <a:t>OK const 保护 + NULL 检查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126480"/>
            <a:ext cx="11064240" cy="45720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全局变量 = 钥匙挂在走廊墙上    指针传参 = 钥匙在 main 手里，谁用谁借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函数指针（预告）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今天学数据指针，后面学函数指针 —— 插件框架的钥匙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6517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651760" cy="54864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数据指针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指向变量的地址
int* p = 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4B9FF"/>
                </a:solidFill>
                <a:latin typeface="微软雅黑"/>
              </a:rPr>
              <a:t>今天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54680" y="30175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2011680"/>
            <a:ext cx="26517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011680"/>
            <a:ext cx="2651760" cy="54864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031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函数指针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指向函数的地址
void (*f)(double*)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6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A29BFE"/>
                </a:solidFill>
                <a:latin typeface="微软雅黑"/>
              </a:rPr>
              <a:t>第12讲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80760" y="30175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011680"/>
            <a:ext cx="26517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011680"/>
            <a:ext cx="265176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回调函数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把函数当参数传
register(deposit)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6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6B6B"/>
                </a:solidFill>
                <a:latin typeface="微软雅黑"/>
              </a:rPr>
              <a:t>第12讲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30175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2011680"/>
            <a:ext cx="26517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011680"/>
            <a:ext cx="2651760" cy="54864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1031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插件框架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7432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动态注册功能
新增功能不改主程序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02336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BCB77"/>
                </a:solidFill>
                <a:latin typeface="微软雅黑"/>
              </a:rPr>
              <a:t>第13-14讲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484632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493776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函数指针数组：把函数当数据存 —— 不用 switch 了！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25780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void (*ops[])(double*) = {NULL, query_balance, deposit, withdraw, transfer};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57784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D93D"/>
                </a:solidFill>
                <a:latin typeface="微软雅黑"/>
              </a:rPr>
              <a:t>ops[choice](&amp;balance);  // 一行替代整个 switch！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897880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  <a:latin typeface="微软雅黑"/>
              </a:rPr>
              <a:t>// 这就是插件框架的雏形 —— 从程序员到架构师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思考题 · 往深了想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没有标准答案，重要的是思考过程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832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659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指针是灵魂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2834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为什么说指针是C语言的灵魂？
没有指针会失去什么能力？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86200"/>
            <a:ext cx="2834640" cy="36576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答案见课件文档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828800"/>
            <a:ext cx="33832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828800"/>
            <a:ext cx="3383280" cy="54864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9659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值传递vs指针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60320"/>
            <a:ext cx="2834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值传递和指针传递的
本质区别是什么？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886200"/>
            <a:ext cx="2834640" cy="36576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31920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答案见课件文档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828800"/>
            <a:ext cx="33832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338328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920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659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数组名vs指针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560320"/>
            <a:ext cx="2834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数组名和指针有什么
联系和区别？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886200"/>
            <a:ext cx="2834640" cy="36576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931920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答案见课件文档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114800"/>
            <a:ext cx="64008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4114800"/>
            <a:ext cx="640080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4206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25196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NULL检查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46320"/>
            <a:ext cx="5852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空指针(NULL)是什么？
为什么要检查NULL？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5440680"/>
            <a:ext cx="5852160" cy="36576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5486400"/>
            <a:ext cx="5852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答案见课件文档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6126480"/>
            <a:ext cx="6400800" cy="45720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617220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带着问题学下一讲——数组与字符串，你会理解得更深！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指针 = 地址 —— 消灭全局变量，让数据共享更安全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第5讲 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64592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D93D"/>
                </a:solidFill>
                <a:latin typeface="微软雅黑"/>
              </a:rPr>
              <a:t>一句话总结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指针就是地址 —— 通过地址，函数可以修改调用者的变量，
消灭全局变量，让数据共享更安全、更可控。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82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82880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291840"/>
            <a:ext cx="548640" cy="548640"/>
          </a:xfrm>
          <a:prstGeom prst="ellipse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指针的本质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343400"/>
            <a:ext cx="731520" cy="36576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存地址的变量
内存的房间号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108960"/>
            <a:ext cx="182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3108960"/>
            <a:ext cx="18288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63240" y="329184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33375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931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取地址 &amp;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4343400"/>
            <a:ext cx="73152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448056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从变量得到地址
你住哪个房间？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108960"/>
            <a:ext cx="182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108960"/>
            <a:ext cx="182880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0" y="3291840"/>
            <a:ext cx="548640" cy="5486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3375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931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解引用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4343400"/>
            <a:ext cx="73152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48056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从地址得到变量
按房间号找人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79" y="3108960"/>
            <a:ext cx="182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79" y="3108960"/>
            <a:ext cx="182880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95159" y="3291840"/>
            <a:ext cx="548640" cy="54864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59" y="33375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3931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指针传参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3719" y="4343400"/>
            <a:ext cx="731520" cy="3657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19" y="448056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函数能改外部变量
消灭全局变量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3108960"/>
            <a:ext cx="182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3108960"/>
            <a:ext cx="182880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61120" y="3291840"/>
            <a:ext cx="548640" cy="54864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33375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931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指针与数组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4343400"/>
            <a:ext cx="731520" cy="36576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48056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数组名就是指针
arr[i] = *(arr+i)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87000" y="3108960"/>
            <a:ext cx="182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8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87000" y="3108960"/>
            <a:ext cx="1828800" cy="73152"/>
          </a:xfrm>
          <a:prstGeom prst="rect">
            <a:avLst/>
          </a:prstGeom>
          <a:solidFill>
            <a:srgbClr val="FF8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27080" y="3291840"/>
            <a:ext cx="548640" cy="548640"/>
          </a:xfrm>
          <a:prstGeom prst="ellipse">
            <a:avLst/>
          </a:prstGeom>
          <a:solidFill>
            <a:srgbClr val="FF8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27080" y="33375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931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函数指针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35640" y="4343400"/>
            <a:ext cx="731520" cy="36576"/>
          </a:xfrm>
          <a:prstGeom prst="rect">
            <a:avLst/>
          </a:prstGeom>
          <a:solidFill>
            <a:srgbClr val="FF8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8440" y="448056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指向函数的地址
插件框架的钥匙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0" y="5669280"/>
            <a:ext cx="6675120" cy="7315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0" y="5760720"/>
            <a:ext cx="6675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下一讲：数组与字符串 —— 把同类数据打包在一起！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