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114800"/>
            <a:ext cx="4114800" cy="411480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4572000"/>
            <a:ext cx="2286000" cy="2286000"/>
          </a:xfrm>
          <a:prstGeom prst="ellipse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941832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28800" y="2286000"/>
            <a:ext cx="50292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2286000"/>
            <a:ext cx="502920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450592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8C42"/>
                </a:solidFill>
                <a:latin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20" y="2834640"/>
            <a:ext cx="411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  <a:latin typeface="微软雅黑"/>
              </a:rPr>
              <a:t>1000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04822" y="3584448"/>
            <a:ext cx="150876" cy="7315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31720" y="2286000"/>
            <a:ext cx="50292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31720" y="2286000"/>
            <a:ext cx="502920" cy="109728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1720" y="2450592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4ECDC4"/>
                </a:solidFill>
                <a:latin typeface="微软雅黑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834640"/>
            <a:ext cx="411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  <a:latin typeface="微软雅黑"/>
              </a:rPr>
              <a:t>2000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07742" y="3584448"/>
            <a:ext cx="150876" cy="7315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2286000"/>
            <a:ext cx="50292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34640" y="2286000"/>
            <a:ext cx="502920" cy="109728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0" y="2450592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D93D"/>
                </a:solidFill>
                <a:latin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2834640"/>
            <a:ext cx="411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  <a:latin typeface="微软雅黑"/>
              </a:rPr>
              <a:t>500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10662" y="3584448"/>
            <a:ext cx="150876" cy="7315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337560" y="2286000"/>
            <a:ext cx="50292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37560" y="2286000"/>
            <a:ext cx="502920" cy="109728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7560" y="2450592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CB77"/>
                </a:solidFill>
                <a:latin typeface="微软雅黑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2834640"/>
            <a:ext cx="411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  <a:latin typeface="微软雅黑"/>
              </a:rPr>
              <a:t>3000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13582" y="3584448"/>
            <a:ext cx="150876" cy="7315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40480" y="2286000"/>
            <a:ext cx="50292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0" y="2286000"/>
            <a:ext cx="502920" cy="109728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0" y="2450592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A29BFE"/>
                </a:solidFill>
                <a:latin typeface="微软雅黑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834640"/>
            <a:ext cx="411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  <a:latin typeface="微软雅黑"/>
              </a:rPr>
              <a:t>1500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16502" y="3584448"/>
            <a:ext cx="150876" cy="7315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0" y="3931920"/>
            <a:ext cx="2926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7F8C8D"/>
                </a:solidFill>
                <a:latin typeface="微软雅黑"/>
              </a:rPr>
              <a:t>一排储物柜 = 一个数组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2103120"/>
            <a:ext cx="5486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200" b="1">
                <a:solidFill>
                  <a:srgbClr val="2C3E50"/>
                </a:solidFill>
                <a:latin typeface="微软雅黑"/>
              </a:rPr>
              <a:t>第6讲：数组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301752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8C42"/>
                </a:solidFill>
                <a:latin typeface="微软雅黑"/>
              </a:rPr>
              <a:t>批量数据的容器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03520" y="3749039"/>
            <a:ext cx="1371600" cy="54864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0" y="393192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7F8C8D"/>
                </a:solidFill>
                <a:latin typeface="微软雅黑"/>
              </a:rPr>
              <a:t>《从程序员到架构师》· C语言插件框架演进之旅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438912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微软雅黑"/>
              </a:rPr>
              <a:t>一维数组 · 字符数组 · 数组与指针 · 二维数组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937760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6B6B"/>
                </a:solidFill>
                <a:latin typeface="微软雅黑"/>
              </a:rPr>
              <a:t>06 /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第6讲 数组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🗺️ 知识图谱 · 第6讲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本讲在整个知识体系中的位置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第6讲 数组</a:t>
            </a:r>
          </a:p>
        </p:txBody>
      </p:sp>
      <p:sp>
        <p:nvSpPr>
          <p:cNvPr id="9" name="Oval 8"/>
          <p:cNvSpPr/>
          <p:nvPr/>
        </p:nvSpPr>
        <p:spPr>
          <a:xfrm>
            <a:off x="3931920" y="2468880"/>
            <a:ext cx="2743200" cy="27432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297680" y="2834640"/>
            <a:ext cx="2011680" cy="201168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14800" y="2880360"/>
            <a:ext cx="2377440" cy="1005840"/>
          </a:xfrm>
          <a:prstGeom prst="roundRect">
            <a:avLst>
              <a:gd name="adj" fmla="val 30000"/>
            </a:avLst>
          </a:prstGeom>
          <a:solidFill>
            <a:srgbClr val="4ECDC4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2971800"/>
            <a:ext cx="2377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微软雅黑"/>
              </a:rPr>
              <a:t>📦 数组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474720"/>
            <a:ext cx="2377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微软雅黑"/>
              </a:rPr>
              <a:t>（第6讲 核心）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118872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1325880"/>
            <a:ext cx="548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128016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2C3E50"/>
                </a:solidFill>
                <a:latin typeface="微软雅黑"/>
              </a:rPr>
              <a:t>指针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164592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  <a:latin typeface="微软雅黑"/>
              </a:rPr>
              <a:t>第5讲 · 前置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47472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611880"/>
            <a:ext cx="548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56616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2C3E50"/>
                </a:solidFill>
                <a:latin typeface="微软雅黑"/>
              </a:rPr>
              <a:t>for循环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93192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  <a:latin typeface="微软雅黑"/>
              </a:rPr>
              <a:t>第2讲 · 前置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118872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1325880"/>
            <a:ext cx="548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128016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2C3E50"/>
                </a:solidFill>
                <a:latin typeface="微软雅黑"/>
              </a:rPr>
              <a:t>结构体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164592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  <a:latin typeface="微软雅黑"/>
              </a:rPr>
              <a:t>→ 第7讲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347472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3611880"/>
            <a:ext cx="548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56616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2C3E50"/>
                </a:solidFill>
                <a:latin typeface="微软雅黑"/>
              </a:rPr>
              <a:t>链表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93192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  <a:latin typeface="微软雅黑"/>
              </a:rPr>
              <a:t>→ 第8讲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46320" y="548640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0" y="5623560"/>
            <a:ext cx="548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557784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2C3E50"/>
                </a:solidFill>
                <a:latin typeface="微软雅黑"/>
              </a:rPr>
              <a:t>ATM多账户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594360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  <a:latin typeface="微软雅黑"/>
              </a:rPr>
              <a:t>本讲实战案例</a:t>
            </a:r>
          </a:p>
        </p:txBody>
      </p:sp>
      <p:cxnSp>
        <p:nvCxnSpPr>
          <p:cNvPr id="34" name="Connector 33"/>
          <p:cNvCxnSpPr/>
          <p:nvPr/>
        </p:nvCxnSpPr>
        <p:spPr>
          <a:xfrm flipH="1" flipV="1">
            <a:off x="2743200" y="1645920"/>
            <a:ext cx="2103120" cy="173736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828800" y="3566160"/>
            <a:ext cx="3017520" cy="36576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760720" y="1645920"/>
            <a:ext cx="3200400" cy="173736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760720" y="3566160"/>
            <a:ext cx="3200400" cy="36576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303520" y="3840480"/>
            <a:ext cx="640080" cy="210312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371600" y="5943600"/>
            <a:ext cx="9418320" cy="548640"/>
          </a:xfrm>
          <a:prstGeom prst="roundRect">
            <a:avLst>
              <a:gd name="adj" fmla="val 30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6016752"/>
            <a:ext cx="9418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💡 数组是从'单变量'到'数据结构'的第一步——衔接指针，预告结构体和链表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🗄️ 为什么需要数组？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从'一堆便利贴'到'一排储物柜'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第6讲 数组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502920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5029200" cy="5029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5029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😵 单变量时代的痛苦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60320"/>
            <a:ext cx="2103120" cy="457200"/>
          </a:xfrm>
          <a:prstGeom prst="roundRect">
            <a:avLst>
              <a:gd name="adj" fmla="val 15000"/>
            </a:avLst>
          </a:prstGeom>
          <a:solidFill>
            <a:srgbClr val="FF6B6B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2103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balance1 = 1000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3154680"/>
            <a:ext cx="2103120" cy="457200"/>
          </a:xfrm>
          <a:prstGeom prst="roundRect">
            <a:avLst>
              <a:gd name="adj" fmla="val 15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8960" y="3200400"/>
            <a:ext cx="2103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balance2 = 2000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49040"/>
            <a:ext cx="2103120" cy="457200"/>
          </a:xfrm>
          <a:prstGeom prst="roundRect">
            <a:avLst>
              <a:gd name="adj" fmla="val 15000"/>
            </a:avLst>
          </a:prstGeom>
          <a:solidFill>
            <a:srgbClr val="4ECDC4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794760"/>
            <a:ext cx="2103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balance3 = 500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08960" y="4343400"/>
            <a:ext cx="2103120" cy="457200"/>
          </a:xfrm>
          <a:prstGeom prst="roundRect">
            <a:avLst>
              <a:gd name="adj" fmla="val 15000"/>
            </a:avLst>
          </a:prstGeom>
          <a:solidFill>
            <a:srgbClr val="A29BFE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0" y="4389120"/>
            <a:ext cx="2103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balance4 = 3000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937760"/>
            <a:ext cx="2103120" cy="457200"/>
          </a:xfrm>
          <a:prstGeom prst="roundRect">
            <a:avLst>
              <a:gd name="adj" fmla="val 15000"/>
            </a:avLst>
          </a:prstGeom>
          <a:solidFill>
            <a:srgbClr val="FF85A6"/>
          </a:solidFill>
          <a:ln w="25400">
            <a:solidFill>
              <a:srgbClr val="FF8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983480"/>
            <a:ext cx="2103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balance5 = 1500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486400"/>
            <a:ext cx="4572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6B6B"/>
                </a:solidFill>
                <a:latin typeface="微软雅黑"/>
              </a:rPr>
              <a:t>100个账户？定义100个变量...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828800"/>
            <a:ext cx="530352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828800"/>
            <a:ext cx="5303520" cy="50292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901952"/>
            <a:ext cx="53035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😌 数组时代的清爽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2743200"/>
            <a:ext cx="77724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0" y="2743200"/>
            <a:ext cx="777240" cy="10972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2907792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6B6B"/>
                </a:solidFill>
                <a:latin typeface="微软雅黑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3291840"/>
            <a:ext cx="685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  <a:latin typeface="微软雅黑"/>
              </a:rPr>
              <a:t>1000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7154" y="4224528"/>
            <a:ext cx="233172" cy="7315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452360" y="2743200"/>
            <a:ext cx="77724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52360" y="2743200"/>
            <a:ext cx="777240" cy="109728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52360" y="2907792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D93D"/>
                </a:solidFill>
                <a:latin typeface="微软雅黑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0" y="3291840"/>
            <a:ext cx="685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  <a:latin typeface="微软雅黑"/>
              </a:rPr>
              <a:t>2000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4394" y="4224528"/>
            <a:ext cx="233172" cy="7315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29600" y="2743200"/>
            <a:ext cx="77724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0" y="2743200"/>
            <a:ext cx="777240" cy="109728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2907792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4ECDC4"/>
                </a:solidFill>
                <a:latin typeface="微软雅黑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291840"/>
            <a:ext cx="685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  <a:latin typeface="微软雅黑"/>
              </a:rPr>
              <a:t>500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01634" y="4224528"/>
            <a:ext cx="233172" cy="7315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006840" y="2743200"/>
            <a:ext cx="77724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06840" y="2743200"/>
            <a:ext cx="777240" cy="109728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06840" y="2907792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A29BFE"/>
                </a:solidFill>
                <a:latin typeface="微软雅黑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3291840"/>
            <a:ext cx="685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  <a:latin typeface="微软雅黑"/>
              </a:rPr>
              <a:t>3000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78874" y="4224528"/>
            <a:ext cx="233172" cy="7315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784080" y="2743200"/>
            <a:ext cx="77724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784080" y="2743200"/>
            <a:ext cx="777240" cy="109728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84080" y="2907792"/>
            <a:ext cx="777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CB77"/>
                </a:solidFill>
                <a:latin typeface="微软雅黑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29800" y="3291840"/>
            <a:ext cx="685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  <a:latin typeface="微软雅黑"/>
              </a:rPr>
              <a:t>1500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056114" y="4224528"/>
            <a:ext cx="233172" cy="7315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92240" y="4663440"/>
            <a:ext cx="4754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4ECDC4"/>
                </a:solidFill>
                <a:latin typeface="微软雅黑"/>
              </a:rPr>
              <a:t>balances[5] = {1000, 2000, 500, 3000, 1500};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5120640"/>
            <a:ext cx="4754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一个名字 + 编号 = 管理一整组数据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5486400" y="3474720"/>
            <a:ext cx="731520" cy="457200"/>
          </a:xfrm>
          <a:prstGeom prst="rightArrow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371600" y="5943600"/>
            <a:ext cx="9418320" cy="548640"/>
          </a:xfrm>
          <a:prstGeom prst="roundRect">
            <a:avLst>
              <a:gd name="adj" fmla="val 30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600" y="6016752"/>
            <a:ext cx="9418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🏆 金句：数组就是用'一个名字 + 一个编号'管理一组同类型数据——从便利贴到储物柜！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📋 一维数组：定义与初始化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类型 数组名[元素个数] = {值列表};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第6讲 数组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698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37360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2C3E50"/>
                </a:solidFill>
                <a:latin typeface="微软雅黑"/>
              </a:rPr>
              <a:t>语法：类型  数组名[元素个数] = {值1, 值2, ...};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194560"/>
            <a:ext cx="2286000" cy="640080"/>
          </a:xfrm>
          <a:prstGeom prst="roundRect">
            <a:avLst>
              <a:gd name="adj" fmla="val 20000"/>
            </a:avLst>
          </a:prstGeom>
          <a:solidFill>
            <a:srgbClr val="6BCB77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240280"/>
            <a:ext cx="2286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double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560320"/>
            <a:ext cx="2286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</a:rPr>
              <a:t>类型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39" y="2194560"/>
            <a:ext cx="2286000" cy="640080"/>
          </a:xfrm>
          <a:prstGeom prst="roundRect">
            <a:avLst>
              <a:gd name="adj" fmla="val 20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2240280"/>
            <a:ext cx="2286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balances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560320"/>
            <a:ext cx="2286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</a:rPr>
              <a:t>数组名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194560"/>
            <a:ext cx="2286000" cy="640080"/>
          </a:xfrm>
          <a:prstGeom prst="roundRect">
            <a:avLst>
              <a:gd name="adj" fmla="val 20000"/>
            </a:avLst>
          </a:prstGeom>
          <a:solidFill>
            <a:srgbClr val="FF6B6B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240280"/>
            <a:ext cx="2286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[5]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60320"/>
            <a:ext cx="2286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</a:rPr>
              <a:t>元素个数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59" y="2194560"/>
            <a:ext cx="2286000" cy="640080"/>
          </a:xfrm>
          <a:prstGeom prst="roundRect">
            <a:avLst>
              <a:gd name="adj" fmla="val 20000"/>
            </a:avLst>
          </a:prstGeom>
          <a:solidFill>
            <a:srgbClr val="A29BFE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59" y="2240280"/>
            <a:ext cx="2286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{1000, 2000, ...}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2560320"/>
            <a:ext cx="2286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</a:rPr>
              <a:t>初始值列表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657600"/>
            <a:ext cx="265176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657600"/>
            <a:ext cx="2651760" cy="73152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840480"/>
            <a:ext cx="2651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  <a:latin typeface="微软雅黑"/>
              </a:rPr>
              <a:t>完全初始化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BCB77"/>
                </a:solidFill>
                <a:latin typeface="微软雅黑"/>
              </a:rPr>
              <a:t>double arr[5] = {1, 2, 3, 4, 5};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80160" y="4983480"/>
            <a:ext cx="1188720" cy="27432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120640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5个值对应5个元素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9000" y="3657600"/>
            <a:ext cx="265176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29000" y="3657600"/>
            <a:ext cx="2651760" cy="73152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29000" y="3840480"/>
            <a:ext cx="2651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  <a:latin typeface="微软雅黑"/>
              </a:rPr>
              <a:t>部分初始化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4343400"/>
            <a:ext cx="2377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D93D"/>
                </a:solidFill>
                <a:latin typeface="微软雅黑"/>
              </a:rPr>
              <a:t>int arr[5] = {1, 2, 3};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4983480"/>
            <a:ext cx="1188720" cy="27432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66160" y="5120640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只给3个，其余自动补0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59" y="3657600"/>
            <a:ext cx="265176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59" y="3657600"/>
            <a:ext cx="2651760" cy="73152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59" y="3840480"/>
            <a:ext cx="2651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  <a:latin typeface="微软雅黑"/>
              </a:rPr>
              <a:t>省略大小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19" y="4343400"/>
            <a:ext cx="2377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4ECDC4"/>
                </a:solidFill>
                <a:latin typeface="微软雅黑"/>
              </a:rPr>
              <a:t>int arr[] = {10, 20, 30};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40879" y="4983480"/>
            <a:ext cx="1188720" cy="27432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6519" y="5120640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编译器自动数 = 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89719" y="3657600"/>
            <a:ext cx="265176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89719" y="3657600"/>
            <a:ext cx="2651760" cy="73152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19" y="3840480"/>
            <a:ext cx="2651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  <a:latin typeface="微软雅黑"/>
              </a:rPr>
              <a:t>全部清零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79" y="4343400"/>
            <a:ext cx="2377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A29BFE"/>
                </a:solidFill>
                <a:latin typeface="微软雅黑"/>
              </a:rPr>
              <a:t>int arr[5] = {0};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921239" y="4983480"/>
            <a:ext cx="1188720" cy="27432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26879" y="5120640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全部初始化为0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371600" y="5943600"/>
            <a:ext cx="9418320" cy="502920"/>
          </a:xfrm>
          <a:prstGeom prst="roundRect">
            <a:avLst>
              <a:gd name="adj" fmla="val 30000"/>
            </a:avLst>
          </a:prstGeom>
          <a:solidFill>
            <a:srgbClr val="FF6B6B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71600" y="6007608"/>
            <a:ext cx="9418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⚠️ 索引从 0 开始！arr[5] 有5个元素，索引是 0~4，没有 arr[5]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🔄 数组遍历：for + 数组 = 天作之合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第2讲的 for 循环终于找到了主场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第6讲 数组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C3E50"/>
                </a:solidFill>
                <a:latin typeface="微软雅黑"/>
              </a:rPr>
              <a:t>double balances[5] 内存布局：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743200"/>
            <a:ext cx="82296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88920"/>
            <a:ext cx="822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1000.0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20440"/>
            <a:ext cx="822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[0]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468880"/>
            <a:ext cx="8229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0x1000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20" y="2743200"/>
            <a:ext cx="82296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2788920"/>
            <a:ext cx="822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2000.0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520440"/>
            <a:ext cx="822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[1]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468880"/>
            <a:ext cx="8229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0x1008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68880" y="2743200"/>
            <a:ext cx="82296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2788920"/>
            <a:ext cx="822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500.0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3520440"/>
            <a:ext cx="822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[2]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2468880"/>
            <a:ext cx="8229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0x1010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2743200"/>
            <a:ext cx="82296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2788920"/>
            <a:ext cx="822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3000.0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520440"/>
            <a:ext cx="822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2468880"/>
            <a:ext cx="8229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0x1018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0" y="2743200"/>
            <a:ext cx="82296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2788920"/>
            <a:ext cx="822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1500.0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3520440"/>
            <a:ext cx="822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[4]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2468880"/>
            <a:ext cx="8229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0x1020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1051560" y="3566160"/>
            <a:ext cx="365760" cy="274320"/>
          </a:xfrm>
          <a:prstGeom prst="downArrow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1874520" y="3566160"/>
            <a:ext cx="365760" cy="274320"/>
          </a:xfrm>
          <a:prstGeom prst="downArrow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wn Arrow 31"/>
          <p:cNvSpPr/>
          <p:nvPr/>
        </p:nvSpPr>
        <p:spPr>
          <a:xfrm>
            <a:off x="2697480" y="3566160"/>
            <a:ext cx="365760" cy="274320"/>
          </a:xfrm>
          <a:prstGeom prst="downArrow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3520440" y="3566160"/>
            <a:ext cx="365760" cy="274320"/>
          </a:xfrm>
          <a:prstGeom prst="downArrow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4343400" y="3566160"/>
            <a:ext cx="365760" cy="274320"/>
          </a:xfrm>
          <a:prstGeom prst="downArrow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02336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8C42"/>
                </a:solidFill>
                <a:latin typeface="微软雅黑"/>
              </a:rPr>
              <a:t>i = 0 → 1 → 2 → 3 → 4，逐个访问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0" y="1828800"/>
            <a:ext cx="594360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0" y="1828800"/>
            <a:ext cx="5943600" cy="36576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806440" y="1901952"/>
            <a:ext cx="164592" cy="16459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80759" y="1901952"/>
            <a:ext cx="164592" cy="164592"/>
          </a:xfrm>
          <a:prstGeom prst="ellipse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55080" y="1901952"/>
            <a:ext cx="164592" cy="164592"/>
          </a:xfrm>
          <a:prstGeom prst="ellipse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66560" y="184708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for_loop_array.c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0" y="2286000"/>
            <a:ext cx="5394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Consolas"/>
              </a:rPr>
              <a:t>// 第2讲：for 循环打印5次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0" y="2578608"/>
            <a:ext cx="5394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4B9FF"/>
                </a:solidFill>
                <a:latin typeface="Consolas"/>
              </a:rPr>
              <a:t>for (i = 0; i &lt; 5; i++) {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2871216"/>
            <a:ext cx="5394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Consolas"/>
              </a:rPr>
              <a:t>    printf("欢迎光临！\n");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3163824"/>
            <a:ext cx="5394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4B9FF"/>
                </a:solidFill>
                <a:latin typeface="Consolas"/>
              </a:rPr>
              <a:t>}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3456432"/>
            <a:ext cx="5394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Consolas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35040" y="3749040"/>
            <a:ext cx="5394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D93D"/>
                </a:solidFill>
                <a:latin typeface="Consolas"/>
              </a:rPr>
              <a:t>// 第6讲：for 循环遍历数组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0" y="4041648"/>
            <a:ext cx="5394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8C42"/>
                </a:solidFill>
                <a:latin typeface="Consolas"/>
              </a:rPr>
              <a:t>for (i = 0; i &lt; 5; i++) {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4334256"/>
            <a:ext cx="5394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Consolas"/>
              </a:rPr>
              <a:t>    printf("%.2f\n", balances[i]);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0" y="4626864"/>
            <a:ext cx="5394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8C42"/>
                </a:solidFill>
                <a:latin typeface="Consolas"/>
              </a:rPr>
              <a:t>}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0" y="4919472"/>
            <a:ext cx="5394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Consolas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0" y="5212080"/>
            <a:ext cx="5394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4ECDC4"/>
                </a:solidFill>
                <a:latin typeface="Consolas"/>
              </a:rPr>
              <a:t>// 模式完全一样！i 从0到4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4400" y="5669280"/>
            <a:ext cx="10332720" cy="731520"/>
          </a:xfrm>
          <a:prstGeom prst="roundRect">
            <a:avLst>
              <a:gd name="adj" fmla="val 30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4400" y="5760720"/>
            <a:ext cx="103327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2C3E50"/>
                </a:solidFill>
                <a:latin typeface="微软雅黑"/>
              </a:rPr>
              <a:t>💡 for 循环的三件套 i=0（初始化）、i&lt;5（条件）、i++（更新）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" y="6035040"/>
            <a:ext cx="103327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</a:rPr>
              <a:t>天然匹配数组的 0~N-1 索引范围——这就是'天作之合'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🔤 字符数组与字符串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C语言没有 string 类型，字符串 = 字符数组 + '\0'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第6讲 数组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C3E50"/>
                </a:solidFill>
                <a:latin typeface="微软雅黑"/>
              </a:rPr>
              <a:t>char name[] = "张三"; 的内存布局：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94560"/>
            <a:ext cx="100584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1005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6BCB77"/>
                </a:solidFill>
                <a:latin typeface="微软雅黑"/>
              </a:rPr>
              <a:t>'张'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5176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[0]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2194560"/>
            <a:ext cx="100584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2240280"/>
            <a:ext cx="1005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6BCB77"/>
                </a:solidFill>
                <a:latin typeface="微软雅黑"/>
              </a:rPr>
              <a:t>'三'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65176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[1]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26080" y="2194560"/>
            <a:ext cx="100584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0" y="2240280"/>
            <a:ext cx="1005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6B6B"/>
                </a:solidFill>
                <a:latin typeface="微软雅黑"/>
              </a:rPr>
              <a:t>'\0'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265176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[2]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59" y="2194560"/>
            <a:ext cx="100584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59" y="2240280"/>
            <a:ext cx="1005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7F8C8D"/>
                </a:solidFill>
                <a:latin typeface="微软雅黑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59" y="265176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[3]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2194560"/>
            <a:ext cx="100584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2240280"/>
            <a:ext cx="1005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7F8C8D"/>
                </a:solidFill>
                <a:latin typeface="微软雅黑"/>
              </a:rPr>
              <a:t>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265176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[4]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2743200" y="3108960"/>
            <a:ext cx="365760" cy="274320"/>
          </a:xfrm>
          <a:prstGeom prst="downArrow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1680" y="3474720"/>
            <a:ext cx="2286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6B6B"/>
                </a:solidFill>
                <a:latin typeface="微软雅黑"/>
              </a:rPr>
              <a:t>↑ 字符串结束标志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0" y="1828800"/>
            <a:ext cx="56692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43600" y="1828800"/>
            <a:ext cx="5669280" cy="41148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1874519"/>
            <a:ext cx="5669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📝 有无 '\0' 的区别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2377440"/>
            <a:ext cx="52120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CB77"/>
                </a:solidFill>
                <a:latin typeface="Consolas"/>
              </a:rPr>
              <a:t>char a[] = "Wang";   ✅ 自动加 '\0'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651760"/>
            <a:ext cx="52120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6B6B"/>
                </a:solidFill>
                <a:latin typeface="Consolas"/>
              </a:rPr>
              <a:t>char b[4] = {'W','a','n','g'};  ❌ 没有 '\0'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926080"/>
            <a:ext cx="52120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CB77"/>
                </a:solidFill>
                <a:latin typeface="Consolas"/>
              </a:rPr>
              <a:t>char c[5] = {'W','a','n','g','\0'};  ✅ 手动加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3200400"/>
            <a:ext cx="52120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Consolas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474720"/>
            <a:ext cx="52120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6B6B"/>
                </a:solidFill>
                <a:latin typeface="Consolas"/>
              </a:rPr>
              <a:t>printf("%s", b);  → 输出 Wang 后继续读...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3749039"/>
            <a:ext cx="52120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6B6B"/>
                </a:solidFill>
                <a:latin typeface="Consolas"/>
              </a:rPr>
              <a:t>                      可能输出乱码！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4389120"/>
            <a:ext cx="10698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4389120"/>
            <a:ext cx="10698480" cy="411480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4434840"/>
            <a:ext cx="10698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🏦 ATM 中的二维字符数组（字符串数组）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937760"/>
            <a:ext cx="10058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29BFE"/>
                </a:solidFill>
                <a:latin typeface="Consolas"/>
              </a:rPr>
              <a:t>char account_names[5][20] = {"张三", "李四", "王五", "赵六", "钱七"};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257800"/>
            <a:ext cx="10058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Consolas"/>
              </a:rPr>
              <a:t>// 5个账户名，每个最多20字符（含\0），本质是"数组的数组"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577840"/>
            <a:ext cx="10058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Consolas"/>
              </a:rPr>
              <a:t>printf("%s", account_names[2]);  // 输出：王五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📥 数组作为函数参数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数组传参时退化为指针——只传地址，不复制数据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第6讲 数组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698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37360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  <a:latin typeface="微软雅黑"/>
              </a:rPr>
              <a:t>以下三种写法完全等价——编译器眼里都是 int 指针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194560"/>
            <a:ext cx="3291840" cy="822960"/>
          </a:xfrm>
          <a:prstGeom prst="roundRect">
            <a:avLst>
              <a:gd name="adj" fmla="val 15000"/>
            </a:avLst>
          </a:prstGeom>
          <a:solidFill>
            <a:srgbClr val="6BCB77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240280"/>
            <a:ext cx="3108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void func(int arr[10], int 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51760"/>
            <a:ext cx="3108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</a:rPr>
              <a:t>看着像传数组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194560"/>
            <a:ext cx="3291840" cy="822960"/>
          </a:xfrm>
          <a:prstGeom prst="roundRect">
            <a:avLst>
              <a:gd name="adj" fmla="val 15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240280"/>
            <a:ext cx="3108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void func(int arr[], int 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651760"/>
            <a:ext cx="3108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</a:rPr>
              <a:t>省略大小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194560"/>
            <a:ext cx="3291840" cy="822960"/>
          </a:xfrm>
          <a:prstGeom prst="roundRect">
            <a:avLst>
              <a:gd name="adj" fmla="val 15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2240280"/>
            <a:ext cx="3108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void func(int *arr, int 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651760"/>
            <a:ext cx="3108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</a:rPr>
              <a:t>实际就是指针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657600"/>
            <a:ext cx="50292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703320"/>
            <a:ext cx="5029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🤔 为什么退化？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25196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• 复制 1000 个元素的数组？太浪费内存和时间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636008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• 只传首地址（4或8字节），高效！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020056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• 代价：函数不知道数组有多长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404104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</a:rPr>
              <a:t>• 所以需要额外传一个长度参数 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657600"/>
            <a:ext cx="52120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657600"/>
            <a:ext cx="5212080" cy="4572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3703320"/>
            <a:ext cx="5212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⚠️ sizeof 的陷阱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251960"/>
            <a:ext cx="4754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Consolas"/>
              </a:rPr>
              <a:t>sizeof(arr)  → 40（外部）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617720"/>
            <a:ext cx="4754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6B6B"/>
                </a:solidFill>
                <a:latin typeface="Consolas"/>
              </a:rPr>
              <a:t>sizeof(arr)  → 4 或 8（函数内）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983480"/>
            <a:ext cx="4754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Consolas"/>
              </a:rPr>
              <a:t>// 退化成指针后 sizeof 返回指针大小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349240"/>
            <a:ext cx="4754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6B6B"/>
                </a:solidFill>
                <a:latin typeface="Consolas"/>
              </a:rPr>
              <a:t>// 千万别在函数里用 sizeof 算长度！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71600" y="6217920"/>
            <a:ext cx="9418320" cy="502920"/>
          </a:xfrm>
          <a:prstGeom prst="roundRect">
            <a:avLst>
              <a:gd name="adj" fmla="val 30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71600" y="6281928"/>
            <a:ext cx="9418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💡 数组传参 = 传地址 + 传长度，缺一不可！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🔗 数组与指针的关系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数组名 = 首元素地址，arr[i] 等价于 *(arr+i)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第6讲 数组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69848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91640"/>
            <a:ext cx="10698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🔍 arr[i] 就是 *(arr + i)，编译器内部就是这么实现的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2377440"/>
            <a:ext cx="164592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2423160"/>
            <a:ext cx="1645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063240"/>
            <a:ext cx="1645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[0]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103120"/>
            <a:ext cx="1645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0x1000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17520" y="2377440"/>
            <a:ext cx="164592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2423160"/>
            <a:ext cx="1645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63240"/>
            <a:ext cx="1645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[1]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2103120"/>
            <a:ext cx="1645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0x1004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2377440"/>
            <a:ext cx="164592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0" y="2423160"/>
            <a:ext cx="1645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063240"/>
            <a:ext cx="1645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[2]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2103120"/>
            <a:ext cx="1645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0x1008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2377440"/>
            <a:ext cx="164592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423160"/>
            <a:ext cx="1645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063240"/>
            <a:ext cx="1645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[3]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103120"/>
            <a:ext cx="1645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0x100C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55280" y="2377440"/>
            <a:ext cx="164592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80" y="2423160"/>
            <a:ext cx="1645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3063240"/>
            <a:ext cx="1645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  <a:latin typeface="微软雅黑"/>
              </a:rPr>
              <a:t>[4]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0" y="2103120"/>
            <a:ext cx="1645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0x1010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3474720"/>
            <a:ext cx="2286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8C42"/>
                </a:solidFill>
                <a:latin typeface="微软雅黑"/>
              </a:rPr>
              <a:t>arr = &amp;arr[0] → 0x1000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3474720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6BCB77"/>
                </a:solidFill>
                <a:latin typeface="微软雅黑"/>
              </a:rPr>
              <a:t>arr+2 → 0x1008 → *(arr+2)=30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474720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6B6B"/>
                </a:solidFill>
                <a:latin typeface="微软雅黑"/>
              </a:rPr>
              <a:t>arr+4 → 0x1010 → *(arr+4)=50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4480560"/>
            <a:ext cx="2286000" cy="292608"/>
          </a:xfrm>
          <a:prstGeom prst="roundRect">
            <a:avLst>
              <a:gd name="adj" fmla="val 10000"/>
            </a:avLst>
          </a:prstGeom>
          <a:solidFill>
            <a:srgbClr val="2C3E50"/>
          </a:solidFill>
          <a:ln w="254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4507992"/>
            <a:ext cx="22860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区别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1840" y="4480560"/>
            <a:ext cx="4114800" cy="292608"/>
          </a:xfrm>
          <a:prstGeom prst="roundRect">
            <a:avLst>
              <a:gd name="adj" fmla="val 10000"/>
            </a:avLst>
          </a:prstGeom>
          <a:solidFill>
            <a:srgbClr val="2C3E50"/>
          </a:solidFill>
          <a:ln w="254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91840" y="4507992"/>
            <a:ext cx="4114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数组名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98079" y="4480560"/>
            <a:ext cx="4114800" cy="292608"/>
          </a:xfrm>
          <a:prstGeom prst="roundRect">
            <a:avLst>
              <a:gd name="adj" fmla="val 10000"/>
            </a:avLst>
          </a:prstGeom>
          <a:solidFill>
            <a:srgbClr val="2C3E50"/>
          </a:solidFill>
          <a:ln w="254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98079" y="4507992"/>
            <a:ext cx="4114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指针变量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" y="4800600"/>
            <a:ext cx="2286000" cy="29260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4828032"/>
            <a:ext cx="22860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本质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91840" y="4800600"/>
            <a:ext cx="4114800" cy="29260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91840" y="4828032"/>
            <a:ext cx="4114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地址常量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98079" y="4800600"/>
            <a:ext cx="4114800" cy="29260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98079" y="4828032"/>
            <a:ext cx="4114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地址变量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4400" y="5120640"/>
            <a:ext cx="2286000" cy="29260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5148072"/>
            <a:ext cx="22860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sizeof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1840" y="5120640"/>
            <a:ext cx="4114800" cy="29260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91840" y="5148072"/>
            <a:ext cx="4114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整个数组大小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79" y="5120640"/>
            <a:ext cx="4114800" cy="29260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98079" y="5148072"/>
            <a:ext cx="4114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指针大小(4/8)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4400" y="5440679"/>
            <a:ext cx="2286000" cy="29260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4400" y="5468111"/>
            <a:ext cx="22860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++自增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91840" y="5440679"/>
            <a:ext cx="4114800" cy="29260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91840" y="5468111"/>
            <a:ext cx="4114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❌ 不行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498079" y="5440679"/>
            <a:ext cx="4114800" cy="29260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98079" y="5468111"/>
            <a:ext cx="4114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✅ 可以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4400" y="5760720"/>
            <a:ext cx="2286000" cy="29260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5788152"/>
            <a:ext cx="22860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=赋值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91840" y="5760720"/>
            <a:ext cx="4114800" cy="29260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91840" y="5788152"/>
            <a:ext cx="4114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❌ 不行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98079" y="5760720"/>
            <a:ext cx="4114800" cy="292608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79" y="5788152"/>
            <a:ext cx="41148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微软雅黑"/>
              </a:rPr>
              <a:t>✅ 可以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371600" y="6217920"/>
            <a:ext cx="9418320" cy="502920"/>
          </a:xfrm>
          <a:prstGeom prst="roundRect">
            <a:avLst>
              <a:gd name="adj" fmla="val 30000"/>
            </a:avLst>
          </a:prstGeom>
          <a:solidFill>
            <a:srgbClr val="4ECDC4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71600" y="6281928"/>
            <a:ext cx="9418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💡 数组名是'钉死的地址标签'，指针是'可以移动的地址标签'——访问元素时等价，身份不同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📊 二维数组简介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数组的数组——有行有列的表格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第6讲 数组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502920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5029200" cy="457200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5029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📊 二维数组 = 表格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2560320"/>
            <a:ext cx="914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651760"/>
            <a:ext cx="914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74B9FF"/>
                </a:solidFill>
                <a:latin typeface="微软雅黑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2560320"/>
            <a:ext cx="914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2651760"/>
            <a:ext cx="914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74B9FF"/>
                </a:solidFill>
                <a:latin typeface="微软雅黑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17520" y="2560320"/>
            <a:ext cx="914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2651760"/>
            <a:ext cx="914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74B9FF"/>
                </a:solidFill>
                <a:latin typeface="微软雅黑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2560320"/>
            <a:ext cx="914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0" y="2651760"/>
            <a:ext cx="914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74B9FF"/>
                </a:solidFill>
                <a:latin typeface="微软雅黑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3337560"/>
            <a:ext cx="914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429000"/>
            <a:ext cx="914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4ECDC4"/>
                </a:solidFill>
                <a:latin typeface="微软雅黑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0" y="3337560"/>
            <a:ext cx="914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1680" y="3429000"/>
            <a:ext cx="914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4ECDC4"/>
                </a:solidFill>
                <a:latin typeface="微软雅黑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17520" y="3337560"/>
            <a:ext cx="914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3429000"/>
            <a:ext cx="914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4ECDC4"/>
                </a:solidFill>
                <a:latin typeface="微软雅黑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3337560"/>
            <a:ext cx="914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0" y="3429000"/>
            <a:ext cx="914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4ECDC4"/>
                </a:solidFill>
                <a:latin typeface="微软雅黑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" y="4114800"/>
            <a:ext cx="914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06240"/>
            <a:ext cx="914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A29BFE"/>
                </a:solidFill>
                <a:latin typeface="微软雅黑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11680" y="4114800"/>
            <a:ext cx="914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11680" y="4206240"/>
            <a:ext cx="914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A29BFE"/>
                </a:solidFill>
                <a:latin typeface="微软雅黑"/>
              </a:rPr>
              <a:t>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17520" y="4114800"/>
            <a:ext cx="914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4206240"/>
            <a:ext cx="914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A29BFE"/>
                </a:solidFill>
                <a:latin typeface="微软雅黑"/>
              </a:rPr>
              <a:t>11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4114800"/>
            <a:ext cx="914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23360" y="4206240"/>
            <a:ext cx="914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A29BFE"/>
                </a:solidFill>
                <a:latin typeface="微软雅黑"/>
              </a:rP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93776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6BCB77"/>
                </a:solidFill>
                <a:latin typeface="微软雅黑"/>
              </a:rPr>
              <a:t>matrix[1][2] → 第1行第2列 = 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303520"/>
            <a:ext cx="457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行索引在前，列索引在后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0" y="1828800"/>
            <a:ext cx="5669280" cy="41148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0" y="1828800"/>
            <a:ext cx="5669280" cy="36576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80760" y="1901952"/>
            <a:ext cx="164592" cy="16459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55079" y="1901952"/>
            <a:ext cx="164592" cy="164592"/>
          </a:xfrm>
          <a:prstGeom prst="ellipse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629400" y="1901952"/>
            <a:ext cx="164592" cy="164592"/>
          </a:xfrm>
          <a:prstGeom prst="ellipse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40880" y="184708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2d_array.c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2286000"/>
            <a:ext cx="51206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Consolas"/>
              </a:rPr>
              <a:t>// 定义 3行4列 二维数组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2578608"/>
            <a:ext cx="51206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4B9FF"/>
                </a:solidFill>
                <a:latin typeface="Consolas"/>
              </a:rPr>
              <a:t>int matrix[3][4] = {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2871216"/>
            <a:ext cx="51206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Consolas"/>
              </a:rPr>
              <a:t>    {1, 2, 3, 4},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3163824"/>
            <a:ext cx="51206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Consolas"/>
              </a:rPr>
              <a:t>    {5, 6, 7, 8},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3456432"/>
            <a:ext cx="51206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Consolas"/>
              </a:rPr>
              <a:t>    {9, 10, 11, 12}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3749040"/>
            <a:ext cx="51206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4B9FF"/>
                </a:solidFill>
                <a:latin typeface="Consolas"/>
              </a:rPr>
              <a:t>};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4041648"/>
            <a:ext cx="51206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Consolas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334256"/>
            <a:ext cx="51206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Consolas"/>
              </a:rPr>
              <a:t>// 二维字符数组 = 字符串数组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4626864"/>
            <a:ext cx="51206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29BFE"/>
                </a:solidFill>
                <a:latin typeface="Consolas"/>
              </a:rPr>
              <a:t>char names[5][20] = {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0" y="4919472"/>
            <a:ext cx="51206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Consolas"/>
              </a:rPr>
              <a:t>    "张三", "李四", "王五",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9360" y="5212080"/>
            <a:ext cx="51206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CB77"/>
                </a:solidFill>
                <a:latin typeface="Consolas"/>
              </a:rPr>
              <a:t>    "赵六", "钱七"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5504687"/>
            <a:ext cx="51206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29BFE"/>
                </a:solidFill>
                <a:latin typeface="Consolas"/>
              </a:rPr>
              <a:t>};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71600" y="6126480"/>
            <a:ext cx="9418320" cy="502920"/>
          </a:xfrm>
          <a:prstGeom prst="roundRect">
            <a:avLst>
              <a:gd name="adj" fmla="val 30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71600" y="6190488"/>
            <a:ext cx="9418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💡 二维数组在内存中仍是连续排列的（行优先存储）——本质还是一维的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🏦 ATM 交易记录数组实战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用数组管理多账户 + 记录最近10笔交易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第6讲 数组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41148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4114800" cy="4572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🏧 多账户管理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86000"/>
            <a:ext cx="3749039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2359152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377440"/>
            <a:ext cx="320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33172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张三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331720"/>
            <a:ext cx="1645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FF8C42"/>
                </a:solidFill>
                <a:latin typeface="微软雅黑"/>
              </a:rPr>
              <a:t>余额: 1000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880360"/>
            <a:ext cx="3749039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60" y="2953512"/>
            <a:ext cx="320040" cy="32004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971800"/>
            <a:ext cx="320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292608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李四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2926080"/>
            <a:ext cx="1645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4ECDC4"/>
                </a:solidFill>
                <a:latin typeface="微软雅黑"/>
              </a:rPr>
              <a:t>余额: 2000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474720"/>
            <a:ext cx="3749039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2960" y="3547872"/>
            <a:ext cx="320040" cy="320040"/>
          </a:xfrm>
          <a:prstGeom prst="ellipse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566160"/>
            <a:ext cx="320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35204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王五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3520440"/>
            <a:ext cx="1645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FFD93D"/>
                </a:solidFill>
                <a:latin typeface="微软雅黑"/>
              </a:rPr>
              <a:t>余额: 500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069080"/>
            <a:ext cx="3749039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2960" y="4142232"/>
            <a:ext cx="320040" cy="320040"/>
          </a:xfrm>
          <a:prstGeom prst="ellipse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160520"/>
            <a:ext cx="320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11480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赵六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4114800"/>
            <a:ext cx="1645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A29BFE"/>
                </a:solidFill>
                <a:latin typeface="微软雅黑"/>
              </a:rPr>
              <a:t>余额: 3000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663440"/>
            <a:ext cx="3749039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2960" y="4736592"/>
            <a:ext cx="320040" cy="320040"/>
          </a:xfrm>
          <a:prstGeom prst="ellipse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754880"/>
            <a:ext cx="320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470916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钱七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51760" y="4709160"/>
            <a:ext cx="1645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6BCB77"/>
                </a:solidFill>
                <a:latin typeface="微软雅黑"/>
              </a:rPr>
              <a:t>余额: 1500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0" y="1645920"/>
            <a:ext cx="658368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0" y="1645920"/>
            <a:ext cx="6583680" cy="4572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0" y="1691640"/>
            <a:ext cx="6583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📝 交易记录数组（循环缓冲区）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286000"/>
            <a:ext cx="6217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trans_amounts[10] —— 最近10笔交易：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12080" y="2743200"/>
            <a:ext cx="566928" cy="640080"/>
          </a:xfrm>
          <a:prstGeom prst="roundRect">
            <a:avLst>
              <a:gd name="adj" fmla="val 10000"/>
            </a:avLst>
          </a:prstGeom>
          <a:solidFill>
            <a:srgbClr val="6BCB77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2788920"/>
            <a:ext cx="56692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C3E50"/>
                </a:solidFill>
                <a:latin typeface="微软雅黑"/>
              </a:rPr>
              <a:t>500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2080" y="3154680"/>
            <a:ext cx="566928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[0]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833872" y="2743200"/>
            <a:ext cx="566928" cy="640080"/>
          </a:xfrm>
          <a:prstGeom prst="roundRect">
            <a:avLst>
              <a:gd name="adj" fmla="val 10000"/>
            </a:avLst>
          </a:prstGeom>
          <a:solidFill>
            <a:srgbClr val="6BCB77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33872" y="2788920"/>
            <a:ext cx="56692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C3E50"/>
                </a:solidFill>
                <a:latin typeface="微软雅黑"/>
              </a:rPr>
              <a:t>200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33872" y="3154680"/>
            <a:ext cx="566928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[1]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55664" y="2743200"/>
            <a:ext cx="566928" cy="640080"/>
          </a:xfrm>
          <a:prstGeom prst="roundRect">
            <a:avLst>
              <a:gd name="adj" fmla="val 10000"/>
            </a:avLst>
          </a:prstGeom>
          <a:solidFill>
            <a:srgbClr val="6BCB77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2788920"/>
            <a:ext cx="56692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C3E50"/>
                </a:solidFill>
                <a:latin typeface="微软雅黑"/>
              </a:rPr>
              <a:t>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3154680"/>
            <a:ext cx="566928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[2]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077456" y="2743200"/>
            <a:ext cx="566928" cy="6400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77456" y="2788920"/>
            <a:ext cx="56692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7F8C8D"/>
                </a:solidFill>
                <a:latin typeface="微软雅黑"/>
              </a:rPr>
              <a:t>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77456" y="3154680"/>
            <a:ext cx="566928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[3]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699248" y="2743200"/>
            <a:ext cx="566928" cy="6400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99248" y="2788920"/>
            <a:ext cx="56692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7F8C8D"/>
                </a:solidFill>
                <a:latin typeface="微软雅黑"/>
              </a:rPr>
              <a:t>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99248" y="3154680"/>
            <a:ext cx="566928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[4]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321040" y="2743200"/>
            <a:ext cx="566928" cy="6400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2788920"/>
            <a:ext cx="56692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7F8C8D"/>
                </a:solidFill>
                <a:latin typeface="微软雅黑"/>
              </a:rPr>
              <a:t>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154680"/>
            <a:ext cx="566928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[5]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42832" y="2743200"/>
            <a:ext cx="566928" cy="6400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42832" y="2788920"/>
            <a:ext cx="56692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7F8C8D"/>
                </a:solidFill>
                <a:latin typeface="微软雅黑"/>
              </a:rPr>
              <a:t>?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42832" y="3154680"/>
            <a:ext cx="566928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[6]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564624" y="2743200"/>
            <a:ext cx="566928" cy="6400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64624" y="2788920"/>
            <a:ext cx="56692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7F8C8D"/>
                </a:solidFill>
                <a:latin typeface="微软雅黑"/>
              </a:rPr>
              <a:t>?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64624" y="3154680"/>
            <a:ext cx="566928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[7]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186416" y="2743200"/>
            <a:ext cx="566928" cy="6400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86416" y="2788920"/>
            <a:ext cx="56692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7F8C8D"/>
                </a:solidFill>
                <a:latin typeface="微软雅黑"/>
              </a:rPr>
              <a:t>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86416" y="3154680"/>
            <a:ext cx="566928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[8]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808208" y="2743200"/>
            <a:ext cx="566928" cy="6400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808208" y="2788920"/>
            <a:ext cx="56692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7F8C8D"/>
                </a:solidFill>
                <a:latin typeface="微软雅黑"/>
              </a:rPr>
              <a:t>?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08208" y="3154680"/>
            <a:ext cx="566928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7F8C8D"/>
                </a:solidFill>
                <a:latin typeface="微软雅黑"/>
              </a:rPr>
              <a:t>[9]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12080" y="3657600"/>
            <a:ext cx="6217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6B6B"/>
                </a:solidFill>
                <a:latin typeface="微软雅黑"/>
              </a:rPr>
              <a:t>第11笔 → 覆盖 [0]（取模 %10 实现循环）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03520" y="4114800"/>
            <a:ext cx="5943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6B6B"/>
                </a:solidFill>
                <a:latin typeface="Consolas"/>
              </a:rPr>
              <a:t>void add_transaction(double amt, int type) {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03520" y="4389120"/>
            <a:ext cx="5943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CB77"/>
                </a:solidFill>
                <a:latin typeface="Consolas"/>
              </a:rPr>
              <a:t>    int slot = trans_count % 10;  // 循环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03520" y="4663440"/>
            <a:ext cx="5943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4B9FF"/>
                </a:solidFill>
                <a:latin typeface="Consolas"/>
              </a:rPr>
              <a:t>    trans_amounts[slot] = amt;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4937760"/>
            <a:ext cx="5943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4B9FF"/>
                </a:solidFill>
                <a:latin typeface="Consolas"/>
              </a:rPr>
              <a:t>    trans_types[slot] = type;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03520" y="5212080"/>
            <a:ext cx="5943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29BFE"/>
                </a:solidFill>
                <a:latin typeface="Consolas"/>
              </a:rPr>
              <a:t>    trans_count++;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03520" y="5486400"/>
            <a:ext cx="5943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6B6B"/>
                </a:solidFill>
                <a:latin typeface="Consolas"/>
              </a:rPr>
              <a:t>}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14400" y="5943600"/>
            <a:ext cx="10332720" cy="548640"/>
          </a:xfrm>
          <a:prstGeom prst="roundRect">
            <a:avLst>
              <a:gd name="adj" fmla="val 30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4400" y="6016752"/>
            <a:ext cx="10332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🏆 从'只能管1个账户+忘了交易'到'管理5个账户+记住10笔交易'——数组的威力！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🤔 思考题 · 往深了想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没有标准答案，重要的是思考过程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第6讲 数组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2560320" cy="3474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2560320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057400"/>
            <a:ext cx="25603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0">
                <a:solidFill>
                  <a:srgbClr val="2C3E50"/>
                </a:solidFill>
                <a:latin typeface="微软雅黑"/>
              </a:rP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08960"/>
            <a:ext cx="2286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数组名 vs 指针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3840480"/>
            <a:ext cx="1097280" cy="3657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023360"/>
            <a:ext cx="22860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它们大部分时候可以互换
但有两个关键区别你知道吗？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1828800"/>
            <a:ext cx="2560320" cy="3474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20440" y="1828800"/>
            <a:ext cx="2560320" cy="73152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2057400"/>
            <a:ext cx="25603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0">
                <a:solidFill>
                  <a:srgbClr val="2C3E50"/>
                </a:solidFill>
                <a:latin typeface="微软雅黑"/>
              </a:rPr>
              <a:t>⚠️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108960"/>
            <a:ext cx="2286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为什么不做
越界检查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3840480"/>
            <a:ext cx="1097280" cy="36576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4023360"/>
            <a:ext cx="22860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arr[100]（只有5个元素）
编译不报错，是bug还是特性？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1828800"/>
            <a:ext cx="2560320" cy="3474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1828800"/>
            <a:ext cx="2560320" cy="73152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057400"/>
            <a:ext cx="25603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0">
                <a:solidFill>
                  <a:srgbClr val="2C3E50"/>
                </a:solidFill>
                <a:latin typeface="微软雅黑"/>
              </a:rPr>
              <a:t>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108960"/>
            <a:ext cx="2286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为什么要加
'\0'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23760" y="3840480"/>
            <a:ext cx="109728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023360"/>
            <a:ext cx="22860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字符数组末尾的'\0'
到底是什么？不加会怎样？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64040" y="1828800"/>
            <a:ext cx="2560320" cy="3474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64040" y="1828800"/>
            <a:ext cx="2560320" cy="7315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64040" y="2057400"/>
            <a:ext cx="25603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0">
                <a:solidFill>
                  <a:srgbClr val="2C3E50"/>
                </a:solidFill>
                <a:latin typeface="微软雅黑"/>
              </a:rPr>
              <a:t>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108960"/>
            <a:ext cx="2286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固定大小
怎么解决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95560" y="3840480"/>
            <a:ext cx="1097280" cy="36576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0" y="4023360"/>
            <a:ext cx="22860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数组大小定死了
想动态扩容怎么办？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371600" y="5669280"/>
            <a:ext cx="9418320" cy="822960"/>
          </a:xfrm>
          <a:prstGeom prst="roundRect">
            <a:avLst>
              <a:gd name="adj" fmla="val 30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0" y="5760720"/>
            <a:ext cx="9418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  <a:latin typeface="微软雅黑"/>
              </a:rPr>
              <a:t>🌟 数组是从'单变量'到'数据结构'的第一步。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6126480"/>
            <a:ext cx="94183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7F8C8D"/>
                </a:solidFill>
                <a:latin typeface="微软雅黑"/>
              </a:rPr>
              <a:t>带着这些问题学习下一讲——结构体和链表，你会理解得更深刻！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📝 小结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数组——批量数据的容器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第6讲 数组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1645920"/>
            <a:ext cx="9418320" cy="1005840"/>
          </a:xfrm>
          <a:prstGeom prst="roundRect">
            <a:avLst>
              <a:gd name="adj" fmla="val 8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737360"/>
            <a:ext cx="9418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D93D"/>
                </a:solidFill>
                <a:latin typeface="微软雅黑"/>
              </a:rPr>
              <a:t>🎯 一句话总结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05740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数组是用'一个名字 + 一个索引'管理一组同类型数据的容器——
连续内存、随机访问、固定大小。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08960"/>
            <a:ext cx="21488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108960"/>
            <a:ext cx="2148840" cy="73152"/>
          </a:xfrm>
          <a:prstGeom prst="rect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91840"/>
            <a:ext cx="2148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2C3E50"/>
                </a:solidFill>
                <a:latin typeface="微软雅黑"/>
              </a:rPr>
              <a:t>1️⃣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2148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2C3E50"/>
                </a:solidFill>
                <a:latin typeface="微软雅黑"/>
              </a:rPr>
              <a:t>一维数组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4434840"/>
            <a:ext cx="685800" cy="36576"/>
          </a:xfrm>
          <a:prstGeom prst="rect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572000"/>
            <a:ext cx="187451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同类型数据
连续集合
索引从0开始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88920" y="3108960"/>
            <a:ext cx="21488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88920" y="3108960"/>
            <a:ext cx="2148840" cy="73152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3291840"/>
            <a:ext cx="2148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2C3E50"/>
                </a:solidFill>
                <a:latin typeface="微软雅黑"/>
              </a:rPr>
              <a:t>2️⃣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931920"/>
            <a:ext cx="2148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2C3E50"/>
                </a:solidFill>
                <a:latin typeface="微软雅黑"/>
              </a:rPr>
              <a:t>数组遍历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20440" y="4434840"/>
            <a:ext cx="685800" cy="36576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0" y="4572000"/>
            <a:ext cx="187451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for循环+数组
天作之合
i从0到N-1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0" y="3108960"/>
            <a:ext cx="21488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3108960"/>
            <a:ext cx="2148840" cy="73152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3291840"/>
            <a:ext cx="2148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2C3E50"/>
                </a:solidFill>
                <a:latin typeface="微软雅黑"/>
              </a:rPr>
              <a:t>3️⃣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3931920"/>
            <a:ext cx="2148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2C3E50"/>
                </a:solidFill>
                <a:latin typeface="微软雅黑"/>
              </a:rPr>
              <a:t>字符数组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0" y="4434840"/>
            <a:ext cx="685800" cy="36576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7800" y="4572000"/>
            <a:ext cx="187451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没有string
字符数组+'\0'
就是字符串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52359" y="3108960"/>
            <a:ext cx="21488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52359" y="3108960"/>
            <a:ext cx="2148840" cy="73152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52359" y="3291840"/>
            <a:ext cx="2148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2C3E50"/>
                </a:solidFill>
                <a:latin typeface="微软雅黑"/>
              </a:rPr>
              <a:t>4️⃣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59" y="3931920"/>
            <a:ext cx="2148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2C3E50"/>
                </a:solidFill>
                <a:latin typeface="微软雅黑"/>
              </a:rPr>
              <a:t>退化为指针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83879" y="4434840"/>
            <a:ext cx="685800" cy="36576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19" y="4572000"/>
            <a:ext cx="187451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传参只传地址
丢失长度信息
需要额外传n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3108960"/>
            <a:ext cx="21488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84080" y="3108960"/>
            <a:ext cx="2148840" cy="7315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84080" y="3291840"/>
            <a:ext cx="2148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2C3E50"/>
                </a:solidFill>
                <a:latin typeface="微软雅黑"/>
              </a:rPr>
              <a:t>5️⃣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3931920"/>
            <a:ext cx="2148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2C3E50"/>
                </a:solidFill>
                <a:latin typeface="微软雅黑"/>
              </a:rPr>
              <a:t>数组与指针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15600" y="4434840"/>
            <a:ext cx="685800" cy="36576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21240" y="4572000"/>
            <a:ext cx="187451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数组名=首地址
arr[i]=*(arr+i)
但身份不同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71600" y="5669280"/>
            <a:ext cx="9418320" cy="777240"/>
          </a:xfrm>
          <a:prstGeom prst="roundRect">
            <a:avLst>
              <a:gd name="adj" fmla="val 30000"/>
            </a:avLst>
          </a:prstGeom>
          <a:solidFill>
            <a:srgbClr val="FF6B6B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71600" y="5760720"/>
            <a:ext cx="9418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</a:rPr>
              <a:t>👉 下一讲：结构体 —— 把平行数组合并，数据打包到一起！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6126480"/>
            <a:ext cx="94183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FFD93D"/>
                </a:solidFill>
                <a:latin typeface="微软雅黑"/>
              </a:rPr>
              <a:t>再下一讲：链表 —— 打破固定大小的局限，动态扩容！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