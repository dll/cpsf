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4114800" cy="41148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572000"/>
            <a:ext cx="2286000" cy="228600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941832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2377440"/>
            <a:ext cx="27432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2377440"/>
            <a:ext cx="2743200" cy="1371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260604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C3E50"/>
                </a:solidFill>
                <a:latin typeface="微软雅黑"/>
              </a:rPr>
              <a:t>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10896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id: 1001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42900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balance: 1000.0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3017520"/>
            <a:ext cx="27432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03120" y="3017520"/>
            <a:ext cx="2743200" cy="13716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324612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C3E50"/>
                </a:solidFill>
                <a:latin typeface="微软雅黑"/>
              </a:rPr>
              <a:t>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74904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id: 1002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06908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balance: 2000.0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3657600"/>
            <a:ext cx="27432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77440" y="3657600"/>
            <a:ext cx="2743200" cy="137160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388620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C3E50"/>
                </a:solidFill>
                <a:latin typeface="微软雅黑"/>
              </a:rPr>
              <a:t>Account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38912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id: 1003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70916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balance: 500.0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29768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7F8C8D"/>
                </a:solidFill>
                <a:latin typeface="微软雅黑"/>
              </a:rPr>
              <a:t>一盒名片 = 一个结构体数组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10312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200" b="1">
                <a:solidFill>
                  <a:srgbClr val="2C3E50"/>
                </a:solidFill>
                <a:latin typeface="微软雅黑"/>
              </a:rPr>
              <a:t>第7讲：结构体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01752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8C42"/>
                </a:solidFill>
                <a:latin typeface="微软雅黑"/>
              </a:rPr>
              <a:t>把相关数据打包到一起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3749039"/>
            <a:ext cx="1371600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3931920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  <a:latin typeface="微软雅黑"/>
              </a:rPr>
              <a:t>《从程序员到架构师》· C语言插件框架演进之旅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389120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微软雅黑"/>
              </a:rPr>
              <a:t>结构体定义 · 成员访问 · 指针传递 · typedef · 数据封装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93776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微软雅黑"/>
              </a:rPr>
              <a:t>07 / 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第7讲 结构体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知识图谱 · 第7讲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本讲在整个知识体系中的位置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第7讲 结构体</a:t>
            </a:r>
          </a:p>
        </p:txBody>
      </p:sp>
      <p:sp>
        <p:nvSpPr>
          <p:cNvPr id="9" name="Oval 8"/>
          <p:cNvSpPr/>
          <p:nvPr/>
        </p:nvSpPr>
        <p:spPr>
          <a:xfrm>
            <a:off x="3931920" y="2468880"/>
            <a:ext cx="2743200" cy="27432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0" y="2834640"/>
            <a:ext cx="2011680" cy="201168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0" y="2880360"/>
            <a:ext cx="2377440" cy="1005840"/>
          </a:xfrm>
          <a:prstGeom prst="roundRect">
            <a:avLst>
              <a:gd name="adj" fmla="val 30000"/>
            </a:avLst>
          </a:prstGeom>
          <a:solidFill>
            <a:srgbClr val="4ECDC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97180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结构体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7472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（第7讲 核心）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11887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132588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  <a:latin typeface="微软雅黑"/>
              </a:rPr>
              <a:t>指针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28016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微软雅黑"/>
              </a:rPr>
              <a:t>指针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164592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</a:rPr>
              <a:t>第5讲 · 前置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747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1188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  <a:latin typeface="微软雅黑"/>
              </a:rPr>
              <a:t>数组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56616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微软雅黑"/>
              </a:rPr>
              <a:t>数组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3192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</a:rPr>
              <a:t>第6讲 · 前置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1887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32588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  <a:latin typeface="微软雅黑"/>
              </a:rPr>
              <a:t>链表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128016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微软雅黑"/>
              </a:rPr>
              <a:t>链表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164592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</a:rPr>
              <a:t>第8讲 · 后续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34747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361188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  <a:latin typeface="微软雅黑"/>
              </a:rPr>
              <a:t>接口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56616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微软雅黑"/>
              </a:rPr>
              <a:t>接口抽象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93192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</a:rPr>
              <a:t>第9讲 · 后续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548640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562356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  <a:latin typeface="微软雅黑"/>
              </a:rPr>
              <a:t>ATM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557784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微软雅黑"/>
              </a:rPr>
              <a:t>ATM账户封装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94360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</a:rPr>
              <a:t>本讲实战案例</a:t>
            </a:r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2743200" y="1645920"/>
            <a:ext cx="2103120" cy="173736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828800" y="3566160"/>
            <a:ext cx="3017520" cy="36576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760720" y="1645920"/>
            <a:ext cx="3200400" cy="173736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760720" y="3566160"/>
            <a:ext cx="3200400" cy="36576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303520" y="3840480"/>
            <a:ext cx="640080" cy="210312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371600" y="5943600"/>
            <a:ext cx="9418320" cy="548640"/>
          </a:xfrm>
          <a:prstGeom prst="roundRect">
            <a:avLst>
              <a:gd name="adj" fmla="val 3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6016752"/>
            <a:ext cx="9418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结构体是从'平行数组'到'数据封装'的关键一步——衔接指针/数组，预告链表/接口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为什么需要结构体？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从'散落的纸条'到'一盒名片'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第7讲 结构体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02920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5029200" cy="5029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第6讲：平行数组太散了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56032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33472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ids[5] = {1001, 1002, ...}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37360" y="324612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3319272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names[5][20] = {"张三", ...}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3192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4ECDC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05072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balances[5] = {1000, ...}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4632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6B6B"/>
                </a:solidFill>
                <a:latin typeface="微软雅黑"/>
              </a:rPr>
              <a:t>三个数组靠索引关联，改一处要同步改三处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1208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微软雅黑"/>
              </a:rPr>
              <a:t>加字段？再加一个数组——越来越乱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828800"/>
            <a:ext cx="530352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828800"/>
            <a:ext cx="5303520" cy="5029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901952"/>
            <a:ext cx="5303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第7讲：结构体打包到一起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25603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0" y="2560320"/>
            <a:ext cx="3657600" cy="41148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260604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struct Account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063240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CB77"/>
                </a:solidFill>
                <a:latin typeface="Consolas"/>
              </a:rPr>
              <a:t>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3063240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Consolas"/>
              </a:rPr>
              <a:t>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429000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8C42"/>
                </a:solidFill>
                <a:latin typeface="Consolas"/>
              </a:rPr>
              <a:t>char[20]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3429000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Consolas"/>
              </a:rPr>
              <a:t>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794760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29BFE"/>
                </a:solidFill>
                <a:latin typeface="Consolas"/>
              </a:rPr>
              <a:t>double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3794760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Consolas"/>
              </a:rPr>
              <a:t>balance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663440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4ECDC4"/>
                </a:solidFill>
                <a:latin typeface="微软雅黑"/>
              </a:rPr>
              <a:t>Account accounts[5] = {{1001,"张三",1000.0}, ...};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120640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</a:rPr>
              <a:t>一个结构体数组 = 一盒名片，整齐不散落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486400" y="3474720"/>
            <a:ext cx="731520" cy="457200"/>
          </a:xfrm>
          <a:prstGeom prst="rightArrow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71600" y="5943600"/>
            <a:ext cx="9418320" cy="548640"/>
          </a:xfrm>
          <a:prstGeom prst="roundRect">
            <a:avLst>
              <a:gd name="adj" fmla="val 3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6016752"/>
            <a:ext cx="9418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结构体 = 数据封装：把相关数据绑在一起，从'散落纸条'到'完整名片'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结构体定义与使用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struct 自定义类型，把相关数据绑在一起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第7讲 结构体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502920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5029200" cy="457200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结构体定义语法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286000"/>
            <a:ext cx="1371600" cy="640080"/>
          </a:xfrm>
          <a:prstGeom prst="roundRect">
            <a:avLst>
              <a:gd name="adj" fmla="val 20000"/>
            </a:avLst>
          </a:prstGeom>
          <a:solidFill>
            <a:srgbClr val="6BCB77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33172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struct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5176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关键字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2286000"/>
            <a:ext cx="1371600" cy="640080"/>
          </a:xfrm>
          <a:prstGeom prst="roundRect">
            <a:avLst>
              <a:gd name="adj" fmla="val 2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233172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Account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65176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标签名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19" y="2286000"/>
            <a:ext cx="1371600" cy="640080"/>
          </a:xfrm>
          <a:prstGeom prst="roundRect">
            <a:avLst>
              <a:gd name="adj" fmla="val 20000"/>
            </a:avLst>
          </a:prstGeom>
          <a:solidFill>
            <a:srgbClr val="A29BFE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19" y="233172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{ ...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19" y="265176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成员列表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10896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struct Account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401568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    int    id;        // 账户ID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694176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8C42"/>
                </a:solidFill>
                <a:latin typeface="Consolas"/>
              </a:rPr>
              <a:t>    char   name[20];  // 账户姓名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986783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29BFE"/>
                </a:solidFill>
                <a:latin typeface="Consolas"/>
              </a:rPr>
              <a:t>    double balance;   // 账户余额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279392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};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57200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onsola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864608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Consolas"/>
              </a:rPr>
              <a:t>// 声明并初始化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157216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Account acc = {1001, "张三", 1000.0};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1645920"/>
            <a:ext cx="274320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1645920"/>
            <a:ext cx="2743200" cy="73152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178308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完全初始化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22402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6BCB77"/>
                </a:solidFill>
                <a:latin typeface="Consolas"/>
              </a:rPr>
              <a:t>{1001, "张三", 1000.0}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2743200"/>
            <a:ext cx="1280160" cy="27432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283464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7F8C8D"/>
                </a:solidFill>
                <a:latin typeface="微软雅黑"/>
              </a:rPr>
              <a:t>按成员顺序赋值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20" y="1645920"/>
            <a:ext cx="274320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61120" y="1645920"/>
            <a:ext cx="2743200" cy="73152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0" y="178308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部分初始化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2402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D93D"/>
                </a:solidFill>
                <a:latin typeface="Consolas"/>
              </a:rPr>
              <a:t>{1002}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92640" y="2743200"/>
            <a:ext cx="1280160" cy="27432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0" y="283464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7F8C8D"/>
                </a:solidFill>
                <a:latin typeface="微软雅黑"/>
              </a:rPr>
              <a:t>只给前几个，其余补0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0" y="3566160"/>
            <a:ext cx="274320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0" y="3566160"/>
            <a:ext cx="2743200" cy="73152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0" y="370332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指定初始化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416052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A29BFE"/>
                </a:solidFill>
                <a:latin typeface="Consolas"/>
              </a:rPr>
              <a:t>{.id=1003, .balance=500}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4663440"/>
            <a:ext cx="1280160" cy="27432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35040" y="475488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7F8C8D"/>
                </a:solidFill>
                <a:latin typeface="微软雅黑"/>
              </a:rPr>
              <a:t>按成员名赋值（C99）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61120" y="3566160"/>
            <a:ext cx="274320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61120" y="3566160"/>
            <a:ext cx="274320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61120" y="370332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先声明后赋值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416052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6B6B"/>
                </a:solidFill>
                <a:latin typeface="Consolas"/>
              </a:rPr>
              <a:t>acc.id=1004; strcpy(...)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92640" y="4663440"/>
            <a:ext cx="128016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52560" y="475488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7F8C8D"/>
                </a:solidFill>
                <a:latin typeface="微软雅黑"/>
              </a:rPr>
              <a:t>逐个成员赋值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371600" y="5943600"/>
            <a:ext cx="9418320" cy="50292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71600" y="6007608"/>
            <a:ext cx="9418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结构体定义只是'图纸'，不占内存；声明变量时才分配内存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成员访问：. 和 -&gt; 的区别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变量用点，指针用箭头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第7讲 结构体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5303520" cy="45720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点号 . —— 变量访问成员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8600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Consolas"/>
              </a:rPr>
              <a:t>Account acc = {1001, "张三", 1000.0};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0604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onsola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2608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acc.id        // 1001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acc.name      // "张三"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acc.balance   // 1000.0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onsola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8C42"/>
                </a:solidFill>
                <a:latin typeface="Consolas"/>
              </a:rPr>
              <a:t>acc.balance += 500;  // 修改成员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64592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645920"/>
            <a:ext cx="5303520" cy="457200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箭头 -&gt; —— 指针访问成员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28600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Consolas"/>
              </a:rPr>
              <a:t>Account* p = &amp;acc;  // p 是指针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60604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onsola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92608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29BFE"/>
                </a:solidFill>
                <a:latin typeface="Consolas"/>
              </a:rPr>
              <a:t>p-&gt;id        // 等价于 (*p).id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24612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29BFE"/>
                </a:solidFill>
                <a:latin typeface="Consolas"/>
              </a:rPr>
              <a:t>p-&gt;name      // 等价于 (*p).name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56616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29BFE"/>
                </a:solidFill>
                <a:latin typeface="Consolas"/>
              </a:rPr>
              <a:t>p-&gt;balance   // 等价于 (*p).balance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88620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onsola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20624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8C42"/>
                </a:solidFill>
                <a:latin typeface="Consolas"/>
              </a:rPr>
              <a:t>p-&gt;balance += 500;  // 通过指针修改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120640"/>
            <a:ext cx="10332720" cy="731520"/>
          </a:xfrm>
          <a:prstGeom prst="roundRect">
            <a:avLst>
              <a:gd name="adj" fmla="val 3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166360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C3E50"/>
                </a:solidFill>
                <a:latin typeface="微软雅黑"/>
              </a:rPr>
              <a:t>记忆口诀：变量用点（.），指针用箭头（-&gt;）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486400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微软雅黑"/>
              </a:rPr>
              <a:t>p-&gt;id 完全等价于 (*p).id，-&gt; 是 (*p). 的语法糖（简写）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943600"/>
            <a:ext cx="10332720" cy="54864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常见错误：acc-&gt;id（错！acc是变量不是指针）  p.id（错！p是指针不是结构体）  *p.id（错！. 优先级高于 *）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结构体指针（衔接第5讲）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一个指针遍历所有信息——对比第6讲的三个指针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第7讲 结构体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502920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502920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第6讲：三个指针同步递增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8600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6B6B"/>
                </a:solidFill>
                <a:latin typeface="Consolas"/>
              </a:rPr>
              <a:t>int    *pid  = account_ids;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0604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6B6B"/>
                </a:solidFill>
                <a:latin typeface="Consolas"/>
              </a:rPr>
              <a:t>char   (*pn)[20] = names;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2608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6B6B"/>
                </a:solidFill>
                <a:latin typeface="Consolas"/>
              </a:rPr>
              <a:t>double *pbal = balances;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Consola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4B9FF"/>
                </a:solidFill>
                <a:latin typeface="Consolas"/>
              </a:rPr>
              <a:t>for (i = 0; i &lt; 5; i++)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CB77"/>
                </a:solidFill>
                <a:latin typeface="Consolas"/>
              </a:rPr>
              <a:t>    printf("%d %s %.2f",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CB77"/>
                </a:solidFill>
                <a:latin typeface="Consolas"/>
              </a:rPr>
              <a:t>        *pid, *pn, *pbal);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26279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8C42"/>
                </a:solidFill>
                <a:latin typeface="Consolas"/>
              </a:rPr>
              <a:t>    pid++;  pn++;  pbal++;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4632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6B6B"/>
                </a:solidFill>
                <a:latin typeface="Consolas"/>
              </a:rPr>
              <a:t>    // 三个指针要同步递增！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6636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4B9FF"/>
                </a:solidFill>
                <a:latin typeface="Consolas"/>
              </a:rPr>
              <a:t>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1645920"/>
            <a:ext cx="56692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1645920"/>
            <a:ext cx="5669280" cy="4572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1691640"/>
            <a:ext cx="5669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第7讲：一个结构体指针搞定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286000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ECDC4"/>
                </a:solidFill>
                <a:latin typeface="Consolas"/>
              </a:rPr>
              <a:t>Account *p = accounts;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606040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Consola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926080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4B9FF"/>
                </a:solidFill>
                <a:latin typeface="Consolas"/>
              </a:rPr>
              <a:t>for (i = 0; i &lt; 5; i++) {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246120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CB77"/>
                </a:solidFill>
                <a:latin typeface="Consolas"/>
              </a:rPr>
              <a:t>    printf("%d %s %.2f",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566160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CB77"/>
                </a:solidFill>
                <a:latin typeface="Consolas"/>
              </a:rPr>
              <a:t>        p-&gt;id, p-&gt;name, p-&gt;balance);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886200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8C42"/>
                </a:solidFill>
                <a:latin typeface="Consolas"/>
              </a:rPr>
              <a:t>    p++;  // 一个指针递增即可！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206240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4B9FF"/>
                </a:solidFill>
                <a:latin typeface="Consolas"/>
              </a:rPr>
              <a:t>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526279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Consola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846320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Consolas"/>
              </a:rPr>
              <a:t>// p-&gt;id   等价于 (*p).id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5166360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Consolas"/>
              </a:rPr>
              <a:t>// p++ 步长 = sizeof(Account)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71600" y="5943600"/>
            <a:ext cx="9418320" cy="548640"/>
          </a:xfrm>
          <a:prstGeom prst="roundRect">
            <a:avLst>
              <a:gd name="adj" fmla="val 3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6016752"/>
            <a:ext cx="9418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第6讲三个指针容易出错，第7讲一个指针信息完整——结构体的威力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结构体作函数参数：值传递 vs 指针传递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什么时候传值？什么时候传指针？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第7讲 结构体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530352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5303520" cy="45720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值传递（复制整个结构体）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8600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void print(Account acc)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0604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    printf("%d", acc.id);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2608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Consolas"/>
              </a:rPr>
              <a:t>    acc.balance = 0;  // 改副本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onsola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Consolas"/>
              </a:rPr>
              <a:t>// 调用：传整个结构体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print(accounts[0]);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26279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Consolas"/>
              </a:rPr>
              <a:t>// accounts[0] 不受影响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5488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BCB77"/>
                </a:solidFill>
                <a:latin typeface="微软雅黑"/>
              </a:rPr>
              <a:t>安全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7548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修改不影响原数据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2064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6B6B"/>
                </a:solidFill>
                <a:latin typeface="微软雅黑"/>
              </a:rPr>
              <a:t>浪费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12064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复制所有成员，大结构体开销大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645920"/>
            <a:ext cx="530352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1645920"/>
            <a:ext cx="5303520" cy="457200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指针传递（只传地址）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28600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29BFE"/>
                </a:solidFill>
                <a:latin typeface="Consolas"/>
              </a:rPr>
              <a:t>void deposit(Account* p, double amt) {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60604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    p-&gt;balance += amt;  // 改原数据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92608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29BFE"/>
                </a:solidFill>
                <a:latin typeface="Consolas"/>
              </a:rPr>
              <a:t>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24612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onsola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56616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Consolas"/>
              </a:rPr>
              <a:t>// 只读模式：const 保护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88620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void print(const Account* p) {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20624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Consolas"/>
              </a:rPr>
              <a:t>    // p-&gt;balance=0; // 编译报错!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526279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75488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BCB77"/>
                </a:solidFill>
                <a:latin typeface="微软雅黑"/>
              </a:rPr>
              <a:t>高效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0" y="47548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只传地址（4/8字节），不复制数据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12064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BCB77"/>
                </a:solidFill>
                <a:latin typeface="微软雅黑"/>
              </a:rPr>
              <a:t>能改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0" y="512064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通过指针直接修改原数据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5943600"/>
            <a:ext cx="10332720" cy="548640"/>
          </a:xfrm>
          <a:prstGeom prst="roundRect">
            <a:avLst>
              <a:gd name="adj" fmla="val 3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6016752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选择原则：只读小结构体→值传递；大结构体或需修改→指针传递（加const保护只读）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typedef 类型重定义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给类型起'短名字'，代码更简洁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第7讲 结构体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53035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530352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没有 typedef（繁琐）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8600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6B6B"/>
                </a:solidFill>
                <a:latin typeface="Consolas"/>
              </a:rPr>
              <a:t>struct Account acc1;           // 每次都要写 struct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6B6B"/>
                </a:solidFill>
                <a:latin typeface="Consolas"/>
              </a:rPr>
              <a:t>struct Account arr[5];         // 声明数组也要加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1752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6B6B"/>
                </a:solidFill>
                <a:latin typeface="Consolas"/>
              </a:rPr>
              <a:t>void func(struct Account* p);  // 函数参数也要加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45920"/>
            <a:ext cx="53035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645920"/>
            <a:ext cx="5303520" cy="45720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有 typedef（简洁）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28600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CB77"/>
                </a:solidFill>
                <a:latin typeface="Consolas"/>
              </a:rPr>
              <a:t>typedef struct Account Account;  // 起短名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5176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CB77"/>
                </a:solidFill>
                <a:latin typeface="Consolas"/>
              </a:rPr>
              <a:t>Account acc1;           // 不用加 struct 了！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01752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CB77"/>
                </a:solidFill>
                <a:latin typeface="Consolas"/>
              </a:rPr>
              <a:t>Account arr[5];         // 声明数组也简洁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8328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CB77"/>
                </a:solidFill>
                <a:latin typeface="Consolas"/>
              </a:rPr>
              <a:t>void func(Account* p);  // 函数参数也简洁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23360"/>
            <a:ext cx="110642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023360"/>
            <a:ext cx="11064240" cy="411480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69080"/>
            <a:ext cx="11064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三种用法 + 重要提示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72000"/>
            <a:ext cx="10515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Consolas"/>
              </a:rPr>
              <a:t>// 用法1：先 struct 再 typedef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00600"/>
            <a:ext cx="10515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4B9FF"/>
                </a:solidFill>
                <a:latin typeface="Consolas"/>
              </a:rPr>
              <a:t>typedef struct Account Account;              // 先定义结构体，再起别名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029200"/>
            <a:ext cx="10515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Consolas"/>
              </a:rPr>
              <a:t>// 用法2：定义同时 typedef（不能自引用，链表用法1）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257800"/>
            <a:ext cx="10515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29BFE"/>
                </a:solidFill>
                <a:latin typeface="Consolas"/>
              </a:rPr>
              <a:t>typedef struct { int id; char name[20]; double balance; } Account;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486400"/>
            <a:ext cx="10515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Consolas"/>
              </a:rPr>
              <a:t>// 用法3：给基本类型起别名（提高可读性）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715000"/>
            <a:ext cx="10515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CB77"/>
                </a:solidFill>
                <a:latin typeface="Consolas"/>
              </a:rPr>
              <a:t>typedef double Money;   typedef int AccountId;     // Money/AccountId 就是 double/int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71600" y="5943600"/>
            <a:ext cx="9418320" cy="502920"/>
          </a:xfrm>
          <a:prstGeom prst="roundRect">
            <a:avLst>
              <a:gd name="adj" fmla="val 30000"/>
            </a:avLst>
          </a:prstGeom>
          <a:solidFill>
            <a:srgbClr val="4ECDC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6007608"/>
            <a:ext cx="9418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typedef 不创建新类型，只是给已有类型起别名——人还是那个人，名字短了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结构体数组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一盒名片 = 一个结构体数组，替代平行数组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第7讲 结构体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50292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5029200" cy="4114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第6讲：平行数组（3个数组）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94560"/>
            <a:ext cx="4572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6B6B"/>
                </a:solidFill>
                <a:latin typeface="Consolas"/>
              </a:rPr>
              <a:t>int    ids[5]       = {1001, 1002, ...};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42032"/>
            <a:ext cx="4572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6B6B"/>
                </a:solidFill>
                <a:latin typeface="Consolas"/>
              </a:rPr>
              <a:t>char   names[5][20] = {"张三", "李四", ...};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89504"/>
            <a:ext cx="4572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6B6B"/>
                </a:solidFill>
                <a:latin typeface="Consolas"/>
              </a:rPr>
              <a:t>double bals[5]      = {1000, 2000, ...};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36976"/>
            <a:ext cx="4572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Consolas"/>
              </a:rPr>
              <a:t>// 改一个要同步改三个！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645920"/>
            <a:ext cx="56692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645920"/>
            <a:ext cx="5669280" cy="41148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691640"/>
            <a:ext cx="5669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第7讲：结构体数组（1个数组）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194560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ECDC4"/>
                </a:solidFill>
                <a:latin typeface="Consolas"/>
              </a:rPr>
              <a:t>Account accounts[5] = 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542032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CB77"/>
                </a:solidFill>
                <a:latin typeface="Consolas"/>
              </a:rPr>
              <a:t>    {1001, "张三", 1000.0},  // 第0个账户完整信息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8895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CB77"/>
                </a:solidFill>
                <a:latin typeface="Consolas"/>
              </a:rPr>
              <a:t>    {1002, "李四", 2000.0},  // 第1个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236976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Consolas"/>
              </a:rPr>
              <a:t>    // 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584448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ECDC4"/>
                </a:solidFill>
                <a:latin typeface="Consolas"/>
              </a:rPr>
              <a:t>};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4206240"/>
            <a:ext cx="2286000" cy="32004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233672"/>
            <a:ext cx="22860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对比项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49039" y="4206240"/>
            <a:ext cx="3657600" cy="32004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4233672"/>
            <a:ext cx="36576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平行数组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4206240"/>
            <a:ext cx="3474720" cy="32004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4233672"/>
            <a:ext cx="347472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结构体数组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4553712"/>
            <a:ext cx="2286000" cy="32004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581144"/>
            <a:ext cx="22860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/>
              </a:rPr>
              <a:t>定义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49039" y="4553712"/>
            <a:ext cx="3657600" cy="32004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39" y="4581144"/>
            <a:ext cx="36576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  <a:latin typeface="微软雅黑"/>
              </a:rPr>
              <a:t>3个独立数组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4553712"/>
            <a:ext cx="3474720" cy="32004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4581144"/>
            <a:ext cx="347472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  <a:latin typeface="微软雅黑"/>
              </a:rPr>
              <a:t>1个结构体数组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71600" y="4901184"/>
            <a:ext cx="2286000" cy="32004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4928616"/>
            <a:ext cx="22860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/>
              </a:rPr>
              <a:t>加字段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49039" y="4901184"/>
            <a:ext cx="3657600" cy="32004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39" y="4928616"/>
            <a:ext cx="36576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  <a:latin typeface="微软雅黑"/>
              </a:rPr>
              <a:t>再加一个数组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79" y="4901184"/>
            <a:ext cx="3474720" cy="32004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4928616"/>
            <a:ext cx="347472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  <a:latin typeface="微软雅黑"/>
              </a:rPr>
              <a:t>加一个成员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71600" y="5248656"/>
            <a:ext cx="2286000" cy="32004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5276088"/>
            <a:ext cx="22860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/>
              </a:rPr>
              <a:t>删除元素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749039" y="5248656"/>
            <a:ext cx="3657600" cy="32004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49039" y="5276088"/>
            <a:ext cx="36576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  <a:latin typeface="微软雅黑"/>
              </a:rPr>
              <a:t>3个数组同步删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98079" y="5248656"/>
            <a:ext cx="3474720" cy="32004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79" y="5276088"/>
            <a:ext cx="347472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  <a:latin typeface="微软雅黑"/>
              </a:rPr>
              <a:t>删一个结构体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71600" y="5596128"/>
            <a:ext cx="2286000" cy="32004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0" y="5623560"/>
            <a:ext cx="22860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/>
              </a:rPr>
              <a:t>函数参数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49039" y="5596128"/>
            <a:ext cx="3657600" cy="32004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49039" y="5623560"/>
            <a:ext cx="36576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  <a:latin typeface="微软雅黑"/>
              </a:rPr>
              <a:t>3个数组+长度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98079" y="5596128"/>
            <a:ext cx="3474720" cy="32004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79" y="5623560"/>
            <a:ext cx="347472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  <a:latin typeface="微软雅黑"/>
              </a:rPr>
              <a:t>结构体指针+长度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71600" y="6126480"/>
            <a:ext cx="9418320" cy="411480"/>
          </a:xfrm>
          <a:prstGeom prst="roundRect">
            <a:avLst>
              <a:gd name="adj" fmla="val 3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71600" y="6172200"/>
            <a:ext cx="9418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结构体数组 = 把平行数组的信息合并，一个数组管理所有账户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ATM 结构体实战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从平行数组到数据封装的完整演进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第7讲 结构体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45720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4572000" cy="4572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Account 结构体（名片）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286000"/>
            <a:ext cx="40233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286000"/>
            <a:ext cx="4023360" cy="41148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31720"/>
            <a:ext cx="3840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struct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788920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CB77"/>
                </a:solidFill>
                <a:latin typeface="Consolas"/>
              </a:rPr>
              <a:t>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788920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Consolas"/>
              </a:rPr>
              <a:t>id = 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154680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8C42"/>
                </a:solidFill>
                <a:latin typeface="Consolas"/>
              </a:rPr>
              <a:t>char[20]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154680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Consolas"/>
              </a:rPr>
              <a:t>name = "张三"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520440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29BFE"/>
                </a:solidFill>
                <a:latin typeface="Consolas"/>
              </a:rPr>
              <a:t>double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520440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Consolas"/>
              </a:rPr>
              <a:t>balance = 1000.0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14800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微软雅黑"/>
              </a:rPr>
              <a:t>Account accounts[5]：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480560"/>
            <a:ext cx="3657600" cy="20116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80560"/>
            <a:ext cx="1371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微软雅黑"/>
              </a:rPr>
              <a:t>[0] 张三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480560"/>
            <a:ext cx="1645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FF8C42"/>
                </a:solidFill>
                <a:latin typeface="微软雅黑"/>
              </a:rPr>
              <a:t>余额: 1000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4709160"/>
            <a:ext cx="3657600" cy="20116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709160"/>
            <a:ext cx="1371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微软雅黑"/>
              </a:rPr>
              <a:t>[1] 李四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709160"/>
            <a:ext cx="1645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4ECDC4"/>
                </a:solidFill>
                <a:latin typeface="微软雅黑"/>
              </a:rPr>
              <a:t>余额: 2000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4937760"/>
            <a:ext cx="3657600" cy="20116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937760"/>
            <a:ext cx="1371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微软雅黑"/>
              </a:rPr>
              <a:t>[2] 王五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4937760"/>
            <a:ext cx="1645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FFD93D"/>
                </a:solidFill>
                <a:latin typeface="微软雅黑"/>
              </a:rPr>
              <a:t>余额: 500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5166360"/>
            <a:ext cx="3657600" cy="20116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166360"/>
            <a:ext cx="1371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微软雅黑"/>
              </a:rPr>
              <a:t>[3] 赵六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5166360"/>
            <a:ext cx="1645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29BFE"/>
                </a:solidFill>
                <a:latin typeface="微软雅黑"/>
              </a:rPr>
              <a:t>余额: 3000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" y="5394960"/>
            <a:ext cx="3657600" cy="20116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394960"/>
            <a:ext cx="1371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微软雅黑"/>
              </a:rPr>
              <a:t>[4] 钱七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5394960"/>
            <a:ext cx="1645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BCB77"/>
                </a:solidFill>
                <a:latin typeface="微软雅黑"/>
              </a:rPr>
              <a:t>余额: 1500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0" y="1645920"/>
            <a:ext cx="61264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0" y="1645920"/>
            <a:ext cx="612648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0" y="1691640"/>
            <a:ext cx="6126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核心操作：第6讲 vs 第7讲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228600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latin typeface="微软雅黑"/>
              </a:rPr>
              <a:t>查询余额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228600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F6B6B"/>
                </a:solidFill>
                <a:latin typeface="Consolas"/>
              </a:rPr>
              <a:t>bals[i]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23042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7F8C8D"/>
                </a:solidFill>
                <a:latin typeface="微软雅黑"/>
              </a:rPr>
              <a:t>-&gt;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39" y="228600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CB77"/>
                </a:solidFill>
                <a:latin typeface="Consolas"/>
              </a:rPr>
              <a:t>accounts[i].balance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297180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latin typeface="微软雅黑"/>
              </a:rPr>
              <a:t>存款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297180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F6B6B"/>
                </a:solidFill>
                <a:latin typeface="Consolas"/>
              </a:rPr>
              <a:t>bals[i] += amt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29900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7F8C8D"/>
                </a:solidFill>
                <a:latin typeface="微软雅黑"/>
              </a:rPr>
              <a:t>-&gt;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39" y="297180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CB77"/>
                </a:solidFill>
                <a:latin typeface="Consolas"/>
              </a:rPr>
              <a:t>accounts[i].balance += amt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0" y="365760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latin typeface="微软雅黑"/>
              </a:rPr>
              <a:t>遍历账户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365760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F6B6B"/>
                </a:solidFill>
                <a:latin typeface="Consolas"/>
              </a:rPr>
              <a:t>*pid++; *pbal++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36758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7F8C8D"/>
                </a:solidFill>
                <a:latin typeface="微软雅黑"/>
              </a:rPr>
              <a:t>-&gt;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39" y="365760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CB77"/>
                </a:solidFill>
                <a:latin typeface="Consolas"/>
              </a:rPr>
              <a:t>p-&gt;id; p++; (一个指针)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0" y="434340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latin typeface="微软雅黑"/>
              </a:rPr>
              <a:t>记录交易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434340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F6B6B"/>
                </a:solidFill>
                <a:latin typeface="Consolas"/>
              </a:rPr>
              <a:t>trans_amt[slot]=amt;
trans_type[slot]=t;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0" y="43616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7F8C8D"/>
                </a:solidFill>
                <a:latin typeface="微软雅黑"/>
              </a:rPr>
              <a:t>-&gt;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39" y="434340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CB77"/>
                </a:solidFill>
                <a:latin typeface="Consolas"/>
              </a:rPr>
              <a:t>strcpy(t[slot].type,...);
t[slot].amount=amt;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0" y="502920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latin typeface="微软雅黑"/>
              </a:rPr>
              <a:t>对方账户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502920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F6B6B"/>
                </a:solidFill>
                <a:latin typeface="Consolas"/>
              </a:rPr>
              <a:t>（没有此功能）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0" y="5047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7F8C8D"/>
                </a:solidFill>
                <a:latin typeface="微软雅黑"/>
              </a:rPr>
              <a:t>-&gt;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35439" y="502920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CB77"/>
                </a:solidFill>
                <a:latin typeface="Consolas"/>
              </a:rPr>
              <a:t>t[slot].target_account=id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4400" y="5943600"/>
            <a:ext cx="10332720" cy="548640"/>
          </a:xfrm>
          <a:prstGeom prst="roundRect">
            <a:avLst>
              <a:gd name="adj" fmla="val 3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6016752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从'三个平行数组'到'一个结构体数组'——数据封装让代码更清晰、更安全、更易扩展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思考题 · 往深了想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没有标准答案，重要的是思考过程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第7讲 结构体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560320" cy="3474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2560320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63040" y="210312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14884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17520"/>
            <a:ext cx="2286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C3E50"/>
                </a:solidFill>
                <a:latin typeface="微软雅黑"/>
              </a:rPr>
              <a:t>结构体大小
= 成员之和?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3794760"/>
            <a:ext cx="109728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77640"/>
            <a:ext cx="2286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sizeof(struct)
真的等于
4+20+8=32吗？
内存对齐是什么？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1828800"/>
            <a:ext cx="2560320" cy="3474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0440" y="1828800"/>
            <a:ext cx="2560320" cy="73152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34840" y="2103120"/>
            <a:ext cx="731520" cy="731520"/>
          </a:xfrm>
          <a:prstGeom prst="ellipse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14884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017520"/>
            <a:ext cx="2286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C3E50"/>
                </a:solidFill>
                <a:latin typeface="微软雅黑"/>
              </a:rPr>
              <a:t>浅拷贝
还是深拷贝?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794760"/>
            <a:ext cx="1097280" cy="36576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977640"/>
            <a:ext cx="2286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结构体赋值时
指针成员只复制
地址还是数据？
会有什么问题？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1828800"/>
            <a:ext cx="2560320" cy="3474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1828800"/>
            <a:ext cx="2560320" cy="7315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06640" y="2103120"/>
            <a:ext cx="731520" cy="73152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14884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017520"/>
            <a:ext cx="2286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C3E50"/>
                </a:solidFill>
                <a:latin typeface="微软雅黑"/>
              </a:rPr>
              <a:t>. 和 -&gt;
有什么区别?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794760"/>
            <a:ext cx="109728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977640"/>
            <a:ext cx="2286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变量用点
指针用箭头
*p.id 为什么错？
语法糖是什么？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64040" y="1828800"/>
            <a:ext cx="2560320" cy="3474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64040" y="1828800"/>
            <a:ext cx="256032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78440" y="2103120"/>
            <a:ext cx="731520" cy="7315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78440" y="214884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017520"/>
            <a:ext cx="2286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C3E50"/>
                </a:solidFill>
                <a:latin typeface="微软雅黑"/>
              </a:rPr>
              <a:t>结构体
= 类吗?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95560" y="3794760"/>
            <a:ext cx="109728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0" y="3977640"/>
            <a:ext cx="2286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结构体有什么
类有什么？
能用结构体模拟
面向对象吗？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71600" y="5669280"/>
            <a:ext cx="9418320" cy="822960"/>
          </a:xfrm>
          <a:prstGeom prst="roundRect">
            <a:avLst>
              <a:gd name="adj" fmla="val 3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5760720"/>
            <a:ext cx="9418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C3E50"/>
                </a:solidFill>
                <a:latin typeface="微软雅黑"/>
              </a:rPr>
              <a:t>结构体是从'平行数组'到'数据封装'的关键一步。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6126480"/>
            <a:ext cx="9418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微软雅黑"/>
              </a:rPr>
              <a:t>带着这些问题学习下一讲——链表和接口抽象，你会理解得更深刻！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结构体——把相关数据打包到一起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第7讲 结构体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645920"/>
            <a:ext cx="9418320" cy="1005840"/>
          </a:xfrm>
          <a:prstGeom prst="roundRect">
            <a:avLst>
              <a:gd name="adj" fmla="val 8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737360"/>
            <a:ext cx="9418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D93D"/>
                </a:solidFill>
                <a:latin typeface="微软雅黑"/>
              </a:rPr>
              <a:t>一句话总结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57400"/>
            <a:ext cx="9418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结构体是把相关数据打包到一起的自定义类型——
从'散落的平行数组'到'封装的名片'，为面向对象打下基础。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2148840" cy="73152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3291840"/>
            <a:ext cx="685800" cy="685800"/>
          </a:xfrm>
          <a:prstGeom prst="ellipse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337560"/>
            <a:ext cx="685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6908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结构体定义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4526280"/>
            <a:ext cx="685800" cy="36576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663440"/>
            <a:ext cx="187451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struct 自定义类型
把相关数据
绑在一起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310896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88920" y="3108960"/>
            <a:ext cx="2148840" cy="73152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20440" y="3291840"/>
            <a:ext cx="685800" cy="685800"/>
          </a:xfrm>
          <a:prstGeom prst="ellipse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3337560"/>
            <a:ext cx="685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06908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成员访问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4526280"/>
            <a:ext cx="685800" cy="36576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4663440"/>
            <a:ext cx="187451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变量用点(.)
指针用箭头(-&gt;)
-&gt; 等价于 (*p).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310896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20640" y="3108960"/>
            <a:ext cx="2148840" cy="73152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52160" y="3291840"/>
            <a:ext cx="685800" cy="685800"/>
          </a:xfrm>
          <a:prstGeom prst="ellipse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3337560"/>
            <a:ext cx="685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406908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结构体指针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4526280"/>
            <a:ext cx="685800" cy="36576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0" y="4663440"/>
            <a:ext cx="187451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衔接第5讲
一个指针遍历
所有信息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52359" y="310896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52359" y="3108960"/>
            <a:ext cx="2148840" cy="73152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83879" y="3291840"/>
            <a:ext cx="685800" cy="68580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79" y="3337560"/>
            <a:ext cx="685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59" y="406908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值传递vs
指针传递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79" y="4526280"/>
            <a:ext cx="685800" cy="36576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19" y="4663440"/>
            <a:ext cx="187451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值传递安全
指针传递高效
const保护只读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84080" y="310896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84080" y="3108960"/>
            <a:ext cx="214884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515600" y="3291840"/>
            <a:ext cx="685800" cy="6858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0" y="3337560"/>
            <a:ext cx="685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406908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typedef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515600" y="4526280"/>
            <a:ext cx="68580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21240" y="4663440"/>
            <a:ext cx="187451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给类型起短名
代码更简洁
不创建新类型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371600" y="5669280"/>
            <a:ext cx="9418320" cy="77724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0" y="5760720"/>
            <a:ext cx="9418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下一讲：链表 —— 结构体 + 指针 = 动态数据结构，打破固定大小的局限！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" y="6126480"/>
            <a:ext cx="9418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D93D"/>
                </a:solidFill>
                <a:latin typeface="微软雅黑"/>
              </a:rPr>
              <a:t>再后续：接口抽象 —— 数据 + 行为绑在一起，面向对象编程的正式起步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