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560320"/>
            <a:ext cx="512064" cy="82296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31212" y="2331720"/>
            <a:ext cx="182880" cy="274320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0006" y="2103120"/>
            <a:ext cx="228600" cy="228600"/>
          </a:xfrm>
          <a:prstGeom prst="ellipse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807208"/>
            <a:ext cx="51206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head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40864" y="2880360"/>
            <a:ext cx="22860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9464" y="2560320"/>
            <a:ext cx="640080" cy="822960"/>
          </a:xfrm>
          <a:prstGeom prst="roundRect">
            <a:avLst>
              <a:gd name="adj" fmla="val 1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06624" y="2697480"/>
            <a:ext cx="457200" cy="2880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00984" y="2697480"/>
            <a:ext cx="457200" cy="2880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9464" y="3012948"/>
            <a:ext cx="640080" cy="288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A:100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9544" y="2880360"/>
            <a:ext cx="22860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2560320"/>
            <a:ext cx="640080" cy="82296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75304" y="2697480"/>
            <a:ext cx="457200" cy="2880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69664" y="2697480"/>
            <a:ext cx="457200" cy="2880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3012948"/>
            <a:ext cx="640080" cy="288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B:200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78224" y="2880360"/>
            <a:ext cx="22860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06824" y="2560320"/>
            <a:ext cx="640080" cy="82296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43984" y="2697480"/>
            <a:ext cx="457200" cy="2880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38344" y="2697480"/>
            <a:ext cx="457200" cy="2880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012948"/>
            <a:ext cx="640080" cy="288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C:500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280720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84048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一列可以伸缩的火车 = 一个链表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10312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0" b="1">
                <a:solidFill>
                  <a:srgbClr val="2C3E50"/>
                </a:solidFill>
                <a:latin typeface="微软雅黑"/>
              </a:rPr>
              <a:t>第8讲：链表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0175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8C42"/>
                </a:solidFill>
                <a:latin typeface="微软雅黑"/>
              </a:rPr>
              <a:t>动态数据的灵活管理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3749039"/>
            <a:ext cx="137160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39319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</a:rPr>
              <a:t>《从程序员到架构师》· C语言插件框架演进之旅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3891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微软雅黑"/>
              </a:rPr>
              <a:t>单链表 · malloc/free · 增删改查 · 插件链表管理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9377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微软雅黑"/>
              </a:rPr>
              <a:t>08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知识图谱 · 第8讲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本讲在整个知识体系中的位置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2468880"/>
            <a:ext cx="2743200" cy="2743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834640"/>
            <a:ext cx="2011680" cy="20116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2880360"/>
            <a:ext cx="2377440" cy="100584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（第8讲 核心）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结构体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第7讲 · 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指针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第5讲 · 前置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静态库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→ 第9讲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动态库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→ 第10讲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4864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562356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57784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插件链表管理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943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→ 第12讲 · 核心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2743200" y="1645920"/>
            <a:ext cx="210312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828800" y="3566160"/>
            <a:ext cx="301752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60720" y="1645920"/>
            <a:ext cx="320040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60720" y="3566160"/>
            <a:ext cx="320040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03520" y="3840480"/>
            <a:ext cx="640080" cy="210312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链表是从'数据结构'到'软件架构'的关键桥梁——插件管理、配置化菜单都靠它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为什么需要链表？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从'固定储物柜'到'动态火车'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29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02920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固定数组的痛苦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60320"/>
            <a:ext cx="4480560" cy="41148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trans[0] =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4480560" cy="411480"/>
          </a:xfrm>
          <a:prstGeom prst="roundRect">
            <a:avLst>
              <a:gd name="adj" fmla="val 15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trans[1] = 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66160"/>
            <a:ext cx="4480560" cy="411480"/>
          </a:xfrm>
          <a:prstGeom prst="roundRect">
            <a:avLst>
              <a:gd name="adj" fmla="val 15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0273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trans[2] = 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69080"/>
            <a:ext cx="4480560" cy="411480"/>
          </a:xfrm>
          <a:prstGeom prst="roundRect">
            <a:avLst>
              <a:gd name="adj" fmla="val 15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trans[3] = 300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72000"/>
            <a:ext cx="4480560" cy="411480"/>
          </a:xfrm>
          <a:prstGeom prst="roundRect">
            <a:avLst>
              <a:gd name="adj" fmla="val 15000"/>
            </a:avLst>
          </a:prstGeom>
          <a:solidFill>
            <a:srgbClr val="FF85A6"/>
          </a:solidFill>
          <a:ln w="25400">
            <a:solidFill>
              <a:srgbClr val="FF8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0857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trans[4] = 150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74920"/>
            <a:ext cx="4480560" cy="41148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1149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...最多10笔!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微软雅黑"/>
              </a:rPr>
              <a:t>想加第11笔？只能覆盖最旧的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82880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828800"/>
            <a:ext cx="5303520" cy="502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901952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链表时代的自由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743200"/>
            <a:ext cx="475488" cy="73152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8777" y="2514600"/>
            <a:ext cx="182880" cy="274320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31228" y="2286000"/>
            <a:ext cx="228600" cy="228600"/>
          </a:xfrm>
          <a:prstGeom prst="ellipse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962656"/>
            <a:ext cx="47548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head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059168" y="3017520"/>
            <a:ext cx="18288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42048" y="2743200"/>
            <a:ext cx="594360" cy="7315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7920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7356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3145536"/>
            <a:ext cx="59436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100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836408" y="3017520"/>
            <a:ext cx="18288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19288" y="2743200"/>
            <a:ext cx="594360" cy="73152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5644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5080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9288" y="3145536"/>
            <a:ext cx="59436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200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613648" y="3017520"/>
            <a:ext cx="18288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96528" y="2743200"/>
            <a:ext cx="594360" cy="73152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3368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2804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96528" y="3145536"/>
            <a:ext cx="59436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500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390888" y="3017520"/>
            <a:ext cx="18288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73768" y="2743200"/>
            <a:ext cx="594360" cy="731520"/>
          </a:xfrm>
          <a:prstGeom prst="roundRect">
            <a:avLst>
              <a:gd name="adj" fmla="val 10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71092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305288" y="2880360"/>
            <a:ext cx="457200" cy="25603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73768" y="3145536"/>
            <a:ext cx="59436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51008" y="294436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8404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ECDC4"/>
                </a:solidFill>
                <a:latin typeface="微软雅黑"/>
              </a:rPr>
              <a:t>head -&gt; node -&gt; node -&gt; ... -&gt; NULL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2976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想加多少加多少，想删哪个删哪个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47548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malloc 按需分配，不受固定大小限制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2120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指针串联节点，大小随时变化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5486400" y="3474720"/>
            <a:ext cx="731520" cy="45720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金句：数组是固定的储物柜，链表是可以伸缩的火车——大小随需变化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单链表结构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数据域 + 指针域 = 火车车厢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微软雅黑"/>
              </a:rPr>
              <a:t>一个链表节点 = 数据域 + 指针域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103120"/>
            <a:ext cx="3200400" cy="1097280"/>
          </a:xfrm>
          <a:prstGeom prst="roundRect">
            <a:avLst>
              <a:gd name="adj" fmla="val 6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19456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数据域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double 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8036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int type / char desc[]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10312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1945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指针域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060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8803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-&gt; 下一个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828800"/>
            <a:ext cx="384048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1828800"/>
            <a:ext cx="384048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09560" y="190195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83879" y="190195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58200" y="190195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84708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linked_list.c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286000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typedef struct Node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78608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/* 数据域 */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871216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double amount;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163824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int    type;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456432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/* 指针域 */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749040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struct Node* next;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041648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 Node;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微软雅黑"/>
              </a:rPr>
              <a:t>完整链表：火车车厢串联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8912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微软雅黑"/>
              </a:rPr>
              <a:t>head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05840" y="4480560"/>
            <a:ext cx="36576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63040" y="4114800"/>
            <a:ext cx="1645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63040" y="4114800"/>
            <a:ext cx="1069848" cy="7315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63040" y="4114800"/>
            <a:ext cx="106984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A:100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32888" y="4114800"/>
            <a:ext cx="576072" cy="73152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752344" y="441198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2888" y="4663440"/>
            <a:ext cx="5760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108960" y="437083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66160" y="4114800"/>
            <a:ext cx="1645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0" y="4114800"/>
            <a:ext cx="1069848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4114800"/>
            <a:ext cx="106984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B:200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36008" y="4114800"/>
            <a:ext cx="576072" cy="73152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55464" y="441198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36008" y="4663440"/>
            <a:ext cx="5760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212080" y="437083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69280" y="4114800"/>
            <a:ext cx="16459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0" y="4114800"/>
            <a:ext cx="1069848" cy="73152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0" y="4114800"/>
            <a:ext cx="106984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C:500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39128" y="4114800"/>
            <a:ext cx="576072" cy="73152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8584" y="441198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9128" y="4663440"/>
            <a:ext cx="5760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431596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6739128" y="4370832"/>
            <a:ext cx="667512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71600" y="576072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583387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比喻：数据域 = 车厢里的货物，指针域 = 车厢之间的挂钩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创建与销毁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malloc 分配内存 / free 释放内存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创建节点：malloc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512064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35915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2999" y="235915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17320" y="235915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30428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create_node.c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Node* create(double amt)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3580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1. malloc 分配内存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Node* n = malloc(sizeof(Node));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21024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1363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2. 检查是否成功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062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if (n == NULL) return NULL;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9884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79145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3. 填充数据域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84064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n-&gt;amount = amt;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7667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n-&gt;next = NULL; // 4. next置空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6692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return n;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61887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64592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销毁链表：free（防内存泄漏）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286000"/>
            <a:ext cx="493776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2286000"/>
            <a:ext cx="493776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20840" y="235915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95159" y="235915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69480" y="235915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230428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destroy_list.c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743200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void destroy(Node* head) 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035808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Node* cur = head;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328416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while (cur != NULL)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621024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    // 先保存下一个！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913632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  Node* tmp = cur;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206240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  cur = cur-&gt;next;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498848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free(tmp); // 再释放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791456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084064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376672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669280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// 错误！先free再访问next: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961887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// free(cur); cur=cur-&gt;next;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6254496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// 未定义行为！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铁律：每个 malloc 都要有对应的 free！先保存 next 再 free 当前节点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增 · 头部插入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新节点插到最前面——O(1) 高效操作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</a:rPr>
              <a:t>插入前：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920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1920240"/>
            <a:ext cx="89154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3140" y="19202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34590" y="21717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3140" y="23774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3200" y="213055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1920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1920240"/>
            <a:ext cx="891540" cy="6400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9202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91940" y="19202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63390" y="21717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1940" y="23774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213055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0" y="1920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920240"/>
            <a:ext cx="891540" cy="64008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9202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0740" y="19202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92190" y="21717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0740" y="23774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7568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20740" y="2130552"/>
            <a:ext cx="571500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微软雅黑"/>
              </a:rPr>
              <a:t>插入后（NEW 插到头部）：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291840"/>
            <a:ext cx="89154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NEW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2306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9451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2306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103120" y="350215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46888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68880" y="3291840"/>
            <a:ext cx="89154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8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6042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3187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6042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840480" y="350215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0624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3291840"/>
            <a:ext cx="891540" cy="6400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778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6923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9778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577840" y="350215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94360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0" y="3291840"/>
            <a:ext cx="891540" cy="64008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514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00659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3514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44728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35140" y="3502152"/>
            <a:ext cx="571500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58000" y="1645920"/>
            <a:ext cx="4846320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0" y="1645920"/>
            <a:ext cx="484632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995160" y="171907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269479" y="171907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543800" y="171907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0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insert_head.c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210312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void insert_head(double amt) {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239572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1. 创建新节点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268833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Node* n = create(amt);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980944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3273552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2. 新节点指向旧头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0" y="356616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n-&gt;next = head;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385876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23760" y="415137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3. 头指针指向新节点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4443984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head = n;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3760" y="4736592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502920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0" y="5321807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// 时间复杂度: O(1)!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3760" y="561441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// 只改2个指针，无需遍历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4400" y="42062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23367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1.创建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43200" y="42062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0" y="423367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2.n-&gt;next=head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0" y="42062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0" y="423367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3.head=n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371600" y="50292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371600" y="51023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头部插入 O(1) vs 数组头部插入 O(n)——链表完胜！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增 · 尾部插入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新节点追加到末尾——需要遍历 O(n)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</a:rPr>
              <a:t>插入前：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920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1920240"/>
            <a:ext cx="89154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3140" y="19202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34590" y="21717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3140" y="23774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3200" y="213055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1920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1920240"/>
            <a:ext cx="891540" cy="6400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9202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91940" y="19202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63390" y="21717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1940" y="23774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213055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0" y="1920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920240"/>
            <a:ext cx="891540" cy="64008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9202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20740" y="19202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92190" y="21717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0740" y="23774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7568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20740" y="2130552"/>
            <a:ext cx="571500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微软雅黑"/>
              </a:rPr>
              <a:t>插入后（NEW 追加到尾部）：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291840"/>
            <a:ext cx="89154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2306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9451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2306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103120" y="350215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46888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68880" y="3291840"/>
            <a:ext cx="891540" cy="6400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8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6042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3187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6042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840480" y="350215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0624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3291840"/>
            <a:ext cx="891540" cy="64008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778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6923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9778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577840" y="350215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943600" y="32918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0" y="3291840"/>
            <a:ext cx="89154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0" y="3291840"/>
            <a:ext cx="8915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NEW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5140" y="3291840"/>
            <a:ext cx="480060" cy="64008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006590" y="354330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35140" y="3749040"/>
            <a:ext cx="4800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44728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35140" y="3502152"/>
            <a:ext cx="571500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58000" y="1645920"/>
            <a:ext cx="4846320" cy="4114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0" y="1645920"/>
            <a:ext cx="484632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995160" y="171907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269479" y="171907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543800" y="171907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0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insert_tail.c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210312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void insert_tail(double amt) {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239572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Node* n = create(amt);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268833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980944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情况1: 链表为空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3273552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if (head == NULL) {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0" y="356616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  head = n;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385876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  return;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23760" y="415137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4443984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3760" y="4736592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情况2: 遍历到最后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502920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Node* cur = head;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0" y="5321807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while (cur-&gt;next != NULL)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3760" y="561441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  cur = cur-&gt;next;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3760" y="5907024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cur-&gt;next = n; // 挂上新节点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0" y="6199632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60" y="649224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// 时间复杂度: O(n)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371600" y="54864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71600" y="55595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优化：维护尾指针 tail 可让尾部插入也达到 O(1)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查 · 遍历与查找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从头到 NULL 逐个访问——O(n)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</a:rPr>
              <a:t>遍历：cur 从 head 移动到 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832104" cy="5943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46504" y="19202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01952" y="2148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94560" y="210769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0" y="19202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1920240"/>
            <a:ext cx="832104" cy="5943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19202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9202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47872" y="2148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2424" y="23317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40480" y="210769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19202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920240"/>
            <a:ext cx="832104" cy="59436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19202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8344" y="19202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93792" y="2148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8344" y="23317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486400" y="210769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52160" y="19202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1920240"/>
            <a:ext cx="832104" cy="59436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19202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84264" y="19202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39712" y="2148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84264" y="23317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205282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684264" y="2107692"/>
            <a:ext cx="539496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265176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6B6B"/>
                </a:solidFill>
                <a:latin typeface="微软雅黑"/>
              </a:rPr>
              <a:t>cur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1554480" y="2606040"/>
            <a:ext cx="274320" cy="182880"/>
          </a:xfrm>
          <a:prstGeom prst="down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0" y="164592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37960" y="171907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12279" y="171907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86600" y="171907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0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traverse_find.c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21031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// 第6讲: 数组遍历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239572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for (i=0; i&lt;10; i++)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268833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printf("%f", arr[i]);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2980944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327355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// 第8讲: 链表遍历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56616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Node* cur = head;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385876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while (cur != NULL) {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415137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printf("%.2f", cur-&gt;amount);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4443984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cur = cur-&gt;next; // 前进!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473659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0292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321807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// 查找: 遍历中比较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0" y="561441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Node* find(int id) {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5907024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while(cur) {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619963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if(cur-&gt;id == id) return cur;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64922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  cur = cur-&gt;next;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678484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707745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  return NULL; // 没找到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7370064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4400" y="585216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5916168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数组: for + 索引 i    链表: while + 指针 cur-&gt;next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删 · 按值删除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找到前驱，跳过目标，free 回收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</a:rPr>
              <a:t>删除前（要删 B）：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832104" cy="5943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46504" y="19202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01952" y="2148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46504" y="23317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94560" y="210769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0" y="19202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1920240"/>
            <a:ext cx="832104" cy="594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19202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B(删)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9202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47872" y="2148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2424" y="23317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40480" y="210769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19202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920240"/>
            <a:ext cx="832104" cy="59436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19202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8344" y="19202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93792" y="21488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8344" y="23317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05282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038344" y="2107692"/>
            <a:ext cx="539496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微软雅黑"/>
              </a:rPr>
              <a:t>删除后（B 被 free 回收）：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2918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3291840"/>
            <a:ext cx="832104" cy="5943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2918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46504" y="32918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01952" y="35204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46504" y="37033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194560" y="3479292"/>
            <a:ext cx="36576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0320" y="3291840"/>
            <a:ext cx="12801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0" y="3291840"/>
            <a:ext cx="832104" cy="59436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3291840"/>
            <a:ext cx="8321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92424" y="3291840"/>
            <a:ext cx="448056" cy="59436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47872" y="352044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92424" y="3703320"/>
            <a:ext cx="44805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342442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392424" y="3479292"/>
            <a:ext cx="539496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11480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D93D"/>
                </a:solidFill>
                <a:latin typeface="微软雅黑"/>
              </a:rPr>
              <a:t>prev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1371600" y="4069080"/>
            <a:ext cx="274320" cy="182880"/>
          </a:xfrm>
          <a:prstGeom prst="downArrow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55080" y="171907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629399" y="171907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03720" y="171907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166420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delete_node.c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210312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void delete(double amt) {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395728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if (head == NULL) return;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2688336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2980944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情况1: 删头节点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3273552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if (head-&gt;amount == amt) {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56616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Node* tmp = head;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3858768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head = head-&gt;next;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151376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    free(tmp); return;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443984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4736592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onsolas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502920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onsolas"/>
              </a:rPr>
              <a:t>  // 情况2: 删中间/末尾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5321807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Node* prev = head;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5614416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Node* cur = head-&gt;next;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5907024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while (cur != NULL) {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6199632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  if (cur-&gt;amount == amt) {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649224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    prev-&gt;next = cur-&gt;next;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6784848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Consolas"/>
              </a:rPr>
              <a:t>      free(cur); return;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7077456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  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7370064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prev = cur;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7662672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  cur = cur-&gt;next;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7955280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  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8247888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71600" y="5852160"/>
            <a:ext cx="9418320" cy="45720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" y="5916168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关键：删除需要保存前驱节点！prev-&gt;next = cur-&gt;next 跳过被删节点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链表 vs 数组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各有优劣，根据场景选择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数组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大小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2860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固定，编译时确定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内存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432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连续分配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随机访问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004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arr[i]  O(1)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头部插入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6576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全部后移  O(n)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删除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1148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全部前移  O(n)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额外开销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5720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缓存友好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292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是（连续内存）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64592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645920"/>
            <a:ext cx="5303520" cy="457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链表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大小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860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动态，随时变化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7432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内存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7432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D93D"/>
                </a:solidFill>
                <a:latin typeface="微软雅黑"/>
              </a:rPr>
              <a:t>分散分配，指针串联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004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随机访问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2004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必须遍历  O(n)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6576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头部插入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6576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改2指针  O(1)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1148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删除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148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改指针  O(1)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5720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额外开销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5720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每节点多1个next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0292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微软雅黑"/>
              </a:rPr>
              <a:t>缓存友好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02920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否（分散内存）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选择原则：大小已知+频繁随机访问 → 数组 | 大小动态+频繁增删 → 链表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插件链表管理（预告第12-13讲）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链表是从数据结构到架构的桥梁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每加载一个插件 = 链表加一个节点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1188720" cy="73152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汇率查询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011680"/>
            <a:ext cx="640080" cy="73152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54580" y="230886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560320"/>
            <a:ext cx="640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3200" y="226771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20116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011680"/>
            <a:ext cx="1188720" cy="73152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01168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积分兑换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011680"/>
            <a:ext cx="640080" cy="73152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0580" y="230886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560320"/>
            <a:ext cx="640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029200" y="2267712"/>
            <a:ext cx="457200" cy="219456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0" y="20116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011680"/>
            <a:ext cx="1188720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201168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电子发票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011680"/>
            <a:ext cx="640080" cy="731520"/>
          </a:xfrm>
          <a:prstGeom prst="rect">
            <a:avLst/>
          </a:prstGeom>
          <a:solidFill>
            <a:srgbClr val="F7F9FC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26580" y="230886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560320"/>
            <a:ext cx="640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7F8C8D"/>
                </a:solidFill>
                <a:latin typeface="微软雅黑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212848"/>
            <a:ext cx="731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F8C8D"/>
                </a:solidFill>
                <a:latin typeface="微软雅黑"/>
              </a:rPr>
              <a:t>NULL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75120" y="2267712"/>
            <a:ext cx="731520" cy="219456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92608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29BFE"/>
                </a:solidFill>
                <a:latin typeface="微软雅黑"/>
              </a:rPr>
              <a:t>load_plugin() → 头部插入到插件链表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2918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run_all_plugins() → 遍历链表依次执行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1645920"/>
            <a:ext cx="39319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1691640"/>
            <a:ext cx="3931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配置化菜单（第13讲）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28600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1. 查询余额  (内置)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69748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2. 存款      (内置)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10896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3. 取款      (内置)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2044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29BFE"/>
                </a:solidFill>
                <a:latin typeface="微软雅黑"/>
              </a:rPr>
              <a:t>4. 汇率查询  (插件加载)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93192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29BFE"/>
                </a:solidFill>
                <a:latin typeface="微软雅黑"/>
              </a:rPr>
              <a:t>5. 积分兑换  (插件加载)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34340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29BFE"/>
                </a:solidFill>
                <a:latin typeface="微软雅黑"/>
              </a:rPr>
              <a:t>6. 电子发票  (插件加载)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84632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微软雅黑"/>
              </a:rPr>
              <a:t>菜单项 = 链表节点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16636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微软雅黑"/>
              </a:rPr>
              <a:t>加载插件自动加菜单项!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114800"/>
            <a:ext cx="64008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8680" y="418795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42999" y="4187952"/>
            <a:ext cx="164592" cy="16459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17320" y="4187952"/>
            <a:ext cx="164592" cy="164592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0" y="4133088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plugin.h (第12讲预告)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572000"/>
            <a:ext cx="5852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typedef struct PluginNode {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4864608"/>
            <a:ext cx="5852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Consolas"/>
              </a:rPr>
              <a:t>  char name[20];           // 插件名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157216"/>
            <a:ext cx="5852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Consolas"/>
              </a:rPr>
              <a:t>  void (*handler)();       // 函数指针!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5449824"/>
            <a:ext cx="5852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Consolas"/>
              </a:rPr>
              <a:t>  struct PluginNode* next; // 链表串联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5742432"/>
            <a:ext cx="5852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Consolas"/>
              </a:rPr>
              <a:t>} PluginNode;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71600" y="6217920"/>
            <a:ext cx="9418320" cy="457200"/>
          </a:xfrm>
          <a:prstGeom prst="roundRect">
            <a:avLst>
              <a:gd name="adj" fmla="val 30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6281928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链表 + 函数指针 = 插件框架的核心机制！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从固定数组到动态链表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第8讲 链表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2103120" cy="7315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BCB77"/>
                </a:solidFill>
                <a:latin typeface="微软雅黑"/>
              </a:rPr>
              <a:t>动态大小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想加多少加多少
不受固定上限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64592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645920"/>
            <a:ext cx="2103120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8288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ECDC4"/>
                </a:solidFill>
                <a:latin typeface="微软雅黑"/>
              </a:rPr>
              <a:t>随时增删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运行时动态增删
malloc/free 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64592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645920"/>
            <a:ext cx="2103120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8288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8C42"/>
                </a:solidFill>
                <a:latin typeface="微软雅黑"/>
              </a:rPr>
              <a:t>指针实战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37744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next 指针串联节点
指针是链表的灵魂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59" y="164592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1645920"/>
            <a:ext cx="210312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18288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29BFE"/>
                </a:solidFill>
                <a:latin typeface="微软雅黑"/>
              </a:rPr>
              <a:t>插件基石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37744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插件链表管理
配置化菜单的基础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64592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645920"/>
            <a:ext cx="210312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8288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6B6B"/>
                </a:solidFill>
                <a:latin typeface="微软雅黑"/>
              </a:rPr>
              <a:t>架构桥梁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37744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从数据结构
到软件架构的关键一步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ATM 案例演进：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63440"/>
            <a:ext cx="3200400" cy="640080"/>
          </a:xfrm>
          <a:prstGeom prst="roundRect">
            <a:avLst>
              <a:gd name="adj" fmla="val 15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70916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第6讲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98348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trans[10] 固定数组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931920" y="4846320"/>
            <a:ext cx="3657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89120" y="4663440"/>
            <a:ext cx="3200400" cy="640080"/>
          </a:xfrm>
          <a:prstGeom prst="roundRect">
            <a:avLst>
              <a:gd name="adj" fmla="val 15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70916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第7讲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98348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结构体数组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589520" y="4846320"/>
            <a:ext cx="3657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4663440"/>
            <a:ext cx="3200400" cy="640080"/>
          </a:xfrm>
          <a:prstGeom prst="roundRect">
            <a:avLst>
              <a:gd name="adj" fmla="val 15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470916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第8讲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98348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链表动态无限!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5669280"/>
            <a:ext cx="9418320" cy="731520"/>
          </a:xfrm>
          <a:prstGeom prst="roundRect">
            <a:avLst>
              <a:gd name="adj" fmla="val 2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76072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链表不仅仅是一种数据结构，更是从'写代码'到'做架构'的关键桥梁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6080760"/>
            <a:ext cx="9418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第12讲：插件链表管理 | 第13讲：配置化菜单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