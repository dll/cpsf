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23360" y="0"/>
            <a:ext cx="8168335" cy="10972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 i="0">
                <a:solidFill>
                  <a:srgbClr val="C2410C"/>
                </a:solidFill>
                <a:latin typeface="微软雅黑"/>
              </a:rPr>
              <a:t>从程序员到架构师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5569"/>
                </a:solidFill>
                <a:latin typeface="微软雅黑"/>
              </a:rPr>
              <a:t>C语言插件框架演进之旅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103120"/>
            <a:ext cx="822960" cy="457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468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0">
                <a:solidFill>
                  <a:srgbClr val="475569"/>
                </a:solidFill>
                <a:latin typeface="微软雅黑"/>
              </a:rPr>
              <a:t>第10讲 / 共 14 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463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从一行 printf</a:t>
            </a:r>
          </a:p>
          <a:p>
            <a:pPr algn="l">
              <a:lnSpc>
                <a:spcPct val="130000"/>
              </a:lnSpc>
            </a:pPr>
            <a:r>
              <a:rPr sz="1500" b="1" i="0">
                <a:solidFill>
                  <a:srgbClr val="C2410C"/>
                </a:solidFill>
                <a:latin typeface="微软雅黑"/>
              </a:rPr>
              <a:t>到软件体系的插件框架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92040" y="1783080"/>
            <a:ext cx="67665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6600" b="1" i="0">
                <a:solidFill>
                  <a:srgbClr val="1F2937"/>
                </a:solidFill>
                <a:latin typeface="微软雅黑"/>
              </a:rPr>
              <a:t>动态库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292608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700" b="0" i="0">
                <a:solidFill>
                  <a:srgbClr val="C2410C"/>
                </a:solidFill>
                <a:latin typeface="微软雅黑"/>
              </a:rPr>
              <a:t>让多个程序共享同一份代码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92040" y="3611880"/>
            <a:ext cx="5852160" cy="27432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92040" y="3840480"/>
            <a:ext cx="65836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第9讲把模块打包成静态库，解决了"散装分发"，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但代码被"复制"进了每个程序：磁盘占三份、内存占三份、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改一个 bug 要重新链接所有程序。本讲让库"独立成文件"，</a:t>
            </a:r>
          </a:p>
          <a:p>
            <a:pPr algn="l">
              <a:lnSpc>
                <a:spcPct val="150000"/>
              </a:lnSpc>
            </a:pPr>
            <a:r>
              <a:rPr sz="1700" b="0" i="0">
                <a:solidFill>
                  <a:srgbClr val="475569"/>
                </a:solidFill>
                <a:latin typeface="微软雅黑"/>
              </a:rPr>
              <a:t>exe 里只留一张导入表，运行时由操作系统加载共享。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知识图谱：本讲站在哪里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六级台阶的第四级 —— 库：从"代码复制"走向"代码共享"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35073"/>
            <a:ext cx="11094415" cy="1244346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735073"/>
            <a:ext cx="50292" cy="124434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17953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🎯 本讲定位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76854"/>
            <a:ext cx="10673791" cy="5196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50" b="0" i="0">
                <a:solidFill>
                  <a:srgbClr val="1F2937"/>
                </a:solidFill>
                <a:latin typeface="微软雅黑"/>
              </a:rPr>
              <a:t>前九讲一路往上搭：表达式、函数、模块，再到静态库。本讲仍在"库"这一级台阶上，但换了一种打包方式——静态库把代码复制进每个程序，动态库让所有程序共享同一份二进制。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第3讲 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第4讲 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← 你在这里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第11-12讲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473195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3180587"/>
            <a:ext cx="1589989" cy="82296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383406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678808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第13讲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223003"/>
            <a:ext cx="5419191" cy="1210818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223003"/>
            <a:ext cx="50292" cy="121081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405883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⬅ 前置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64785"/>
            <a:ext cx="4998567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第9讲：静态库用 ar rcs 打包 .o，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链接时把代码复制进 exe —— 能分发，但三份浪费。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4223003"/>
            <a:ext cx="5419191" cy="1210818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4223003"/>
            <a:ext cx="50292" cy="121081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405883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➡ 后续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764785"/>
            <a:ext cx="4998567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第11讲：运行时加载 dlopen / LoadLibrary，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把加载时机从"启动时"推迟到"运行中"，插件就此萌芽。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本讲只做一件事：把库从"复制"改成"共享"——一份代码，大家共用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上一讲的"痛"，本讲要解决什么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静态库解决了打包，却留下"代码复制"的三个后患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91715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2291715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46579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第9讲：静态库已经做到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2346579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第9讲：留下的三个后患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6720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ar rcs 把 account.o / transaction.o 打包成一个文件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812923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767203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体积大：每个 exe 各含一份库代码，磁盘上 N 份副本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812923"/>
            <a:ext cx="68580" cy="1397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5320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链接时复制目标文件进 exe，运行期不依赖外部文件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3098927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3053207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内存浪费：多进程各自持有一份，物理内存 N 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3098927"/>
            <a:ext cx="68580" cy="1397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39211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函数天然可见，不需要任何导出宏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3384931"/>
            <a:ext cx="68580" cy="1397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3339211"/>
            <a:ext cx="5016855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· 更新麻烦：库修了 bug，所有用过它的程序都要重新链接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3384931"/>
            <a:ext cx="68580" cy="1397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716655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16655"/>
            <a:ext cx="50292" cy="116052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899535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痛点一：体积大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58437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10 个程序共用一个 5MB 的库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磁盘上就多占 45MB 冗余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3834" y="3716655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3834" y="3716655"/>
            <a:ext cx="50292" cy="116052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6714" y="3899535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45309"/>
                </a:solidFill>
                <a:latin typeface="微软雅黑"/>
              </a:rPr>
              <a:t>痛点二：内存浪费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6714" y="4258437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3 个进程同时跑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物理内存里是 3 份函数机器码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9028" y="3716655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9028" y="3716655"/>
            <a:ext cx="50292" cy="116052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1908" y="3899535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痛点三：更新麻烦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1908" y="4258437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库修一个 bug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要把所有程序重新链接一遍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8349"/>
            <a:ext cx="11094415" cy="255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▸ 根因只有一个：链接器把库的代码"复制"到了每个程序里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本讲把"复制"改成"共享"：库独立成文件，程序共用同一份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什么是动态库：独立成文件，运行时加载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动态库本体 / 导入库 / 导出符号 —— 三个必须分清的概念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976121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976121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📌 一句话定义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2514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动态库 = 把多个目标文件链接成一个独立二进制文件，由操作系统在运行时加载、多进程共享。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585466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622042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平台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51762" y="2622042"/>
            <a:ext cx="31088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动态库文件名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80086" y="2622042"/>
            <a:ext cx="57715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含义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96946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33522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Linux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1762" y="3033522"/>
            <a:ext cx="31088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libaccount.so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80086" y="3033522"/>
            <a:ext cx="57715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so = shared object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408426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445002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Windows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1762" y="3445002"/>
            <a:ext cx="31088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account.dll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0086" y="3445002"/>
            <a:ext cx="57715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dll = dynamic link library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19906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856482"/>
            <a:ext cx="155565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macOS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51762" y="3856482"/>
            <a:ext cx="310886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libaccount.dylib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80086" y="3856482"/>
            <a:ext cx="577152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dylib = dynamic library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432554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4432554"/>
            <a:ext cx="50292" cy="116052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20" y="4615434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动态库本体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974336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提供真正的函数机器码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运行时被映射进进程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432554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13834" y="4432554"/>
            <a:ext cx="50292" cy="116052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96714" y="4615434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导入库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96714" y="4974336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只有"符号归属"的通讯录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本身不含代码，链接时用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79028" y="4432554"/>
            <a:ext cx="3564026" cy="1160526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79028" y="4432554"/>
            <a:ext cx="50292" cy="116052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61908" y="4615434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导出符号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61908" y="4974336"/>
            <a:ext cx="3143402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显式声明哪些函数可被外部调用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由 ACCOUNT_API 宏标记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链接时连的是导入库（几 KB 的通讯录），运行时加载的是动态库本体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编译动态库：-fPIC -shared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Linux 与 Windows(MinGW) 两套写法，做的事情完全一样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5446623" cy="1160526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16052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5025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-fPIC 位置无关代码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5025999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库被映射到地址空间的任意位置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代码不能假设自己的绝对地址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6431" y="1426464"/>
            <a:ext cx="5446623" cy="1160526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6431" y="1426464"/>
            <a:ext cx="50292" cy="116052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9311" y="1609344"/>
            <a:ext cx="502599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-shared 生成共享库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9311" y="1968245"/>
            <a:ext cx="5025999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告诉编译器：产物是动态库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而不是一个可执行文件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806446"/>
            <a:ext cx="11094415" cy="2877058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806446"/>
            <a:ext cx="11094415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2861310"/>
            <a:ext cx="10765231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build.bat / Makefile 的核心两行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270961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 Linux：一次编译出 libaccount.so（.so 自带完整符号表，无需导入库）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469335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gcc -Wall -Wextra -fPIC -shared -o libaccount.so account.c transaction.c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667709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gcc -Wall -Wextra -o atm_dynamic main.c -L. -laccount -Wl,-rpath,'$ORIGIN'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866083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064457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 Windows / MinGW：一次编译出 account.dll + 导入库 libaccount.dll.a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262831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gcc -Wall -Wextra -shared -o account.dll account.c transaction.c \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461205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-Wl,--out-implib,libaccount.dll.a -DACCOUNT_EXPORTS -DTRANSACTION_EXPORTS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659579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gcc -Wall -Wextra -o atm_dynamic.exe main.c -L. -laccount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4857953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" y="5056327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 -DACCOUNT_EXPORTS 让 ACCOUNT_API 展开为 dllexport（导出）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" y="5254701"/>
            <a:ext cx="10765231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9FB0C9"/>
                </a:solidFill>
                <a:latin typeface="Consolas"/>
              </a:rPr>
              <a:t># 不加这个宏编译主程序时，它展开为 dllimport（导入）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Linux 一条 -fPIC -shared 就够；MinGW 还要多产一个导入库给链接器用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加载时链接：exe 里只有一张导入表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链接器不复制任何库代码，只留下"欠条清单" IAT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1081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💡 链接器到底做了什么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动态链接时链接器很"抠门"：它只检查"哪些符号还没定义"，然后在 exe 里登记一条"我叫过 account_create，它在 account.dll 里"——这就是导入表 IAT。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8450"/>
            <a:ext cx="6656649" cy="2877058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838450"/>
            <a:ext cx="6656649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893314"/>
            <a:ext cx="6327465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atm_dynamic.exe 的内部结构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302965"/>
            <a:ext cx="6327465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链接时：链接器只看"有哪些符号没定义"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501339"/>
            <a:ext cx="6327465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main.o ──────────┐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699713"/>
            <a:ext cx="6327465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             ├──► 链接器 ──► atm_dynamic.exe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898087"/>
            <a:ext cx="6327465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libaccount.dll.a 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4096461"/>
            <a:ext cx="6327465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┌──────────────────────────────┐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294835"/>
            <a:ext cx="6327465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│ main() 的机器码                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493209"/>
            <a:ext cx="6327465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├──────────────────────────────┤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691583"/>
            <a:ext cx="6327465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│ 导入表 IAT（欠条清单）          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889957"/>
            <a:ext cx="6327465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│  account_create      → ???    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5088331"/>
            <a:ext cx="6327465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│  transaction_transfer → ???   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286705"/>
            <a:ext cx="6327465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└──────────────────────────────┘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43033" y="2838450"/>
            <a:ext cx="4200022" cy="1378458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443033" y="2838450"/>
            <a:ext cx="50292" cy="137845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25913" y="3021330"/>
            <a:ext cx="3779398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🔑 三个要点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25913" y="3380232"/>
            <a:ext cx="3779398" cy="6537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exe 里没有 account_create 的机器码，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只有一张"符号名 → 地址未知"的导入表；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地址留给 OS 加载器，启动时才回填。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导入表 IAT = 一张欠条清单：先记下欠谁，运行时再还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启动时：操作系统加载器来"还债"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五个步骤，把库映射进进程并回填地址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45361"/>
            <a:ext cx="1970166" cy="960120"/>
          </a:xfrm>
          <a:prstGeom prst="roundRect">
            <a:avLst>
              <a:gd name="adj" fmla="val 12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19224"/>
            <a:ext cx="1787286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映射 exe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14626"/>
            <a:ext cx="1787286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读进新进程</a:t>
            </a:r>
          </a:p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地址空间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546238" y="2106549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829702" y="1745361"/>
            <a:ext cx="1970166" cy="960120"/>
          </a:xfrm>
          <a:prstGeom prst="roundRect">
            <a:avLst>
              <a:gd name="adj" fmla="val 12000"/>
            </a:avLst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1142" y="1919224"/>
            <a:ext cx="1787286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读导入表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1142" y="2214626"/>
            <a:ext cx="1787286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发现需要</a:t>
            </a:r>
          </a:p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account.dll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827300" y="2106549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0764" y="1745361"/>
            <a:ext cx="1970166" cy="960120"/>
          </a:xfrm>
          <a:prstGeom prst="roundRect">
            <a:avLst>
              <a:gd name="adj" fmla="val 12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2204" y="1919224"/>
            <a:ext cx="1787286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映射 dll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02204" y="2214626"/>
            <a:ext cx="1787286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只读映射进</a:t>
            </a:r>
          </a:p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同一进程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108362" y="2106549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391826" y="1745361"/>
            <a:ext cx="1970166" cy="96012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3266" y="2016760"/>
            <a:ext cx="1787286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回填 IAT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83266" y="2312162"/>
            <a:ext cx="1787286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真实地址写进导入表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389424" y="2106549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72888" y="1745361"/>
            <a:ext cx="1970166" cy="960120"/>
          </a:xfrm>
          <a:prstGeom prst="roundRect">
            <a:avLst>
              <a:gd name="adj" fmla="val 12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64328" y="1919224"/>
            <a:ext cx="1787286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⑤ 跳到 main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64328" y="2214626"/>
            <a:ext cx="1787286" cy="3901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开始执行</a:t>
            </a:r>
          </a:p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main 函数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2943225"/>
            <a:ext cx="6434760" cy="248031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48640" y="2943225"/>
            <a:ext cx="6434760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2998089"/>
            <a:ext cx="6105576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地址空间与物理内存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3407740"/>
            <a:ext cx="610557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内存视图（三个进程共用一份代码）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" y="3606114"/>
            <a:ext cx="610557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804488"/>
            <a:ext cx="610557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进程A ─┐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4002862"/>
            <a:ext cx="610557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进程B ─┼── 虚拟地址各不相同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4201236"/>
            <a:ext cx="610557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进程C ─┘   但都指向同一份物理内存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" y="4399610"/>
            <a:ext cx="610557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4597984"/>
            <a:ext cx="610557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[ account.dll 代码段 ]  只读 → 物理内存只有 1 份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" y="4796358"/>
            <a:ext cx="610557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[ 数据段 accounts[]  ]  可写 → 每个进程各 1 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" y="4994732"/>
            <a:ext cx="6105576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共享只读代码省内存，可写数据独立互不干扰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21144" y="2943225"/>
            <a:ext cx="4421910" cy="210312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221144" y="2943225"/>
            <a:ext cx="50292" cy="21031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404024" y="3126105"/>
            <a:ext cx="4001286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⚖️ 共享什么，不共享什么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04024" y="3485007"/>
            <a:ext cx="4001286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共享的是"代码段"（只读，函数机器码不会变，共享无害且省内存）。</a:t>
            </a:r>
          </a:p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全局变量 accounts[] 在可写数据段，每个进程各有一份独立副本，进程 A 给张三加钱，进程 B 的账本不受影响。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共享只读代码段省内存；可写数据各自独立——这正是动态库的"共享"能成立的边界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动态库的优缺点与常见坑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共享省资源，代价是"运行时依赖"和"DLL Hell"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275903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0439" y="2275903"/>
            <a:ext cx="5382615" cy="420624"/>
          </a:xfrm>
          <a:prstGeom prst="roundRect">
            <a:avLst>
              <a:gd name="adj" fmla="val 1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30767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优点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19" y="2330767"/>
            <a:ext cx="5016855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微软雅黑"/>
              </a:rPr>
              <a:t>缺点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751391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节省磁盘：全系统只有一份库文件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3" y="2797111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3319" y="2751391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运行时依赖：缺 dll/so，程序直接启动不了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15303" y="2797111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029140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节省内存：代码段只读共享，物理内存一份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3" y="3074860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3319" y="3029140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DLL Hell：同一 dll 多版本互相覆盖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15303" y="3074860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306889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便于更新：替换库文件即可，程序无需重链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3" y="3352609"/>
            <a:ext cx="68580" cy="13144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3319" y="3306889"/>
            <a:ext cx="5016855" cy="22288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· 加载开销与调试：启动要重定位，崩溃点可能在库里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15303" y="3352609"/>
            <a:ext cx="68580" cy="131445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48640" y="3749230"/>
            <a:ext cx="3564026" cy="1143762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3749230"/>
            <a:ext cx="50292" cy="114376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932110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坑一：缺库起不来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91012"/>
            <a:ext cx="314340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把 account.dll 改名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程序在启动阶段就报错终止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13834" y="3749230"/>
            <a:ext cx="3564026" cy="1143762"/>
          </a:xfrm>
          <a:prstGeom prst="roundRect">
            <a:avLst>
              <a:gd name="adj" fmla="val 6000"/>
            </a:avLst>
          </a:prstGeom>
          <a:solidFill>
            <a:srgbClr val="FFF6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3834" y="3749230"/>
            <a:ext cx="50292" cy="1143762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96714" y="3932110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45309"/>
                </a:solidFill>
                <a:latin typeface="微软雅黑"/>
              </a:rPr>
              <a:t>坑二：DLL Hell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6714" y="4291012"/>
            <a:ext cx="314340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A 要 v1、B 要 v2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系统却只能留一份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79028" y="3749230"/>
            <a:ext cx="3564026" cy="1143762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79028" y="3749230"/>
            <a:ext cx="50292" cy="114376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61908" y="3932110"/>
            <a:ext cx="3143402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价值：可单独换库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61908" y="4291012"/>
            <a:ext cx="3143402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只重编 account.dll</a:t>
            </a:r>
          </a:p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旧 exe 直接生效，无需重链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5872"/>
            <a:ext cx="11094415" cy="2382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400" b="0" i="0">
                <a:solidFill>
                  <a:srgbClr val="1F2937"/>
                </a:solidFill>
                <a:latin typeface="微软雅黑"/>
              </a:rPr>
              <a:t>▸ 适合：大型系统、多程序共享基础库、插件架构；不适合：单文件小工具、嵌入式裸机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缺库是"启动失败"而不是"功能失效"——这是动态库最典型的行为特征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原理深入：为什么能省内存？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代码段只读 → 可共享映射；数据段可写 → 每进程独立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96774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9677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🧭 一句话原理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24307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操作系统把库的只读代码段共享映射给多个进程，可写数据段则用写时复制作各进程独立副本。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595372"/>
            <a:ext cx="6212872" cy="2877058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48640" y="2595372"/>
            <a:ext cx="6212872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650236"/>
            <a:ext cx="5883688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代码共享 vs 数据独立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3059887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同一份 account.dll，三份不同的地址空间：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3258261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456635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    虚拟地址      物理内存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655009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进程A ── 0x7F00 ──┐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853383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进程B ── 0x9A00 ──┼──► [ 代码段 ] 只有 1 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4051757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进程C ── 0xB400 ──┘     （只读、可共享）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4250131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448505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    虚拟地址      物理内存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646879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进程A ── 0x7F10 ──► [ 数据段 A ] 一份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845253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进程B ── 0x9A10 ──► [ 数据段 B ] 一份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043627"/>
            <a:ext cx="5883688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进程C ── 0xB410 ──► [ 数据段 C ] 一份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99256" y="2595372"/>
            <a:ext cx="4643798" cy="934212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999256" y="2595372"/>
            <a:ext cx="50292" cy="93421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82136" y="2778252"/>
            <a:ext cx="422317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只读 → 敢共享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2136" y="3137154"/>
            <a:ext cx="422317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函数机器码永不改变，多进程指向同一份物理页零风险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99256" y="3657600"/>
            <a:ext cx="4643798" cy="934212"/>
          </a:xfrm>
          <a:prstGeom prst="roundRect">
            <a:avLst>
              <a:gd name="adj" fmla="val 6000"/>
            </a:avLst>
          </a:prstGeom>
          <a:solidFill>
            <a:srgbClr val="FD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99256" y="3657600"/>
            <a:ext cx="50292" cy="93421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2136" y="3840480"/>
            <a:ext cx="422317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B91C1C"/>
                </a:solidFill>
                <a:latin typeface="微软雅黑"/>
              </a:rPr>
              <a:t>可写 → 必须独立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82136" y="4199382"/>
            <a:ext cx="422317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若共享，A 改余额会污染 B 的账本，绝不可接受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99256" y="4719828"/>
            <a:ext cx="4643798" cy="93421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99256" y="4719828"/>
            <a:ext cx="50292" cy="93421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82136" y="4902708"/>
            <a:ext cx="4223174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这就是省内存的来源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82136" y="5261610"/>
            <a:ext cx="422317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50" b="0" i="0">
                <a:solidFill>
                  <a:srgbClr val="1F2937"/>
                </a:solidFill>
                <a:latin typeface="微软雅黑"/>
              </a:rPr>
              <a:t>10 个进程跑同一库，代码段内存仍只有 1 份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"共享代码、隔离数据"——一条边界，同时解释了省内存和进程互不干扰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对比与辨析：静态库 vs 动态库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从打包、链接、运行到更新，逐项对照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426464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1463040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对比项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95539" y="146304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静态库 .a / .lib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33305" y="146304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动态库 .so / .dll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837944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1874520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打包工具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5539" y="187452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ar rcs 把 .o 打包成 .a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33305" y="187452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gcc -shared 直接产出 .dll/.so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249424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286000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链接产物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5539" y="228600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exe 内含库代码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3305" y="228600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exe 内只有导入表 IAT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660904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697480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运行时依赖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95539" y="269748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无，已内置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3305" y="269748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必须有库文件，缺了起不来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072384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3108960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磁盘占用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95539" y="310896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每程序一份（大）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3305" y="310896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全系统一份（小）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483864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520440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内存占用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95539" y="352044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每进程一份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33305" y="352044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多进程共享只读代码段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3895344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3931920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启动速度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95539" y="393192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快（无加载开销）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33305" y="393192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稍慢（要加载 + 重定位 + 回填）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306824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4343400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库更新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95539" y="434340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全部程序重新链接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33305" y="434340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替换库文件即可，下次启动生效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4718304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54880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版本冲突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95539" y="475488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无（各自一份）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33305" y="475488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有（DLL Hell）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48640" y="5129784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76656" y="5166360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典型使用者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895539" y="516636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小工具、嵌入式裸机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33305" y="5166360"/>
            <a:ext cx="4218310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系统级库、插件、大型软件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一句话记忆：静态库是"复制"，动态库是"共享"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ATM 实战：本讲源码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src/account.h 的导出宏 + src/main.c —— 主程序和静态库版几乎一样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5990984" cy="2777871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5990984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5661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account.h：显式标记哪些函数要导出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/* account.h —— 导出/导入宏（本讲第一个新知识点） */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80336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#if defined(_WIN32) || defined(_MSC_VER)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69693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    #ifdef ACCOUNT_EXPORTS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59050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        #define ACCOUNT_API __declspec(dllexport)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48407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    #else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37764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        #define ACCOUNT_API __declspec(dllimport)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27121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    #endif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16478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#else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05835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    #define ACCOUNT_API __attribute__((visibility("default")))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595192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#endif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784549"/>
            <a:ext cx="5661800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ACCOUNT_API int account_create(const char *name, double bal);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77368" y="1426464"/>
            <a:ext cx="4865686" cy="2588514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77368" y="1426464"/>
            <a:ext cx="4865686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1960" y="1481328"/>
            <a:ext cx="4536502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1" i="0">
                <a:solidFill>
                  <a:srgbClr val="FDBA74"/>
                </a:solidFill>
                <a:latin typeface="微软雅黑"/>
              </a:rPr>
              <a:t>main.c：源码几乎没变，变的只是链接方式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1960" y="1890979"/>
            <a:ext cx="4536502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/* main.c —— 调用方式与静态库版完全一致 */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1960" y="2080336"/>
            <a:ext cx="4536502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#include "account.h"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1960" y="2269693"/>
            <a:ext cx="4536502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9FB0C9"/>
                </a:solidFill>
                <a:latin typeface="Consolas"/>
              </a:rPr>
              <a:t>#include "transaction.h"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1960" y="2459050"/>
            <a:ext cx="4536502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int main(void) {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1960" y="2648407"/>
            <a:ext cx="4536502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id1 = account_create("张三", 1000.0);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1960" y="2837764"/>
            <a:ext cx="4536502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transaction_deposit(id1, 500.0);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1960" y="3027121"/>
            <a:ext cx="4536502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transaction_transfer(id1, id3, 300.0);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1960" y="3216478"/>
            <a:ext cx="4536502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    account_list_all();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1960" y="3405835"/>
            <a:ext cx="4536502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DBA74"/>
                </a:solidFill>
                <a:latin typeface="Consolas"/>
              </a:rPr>
              <a:t>    return 0;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1960" y="3595192"/>
            <a:ext cx="4536502" cy="18935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E6EDF7"/>
                </a:solidFill>
                <a:latin typeface="Consolas"/>
              </a:rPr>
              <a:t>}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4405503"/>
            <a:ext cx="11094415" cy="1160526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4405503"/>
            <a:ext cx="50292" cy="116052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588383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🔒 导出是"显式许可"：没标记的符号外部拿不到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947285"/>
            <a:ext cx="10673791" cy="4358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00" b="0" i="0">
                <a:solidFill>
                  <a:srgbClr val="1F2937"/>
                </a:solidFill>
                <a:latin typeface="微软雅黑"/>
              </a:rPr>
              <a:t>内部数据与辅助函数用 static 修饰，不会进入导出表——objdump -p account.dll 只能看到 11 个 account_* / transaction_* 符号，log_transaction 和 accounts[] 都查不到。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运行演示：真实编译与运行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编译命令、账户列表、依赖查询、退出码 —— 全部来自真实运行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6878537" cy="4067302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26464"/>
            <a:ext cx="6878537" cy="36576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481328"/>
            <a:ext cx="6549353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DBA74"/>
                </a:solidFill>
                <a:latin typeface="微软雅黑"/>
              </a:rPr>
              <a:t>终端实录（真实输出，未删改）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1890979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gcc -shared -o account.dll account.c transaction.c \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2089353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  -Wl,--out-implib,libaccount.dll.a \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2287727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  -DACCOUNT_EXPORTS -DTRANSACTION_EXPORTS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486101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gcc -Wall -Wextra -o atm_dynamic.exe main.c -L. -laccount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684475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printf '6\n0\n' | ./atm_dynamic.exe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2882849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=== ATM动态库版初始化 ===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3081223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[开户] ID:1001  户名:张三  余额:1000.00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279597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[转账] 1001 -&gt; 1003  金额:300.00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477971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======== 账户列表 ========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" y="3676345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1001     张三               1200.00      活跃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3874719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1002     李四               1800.00      活跃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073093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1003     王五               800.00       活跃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271467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总计: 3 个账户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69841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objdump -p atm_dynamic.exe | grep "DLL Name"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4668215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        DLL Name: account.dll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" y="4866589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$ echo $?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" y="5064963"/>
            <a:ext cx="6549353" cy="198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6EDF7"/>
                </a:solidFill>
                <a:latin typeface="Consolas"/>
              </a:rPr>
              <a:t>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64921" y="1426464"/>
            <a:ext cx="3978133" cy="3703320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664921" y="1426464"/>
            <a:ext cx="50292" cy="370332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47801" y="1609344"/>
            <a:ext cx="3557509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👀 要看清楚的六个点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47801" y="1968245"/>
            <a:ext cx="3557509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① 编译一次产出 dll + 导入库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② 链接只连导入库，exe 内无库代码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③ 开户、转账、列表都来自 account.dll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④ exe 只登记了一条 account.dll 依赖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⑤ 改名 account.dll → 程序启动即失败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⑥ 只重编 account.dll → 旧 exe 立即生效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片尾有真实运行演示动画，右侧并列展示 account.h / main.c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本讲在主线上的位置 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六级台阶的第四级：库 —— 从"复制"到"共享"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2758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2758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🧭 一条主线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500" b="0" i="0">
                <a:solidFill>
                  <a:srgbClr val="1F2937"/>
                </a:solidFill>
                <a:latin typeface="微软雅黑"/>
              </a:rPr>
              <a:t>六级台阶：表达式 → 函数 → 模块 → 库 → 插件 → 框架。本讲站在第四级"库"上：静态库让代码能被打包复用，动态库让同一份代码被所有程序共享——库这一级的两条腿，到这里才站稳。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① 表达式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第1讲 ✅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166061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449525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40965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② 函数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40965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第3讲 ✅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066946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35041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185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③ 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4185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第4讲 ✅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967831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51295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42735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④ 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2735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← 本讲 ⭐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7868716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52180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3620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⑤ 插件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3620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第11-12讲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769602" y="3170682"/>
            <a:ext cx="256032" cy="237744"/>
          </a:xfrm>
          <a:prstGeom prst="rightArrow">
            <a:avLst/>
          </a:prstGeom>
          <a:solidFill>
            <a:srgbClr val="7C8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0053066" y="2855214"/>
            <a:ext cx="1589989" cy="868680"/>
          </a:xfrm>
          <a:prstGeom prst="roundRect">
            <a:avLst>
              <a:gd name="adj" fmla="val 12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44506" y="3080893"/>
            <a:ext cx="1407109" cy="222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400" b="1" i="0">
                <a:solidFill>
                  <a:srgbClr val="FFFFFF"/>
                </a:solidFill>
                <a:latin typeface="微软雅黑"/>
              </a:rPr>
              <a:t>⑥ 框架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44506" y="3376295"/>
            <a:ext cx="1407109" cy="195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sz="1200" b="0" i="0">
                <a:solidFill>
                  <a:srgbClr val="FFFFFF"/>
                </a:solidFill>
                <a:latin typeface="微软雅黑"/>
              </a:rPr>
              <a:t>第13讲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943350"/>
            <a:ext cx="5419191" cy="1417320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3943350"/>
            <a:ext cx="50292" cy="14173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126230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本讲为终点贡献了什么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485132"/>
            <a:ext cx="4998567" cy="678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静态库解决"可分发"，动态库解决"可共享"；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exe 里只留导入表，OS 启动时映射并回填；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库能单独升级——这条能力直接喂给了插件。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23863" y="3943350"/>
            <a:ext cx="5419191" cy="1417320"/>
          </a:xfrm>
          <a:prstGeom prst="roundRect">
            <a:avLst>
              <a:gd name="adj" fmla="val 6000"/>
            </a:avLst>
          </a:prstGeom>
          <a:solidFill>
            <a:srgbClr val="E8F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23863" y="3943350"/>
            <a:ext cx="50292" cy="14173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06743" y="4126230"/>
            <a:ext cx="4998567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D4ED8"/>
                </a:solidFill>
                <a:latin typeface="微软雅黑"/>
              </a:rPr>
              <a:t>下一讲接着做什么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6743" y="4485132"/>
            <a:ext cx="4998567" cy="6789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第11讲把"加载时机"从启动推迟到运行中：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用到才加载、按名字找函数、用完卸载，</a:t>
            </a:r>
          </a:p>
          <a:p>
            <a:pPr algn="l">
              <a:lnSpc>
                <a:spcPct val="132000"/>
              </a:lnSpc>
            </a:pPr>
            <a:r>
              <a:rPr sz="1350" b="0" i="0">
                <a:solidFill>
                  <a:srgbClr val="1F2937"/>
                </a:solidFill>
                <a:latin typeface="微软雅黑"/>
              </a:rPr>
              <a:t>再配合目录扫描，插件雏形就此诞生。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库把代码复用了，插件让复用发生在运行中——主线正走向"控制反转"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先自己想，再看下一页的参考解答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6252"/>
            <a:ext cx="11094415" cy="1444752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16252"/>
            <a:ext cx="50292" cy="1444752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9132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思考题 ①：三个痛点与动态库的解法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58033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静态库有三个痛点：体积大、内存浪费、更新麻烦。请分别说明每个痛点产生的原因，以及动态库究竟是怎么解决的。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提示：三个痛点的共同根因是同一个动作——"复制"。想清楚动态库在哪里、用什么手段避开了这个动作。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98748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98748"/>
            <a:ext cx="50292" cy="1453895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1628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思考题 ②：导入库为什么不是动态库本体？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40530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Windows/MinGW 下编译动态库时，-Wl,--out-implib,libaccount.dll.a 是做什么的？为什么链接主程序时连的是 libaccount.dll.a，而不是 account.dll？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提示：链接发生在"编译期"，那时程序还没运行。链接器生成导入表，需要的到底是"符号索引"还是"函数机器码"？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带着问题翻页，比直接看答案收获大得多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①②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看看你的思路和参考答案差在哪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417444"/>
            <a:ext cx="5428335" cy="2334006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417444"/>
            <a:ext cx="50292" cy="2334006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00324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解答 ①：复制 → 共享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59225"/>
            <a:ext cx="5007711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体积大：静态链接把目标文件复制进每个 exe，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N 个程序就 N 份；动态库磁盘只留一份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内存浪费：静态代码各进程独立，N 份内存；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动态库代码段只读，多进程共享同一份物理页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更新麻烦：静态代码已焊死在 exe 里，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修 bug 要重链所有程序；动态库只换库文件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一句话：三个痛点的根因都是"复制"，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动态库用一个字破解——"共享"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417444"/>
            <a:ext cx="5428335" cy="2334006"/>
          </a:xfrm>
          <a:prstGeom prst="roundRect">
            <a:avLst>
              <a:gd name="adj" fmla="val 6000"/>
            </a:avLst>
          </a:prstGeom>
          <a:solidFill>
            <a:srgbClr val="F1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417444"/>
            <a:ext cx="50292" cy="233400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600324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6D28D9"/>
                </a:solidFill>
                <a:latin typeface="微软雅黑"/>
              </a:rPr>
              <a:t>解答 ②：链接期不需要机器码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959225"/>
            <a:ext cx="5007711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该选项让链接器额外产出一个"导入库"。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导入库很小，不含函数代码，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只记录"哪些符号由哪个 dll 提供"的通讯录。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链接主程序时，链接器只需知道 account_create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等符号的归属，就能生成导入表 IAT，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根本不需要函数机器码，也无需把 dll 装进 exe。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真正加载 account.dll 是运行时 OS 加载器的事；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Linux 的 .so 自带完整符号表，所以无需导入库。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把"编译期"和"运行期"分开看，两个问题都会迎刃而解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两题进阶：从进程内存，接到"缺库"与"换库"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16252"/>
            <a:ext cx="11094415" cy="1444752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016252"/>
            <a:ext cx="50292" cy="1444752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99132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思考题 ③：两个进程共享同一个 dll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58033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account.c 里有一个 static Account accounts[MAX_ACCOUNTS]; 数组。当两个进程 A 和 B 都加载了同一个 account.dll：①代码和数据在物理内存各有几份？②A 新增账户 B 能看到吗？③为什么"代码段共享、数据段不共享"是合理的？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98748"/>
            <a:ext cx="11094415" cy="1453895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698748"/>
            <a:ext cx="50292" cy="1453895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1628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思考题 ④：缺库的后果与免重链的理由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40530"/>
            <a:ext cx="10673791" cy="7292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把 account.dll 从目录移走，atm_dynamic.exe 会怎样？请对比"动态链接失败"与"静态链接"在程序行为上的差异，并解释为什么动态库更新后程序无需重链就能用上新版本。</a:t>
            </a:r>
          </a:p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提示：注意区分"启动失败"与"运行后功能失效"这两种完全不同的失败方式。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想通这两题，你就真正理解"加载时链接"了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思考题 ③④ 参考解答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从"共享什么"接到本讲最实用的价值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316861"/>
            <a:ext cx="5428335" cy="2334006"/>
          </a:xfrm>
          <a:prstGeom prst="roundRect">
            <a:avLst>
              <a:gd name="adj" fmla="val 6000"/>
            </a:avLst>
          </a:prstGeom>
          <a:solidFill>
            <a:srgbClr val="E4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316861"/>
            <a:ext cx="50292" cy="233400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99741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0F766E"/>
                </a:solidFill>
                <a:latin typeface="微软雅黑"/>
              </a:rPr>
              <a:t>解答 ③：代码一份，数据两份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858642"/>
            <a:ext cx="5007711" cy="1609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代码段只读，物理内存只有一份被共享；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数据段可写（accounts[]、next_id 等），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OS 用写时复制作给每进程独立副本。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A 新增账户，B 完全看不到——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两者操作的是各自地址空间里的独立数组。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合理且必需：只读共享无害又省内存；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可写若共享，A 加钱会改到 B 的账本，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绝不可接受。共享数据必须显式用 IPC。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4719" y="2316861"/>
            <a:ext cx="5428335" cy="2535174"/>
          </a:xfrm>
          <a:prstGeom prst="roundRect">
            <a:avLst>
              <a:gd name="adj" fmla="val 6000"/>
            </a:avLst>
          </a:prstGeom>
          <a:solidFill>
            <a:srgbClr val="E8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4719" y="2316861"/>
            <a:ext cx="50292" cy="253517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7599" y="2499741"/>
            <a:ext cx="500771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15803D"/>
                </a:solidFill>
                <a:latin typeface="微软雅黑"/>
              </a:rPr>
              <a:t>解答 ④：启动失败，但可单独换库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7599" y="2858642"/>
            <a:ext cx="5007711" cy="1810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移走 dll 后程序在"启动阶段"就失败：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Windows 报找不到模块，Linux 报加载共享库失败。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不是跑起来后功能失效，而是根本启动不了。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对比：静态链接删掉库照样跑；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动态链接删掉库就起不来。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免重链的原因：exe 里没有库代码，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只有"符号名→地址未知"的导入表；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每次启动 OS 都重新加载当时的库，</a:t>
            </a:r>
          </a:p>
          <a:p>
            <a:pPr algn="l">
              <a:lnSpc>
                <a:spcPct val="132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把新版函数地址填进 IAT，自然用上新代码。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"启动时加载"是限制，也是可单独升级的来源——下一讲把时机再往后推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36576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7007" y="365760"/>
            <a:ext cx="10436047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1" i="0">
                <a:solidFill>
                  <a:srgbClr val="1F2937"/>
                </a:solidFill>
                <a:latin typeface="微软雅黑"/>
              </a:rPr>
              <a:t>小结与预告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5295" y="987552"/>
            <a:ext cx="10436047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475569"/>
                </a:solidFill>
                <a:latin typeface="微软雅黑"/>
              </a:rPr>
              <a:t>第10讲 动态库 —— 让多个程序共享同一份代码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16736"/>
            <a:ext cx="11094415" cy="18288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776609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第10讲 动态库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45775" y="647395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</a:pPr>
            <a:r>
              <a:rPr sz="1100" b="0" i="0">
                <a:solidFill>
                  <a:srgbClr val="7C8A9C"/>
                </a:solidFill>
                <a:latin typeface="微软雅黑"/>
              </a:rPr>
              <a:t>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426464"/>
            <a:ext cx="11094415" cy="1210818"/>
          </a:xfrm>
          <a:prstGeom prst="roundRect">
            <a:avLst>
              <a:gd name="adj" fmla="val 6000"/>
            </a:avLst>
          </a:prstGeom>
          <a:solidFill>
            <a:srgbClr val="FF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426464"/>
            <a:ext cx="50292" cy="1210818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609344"/>
            <a:ext cx="10673791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C2410C"/>
                </a:solidFill>
                <a:latin typeface="微软雅黑"/>
              </a:rPr>
              <a:t>📝 一句话总结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968245"/>
            <a:ext cx="10673791" cy="4861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450" b="0" i="0">
                <a:solidFill>
                  <a:srgbClr val="1F2937"/>
                </a:solidFill>
                <a:latin typeface="微软雅黑"/>
              </a:rPr>
              <a:t>库代码放进独立的 .dll/.so，exe 里只留一张导入表；启动时 OS 把库映射进进程，多进程共享同一份只读代码段——磁盘和内存双省，还能单独更新库。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56738"/>
            <a:ext cx="11094415" cy="41148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89331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#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42320" y="289331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知识点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1203" y="289331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FFFFFF"/>
                </a:solidFill>
                <a:latin typeface="微软雅黑"/>
              </a:rPr>
              <a:t>关键句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26821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30479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2320" y="330479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静态库三痛点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1203" y="330479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体积大、内存浪费、更新麻烦——根因是"代码复制"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67969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371627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42320" y="371627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动态库概念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1203" y="371627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库代码独立成 .dll/.so，运行时加载共享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09117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" y="412775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2320" y="412775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导出宏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1203" y="412775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ACCOUNT_API / TRANSACTION_API，编译库时展开为 dllexport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50265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453923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2320" y="453923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编译命令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1203" y="453923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Linux 用 -fPIC -shared；Windows -shared + 生成导入库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914138"/>
            <a:ext cx="1109441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" y="495071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42320" y="495071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加载时链接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1203" y="495071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exe 里只有 IAT，OS 启动时映射库并回填地址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5325618"/>
            <a:ext cx="11094415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5362194"/>
            <a:ext cx="446208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 i="0">
                <a:solidFill>
                  <a:srgbClr val="1F2937"/>
                </a:solidFill>
                <a:latin typeface="微软雅黑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2320" y="5362194"/>
            <a:ext cx="1999427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共享机制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1203" y="5362194"/>
            <a:ext cx="7990411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F2937"/>
                </a:solidFill>
                <a:latin typeface="微软雅黑"/>
              </a:rPr>
              <a:t>代码段只读共享省内存，数据段每进程独立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88736"/>
            <a:ext cx="11094415" cy="530352"/>
          </a:xfrm>
          <a:prstGeom prst="roundRect">
            <a:avLst>
              <a:gd name="adj" fmla="val 2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59" y="5980176"/>
            <a:ext cx="10545775" cy="34747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sz="1600" b="1" i="0">
                <a:solidFill>
                  <a:srgbClr val="FFFFFF"/>
                </a:solidFill>
                <a:latin typeface="微软雅黑"/>
              </a:rPr>
              <a:t>下一讲：运行时加载 —— 用 dlopen / LoadLibrary 在运行中打开库、查找函数（第11讲）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