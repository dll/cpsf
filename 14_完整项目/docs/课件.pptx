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8168335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C2410C"/>
                </a:solidFill>
                <a:latin typeface="微软雅黑"/>
              </a:rPr>
              <a:t>从程序员到架构师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5569"/>
                </a:solidFill>
                <a:latin typeface="微软雅黑"/>
              </a:rPr>
              <a:t>C语言插件框架演进之旅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82296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475569"/>
                </a:solidFill>
                <a:latin typeface="微软雅黑"/>
              </a:rPr>
              <a:t>第14讲 / 共 14 讲 · 收官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3776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把 14讲的零件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装成一台能跑的机器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 i="0">
                <a:solidFill>
                  <a:srgbClr val="1F2937"/>
                </a:solidFill>
                <a:latin typeface="微软雅黑"/>
              </a:rPr>
              <a:t>完整项目与全系列总结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78892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C2410C"/>
                </a:solidFill>
                <a:latin typeface="微软雅黑"/>
              </a:rPr>
              <a:t>把一行 printf 变成一台可插拔的 ATM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3474720"/>
            <a:ext cx="5852160" cy="2743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3703320"/>
            <a:ext cx="6583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475569"/>
                </a:solidFill>
                <a:latin typeface="微软雅黑"/>
              </a:rPr>
              <a:t>前十三讲，我们把零件一件件造齐：表达式、函数、模块、库、插件。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475569"/>
                </a:solidFill>
                <a:latin typeface="微软雅黑"/>
              </a:rPr>
              <a:t>这一讲做两件事——先把零件装成一台真正能编译、能运行的机器，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475569"/>
                </a:solidFill>
                <a:latin typeface="微软雅黑"/>
              </a:rPr>
              <a:t>再把整条演进路线收回到一张图里：六级台阶、控制反转、设计模式。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475569"/>
                </a:solidFill>
                <a:latin typeface="微软雅黑"/>
              </a:rPr>
              <a:t>十四讲走完，你会看清：架构不是写出来的，是一级一级长出来的。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全系列14讲知识地图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三层技术线 · 一条复用主线 —— 你在最后一格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453895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45389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🧭 一张图看完全系列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语言基础层（第1-8讲）造零件 → 库与链接层（第9-11讲）让代码被别人复用 → 架构思想层（第12-14讲）让代码被"别人写的代码"扩展。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横着看是三条独立的技术线，竖着看是层层供料，最后一讲把它们焊成一台机器。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81528"/>
            <a:ext cx="1114767" cy="71323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3581"/>
            <a:ext cx="931887" cy="198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5170"/>
            <a:ext cx="931887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第1讲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690839" y="33192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974303" y="3081528"/>
            <a:ext cx="1114767" cy="71323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65743" y="3253581"/>
            <a:ext cx="931887" cy="198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② 控制结构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5743" y="3525170"/>
            <a:ext cx="931887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第2讲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16503" y="33192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99967" y="3081528"/>
            <a:ext cx="1114767" cy="71323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1407" y="3253581"/>
            <a:ext cx="931887" cy="198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③ 函数封装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1407" y="3525170"/>
            <a:ext cx="931887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第3讲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542167" y="33192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25631" y="3081528"/>
            <a:ext cx="1114767" cy="71323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7071" y="3253581"/>
            <a:ext cx="931887" cy="198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④ 多文件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7071" y="3525170"/>
            <a:ext cx="931887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第4讲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67831" y="33192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51295" y="3081528"/>
            <a:ext cx="1114767" cy="71323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2735" y="3253581"/>
            <a:ext cx="931887" cy="198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⑤ 指针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2735" y="3525170"/>
            <a:ext cx="931887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第5讲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393495" y="33192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76959" y="3081528"/>
            <a:ext cx="1114767" cy="71323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68399" y="3253581"/>
            <a:ext cx="931887" cy="198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⑥ 数组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68399" y="3525170"/>
            <a:ext cx="931887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第6讲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819159" y="33192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02623" y="3081528"/>
            <a:ext cx="1114767" cy="71323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4063" y="3253581"/>
            <a:ext cx="931887" cy="198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⑦ 结构体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4063" y="3525170"/>
            <a:ext cx="931887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第7讲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0244823" y="33192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528287" y="3081528"/>
            <a:ext cx="1114767" cy="71323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19727" y="3253581"/>
            <a:ext cx="931887" cy="198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⑧ 链表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19727" y="3525170"/>
            <a:ext cx="931887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第8讲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3995928"/>
            <a:ext cx="3490874" cy="713232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151915"/>
            <a:ext cx="3307994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⑨ 静态库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439380"/>
            <a:ext cx="3307994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第9讲  代码复制一份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4066946" y="42336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350410" y="3995928"/>
            <a:ext cx="3490874" cy="713232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41850" y="4151915"/>
            <a:ext cx="3307994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⑩ 动态库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41850" y="4439380"/>
            <a:ext cx="3307994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第10讲  共享同一份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7868716" y="42336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152180" y="3995928"/>
            <a:ext cx="3490874" cy="713232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43620" y="4151915"/>
            <a:ext cx="3307994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⑪ 运行时加载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3620" y="4439380"/>
            <a:ext cx="3307994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第11讲  dlopen 按需装载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910328"/>
            <a:ext cx="3490874" cy="713232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066315"/>
            <a:ext cx="3307994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⑫ 接口抽象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353780"/>
            <a:ext cx="3307994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第12讲  结构体 + 函数指针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4066946" y="51480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50410" y="4910328"/>
            <a:ext cx="3490874" cy="713232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41850" y="5066315"/>
            <a:ext cx="3307994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⑬ 插件框架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41850" y="5353780"/>
            <a:ext cx="3307994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第13讲  生命周期 + 管理器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7868716" y="51480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152180" y="4910328"/>
            <a:ext cx="3490874" cy="713232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43620" y="5066315"/>
            <a:ext cx="3307994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⑭ 完整项目 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43620" y="5353780"/>
            <a:ext cx="3307994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第14讲  装成一台机器 ← 你在这里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14 讲不是 14 个孤立知识点，是一条"复用范围不断扩大"的演进线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本讲目标：一个可插拔的 ATM 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需求只有两句话，第二句才是真正的门槛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129665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12966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📌 两句话需求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20621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第一句：做一个 ATM，有存款 / 取款 / 查询余额 / 转账四项功能。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第二句：增加第五项功能时，不改主程序一行代码——不用 include、不用 switch、不问有几个功能。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57297"/>
            <a:ext cx="11094415" cy="401955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793873"/>
            <a:ext cx="188848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4594" y="2793873"/>
            <a:ext cx="1222817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来自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6868" y="2793873"/>
            <a:ext cx="732474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这一条在说什么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59252"/>
            <a:ext cx="11094415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195828"/>
            <a:ext cx="188848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统一接口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4594" y="3195828"/>
            <a:ext cx="1222817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第12讲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6868" y="3195828"/>
            <a:ext cx="732474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所有插件长得一样，框架用同一行代码调用它们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61207"/>
            <a:ext cx="11094415" cy="4019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597783"/>
            <a:ext cx="188848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五阶段生命周期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4594" y="3597783"/>
            <a:ext cx="1222817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第13讲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6868" y="3597783"/>
            <a:ext cx="732474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init→start→execute→stop→cleanup，顺序由框架管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63162"/>
            <a:ext cx="11094415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999738"/>
            <a:ext cx="188848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运行时加载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4594" y="3999738"/>
            <a:ext cx="1222817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第11讲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6868" y="3999738"/>
            <a:ext cx="732474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插件是一个个 .dll 文件，扫目录后按需装载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65117"/>
            <a:ext cx="11094415" cy="4019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401693"/>
            <a:ext cx="188848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数据共享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4594" y="4401693"/>
            <a:ext cx="1222817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第10讲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6868" y="4401693"/>
            <a:ext cx="732474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主程序和所有插件看到同一份账户数据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67072"/>
            <a:ext cx="11094415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803648"/>
            <a:ext cx="188848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配置化菜单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4594" y="4803648"/>
            <a:ext cx="1222817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第8讲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6868" y="4803648"/>
            <a:ext cx="732474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菜单项由插件自己声明，主程序零硬编码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169026"/>
            <a:ext cx="11094415" cy="4019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205603"/>
            <a:ext cx="188848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优雅降级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4594" y="5205603"/>
            <a:ext cx="1222817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本讲新增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6868" y="5205603"/>
            <a:ext cx="732474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某个插件加载失败，框架照常启动，只少一项功能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要满足第二句话，功能只能以"插件"的形态，在运行时从外部装进来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完整项目：四层架构，依赖单向向下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每一层只认下一层的接口，不认识下一层的实现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10818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1081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🏛 四层，一条依赖方向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主程序 → 框架 → 插件 → 账务核心，四层单向依赖。主程序只认识 framework.h；框架只认识 Plugin 接口；插件只认识 account.h。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8450"/>
            <a:ext cx="2540431" cy="91440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89453"/>
            <a:ext cx="2357551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① 主程序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84855"/>
            <a:ext cx="2357551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atm_framework.exe</a:t>
            </a:r>
          </a:p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只有三行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16503" y="317677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99967" y="2838450"/>
            <a:ext cx="2540431" cy="9144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91407" y="2989453"/>
            <a:ext cx="2357551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② 框架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1407" y="3284855"/>
            <a:ext cx="2357551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管理器 + 菜单</a:t>
            </a:r>
          </a:p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+ 动态加载器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67831" y="317677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1295" y="2838450"/>
            <a:ext cx="2540431" cy="9144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2735" y="2989453"/>
            <a:ext cx="2357551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③ 插件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2735" y="3284855"/>
            <a:ext cx="2357551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plugins/*.dll</a:t>
            </a:r>
          </a:p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可无限增加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19159" y="317677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02623" y="2838450"/>
            <a:ext cx="2540431" cy="9144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4063" y="2989453"/>
            <a:ext cx="2357551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④ 账务核心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4063" y="3284855"/>
            <a:ext cx="2357551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atmcore.dll</a:t>
            </a:r>
          </a:p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全局唯一一份数据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54018"/>
            <a:ext cx="3564026" cy="1515237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954018"/>
            <a:ext cx="50292" cy="1515237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136898"/>
            <a:ext cx="31434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B91C1C"/>
                </a:solidFill>
                <a:latin typeface="微软雅黑"/>
              </a:rPr>
              <a:t>账务数据必须共享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448175"/>
            <a:ext cx="3143402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每个 DLL 的全局变量各存一份。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若把 account.c 编进四个插件，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"存款"存的 500 元就在它自己那份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accounts[] 里，"查询"读的还是 10000。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13834" y="3954018"/>
            <a:ext cx="3564026" cy="1515237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3834" y="3954018"/>
            <a:ext cx="50292" cy="1515237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6714" y="4136898"/>
            <a:ext cx="31434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766E"/>
                </a:solidFill>
                <a:latin typeface="微软雅黑"/>
              </a:rPr>
              <a:t>目录即架构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6714" y="4448175"/>
            <a:ext cx="3143402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plugin.h 放在 src 根目录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→ 它是所有模块的共同契约。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plugins/ 与 framework.c 平级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→ 插件是外挂，不是框架的一部分。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79028" y="3954018"/>
            <a:ext cx="3564026" cy="1515237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79028" y="3954018"/>
            <a:ext cx="50292" cy="1515237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61908" y="4136898"/>
            <a:ext cx="31434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6D28D9"/>
                </a:solidFill>
                <a:latin typeface="微软雅黑"/>
              </a:rPr>
              <a:t>平台差异关进接口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1908" y="4448175"/>
            <a:ext cx="3143402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LoadLibrary 与 dlopen 完全不同。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把差异关进 dynamic_loader.c，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框架主体就一行 #ifdef 都没有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→ 凡"会变的东西"都关进一个接口。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抽象不是为了好写，是为了让数据只有一个真相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完整项目：目录结构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看目录就能读出架构 —— 谁和谁平级，谁被单独列出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6434760" cy="353529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643476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61055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DBA74"/>
                </a:solidFill>
                <a:latin typeface="微软雅黑"/>
              </a:rPr>
              <a:t>目录树：一眼看出谁依赖谁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14_完整项目/src/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80336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├── plugin.h              统一插件接口（契约）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69693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├── framework.h/.c         框架：管理器 + 菜单 + 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59050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├── dynamic_loader.h/.c    跨平台加载封装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48407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├── account.h/.c           账户模块（编进 atmcore.dll）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37764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├── transaction.h/.c       流水链表（编进 atmcore.dll）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27121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├── main.c                 入口：登记回退 + 三段式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16478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├── plugins/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405835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│   ├── deposit_plugin.c   存款插件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595192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│   ├── withdraw_plugin.c  取款插件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784549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│   ├── query_plugin.c     查询插件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973906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│   └── transfer_plugin.c  转账插件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163263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├── build.bat / Makefile   一键构建（三步走）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352620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├── atmcore.dll            共享账务核心（产物）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541977"/>
            <a:ext cx="610557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└── atm_framework.exe      主程序（产物）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1144" y="1426464"/>
            <a:ext cx="4421910" cy="114376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1144" y="1426464"/>
            <a:ext cx="50292" cy="114376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4024" y="1609344"/>
            <a:ext cx="400128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契约在根部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4024" y="1968245"/>
            <a:ext cx="4001286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plugin.h 不在 plugins/ 里，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而在 src/ 根目录——它是共同契约。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1144" y="2771394"/>
            <a:ext cx="4421910" cy="114376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21144" y="2771394"/>
            <a:ext cx="50292" cy="114376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4024" y="2954274"/>
            <a:ext cx="400128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插件与框架平级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4024" y="3313176"/>
            <a:ext cx="4001286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plugins/ 与 framework.c 同一层，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说明插件是"外挂"，不是框架内部实现。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1144" y="4116323"/>
            <a:ext cx="4421910" cy="1143762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21144" y="4116323"/>
            <a:ext cx="50292" cy="114376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4024" y="4299204"/>
            <a:ext cx="400128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被复用者单独列出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4024" y="4658106"/>
            <a:ext cx="4001286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account / transaction 独立成组，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它们是被复用的一方，不是主程序的内部实现。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好的目录结构会说话：它把"谁稳定、谁易变、谁被谁复用"写在脸上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完整项目：插件接口 plugin.h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结构体打包的不是数据，是"行为"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5990984" cy="372465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5990984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5661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DBA74"/>
                </a:solidFill>
                <a:latin typeface="微软雅黑"/>
              </a:rPr>
              <a:t>plugin.h：C 语言手搓的一张虚函数表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typedef struct Plugin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80336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char name[32];        /* 名称（唯一标识） */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69693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char version[16];     /* 版本号 */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59050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int  menu_id;         /* 菜单编号 */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48407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char menu_label[40];  /* 菜单文字 */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37764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int  need_amount;     /* 1=框架先读金额 */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27121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16478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int  (*init)(struct Plugin* self);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405835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int  (*start)(struct Plugin* self);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595192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int  (*execute)(struct Plugin*, double amount);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784549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int  (*stop)(struct Plugin* self);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973906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void (*cleanup)(struct Plugin* self);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163263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352620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void* user_data;      /* 私有数据 */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541977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PluginState state;    /* 运行时状态 */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731334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} Plugin;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77368" y="1426464"/>
            <a:ext cx="4865686" cy="1305687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77368" y="1426464"/>
            <a:ext cx="50292" cy="1305687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0248" y="1609344"/>
            <a:ext cx="444506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① 打包的是行为，不是数据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0248" y="1920621"/>
            <a:ext cx="444506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第7讲结构体打包数据，本讲打包行为。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C 没有 class，但有函数指针——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于是自己手搓一张虚函数表（vtable）。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77368" y="2896743"/>
            <a:ext cx="4865686" cy="1305687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77368" y="2896743"/>
            <a:ext cx="50292" cy="1305687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0248" y="3079623"/>
            <a:ext cx="444506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766E"/>
                </a:solidFill>
                <a:latin typeface="微软雅黑"/>
              </a:rPr>
              <a:t>② 一个 need_amount 省掉一个 switch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0248" y="3390900"/>
            <a:ext cx="444506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转账要"目标账户 + 金额"两个参数，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统一接口只能传一个 double。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接口保持最小公约数，插件自己声明需要什么。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77368" y="4367022"/>
            <a:ext cx="4865686" cy="1305687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77368" y="4367022"/>
            <a:ext cx="50292" cy="1305687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60248" y="4549902"/>
            <a:ext cx="444506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6D28D9"/>
                </a:solidFill>
                <a:latin typeface="微软雅黑"/>
              </a:rPr>
              <a:t>③ 状态存在插件自己身上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0248" y="4861179"/>
            <a:ext cx="444506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state 是给代码判断用的：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if (p-&gt;state != PLUGIN_STARTED) continue;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一句就挡住所有"没启动却想执行"的调用。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主程序通篇没有"存款""取款"，也没有一处 strcmp(p-&gt;name, "转账")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动态加载 + 优雅降级：坏插件不许拖垮框架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能力可以退化，体验不能退化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64423"/>
            <a:ext cx="11094415" cy="1210818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64423"/>
            <a:ext cx="50292" cy="121081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47303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🔌 加载路径：五步走，每步都有退路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06204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扫描目录 → dll_load → dll_symbol("get_plugin") → 拿 Plugin* → manager_register。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任何一步失败都只影响当前这个文件：打印原因，然后继续扫下一个。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94697"/>
            <a:ext cx="5103430" cy="183108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294697"/>
            <a:ext cx="510343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349561"/>
            <a:ext cx="47742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DBA74"/>
                </a:solidFill>
                <a:latin typeface="微软雅黑"/>
              </a:rPr>
              <a:t>dynamic_loader.h：平台差异关进一个接口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759212"/>
            <a:ext cx="477424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DllHandle dll_load(const char *path, char *err, size_t len);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948569"/>
            <a:ext cx="477424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void     *dll_symbol(DllHandle h, const char *name);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137926"/>
            <a:ext cx="477424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void      dll_unload(DllHandle h);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327283"/>
            <a:ext cx="477424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const char *dll_extension(void);   /* ".dll" 或 ".so" */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516640"/>
            <a:ext cx="477424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int       dll_scan_dir(const char *dir, const char *ext,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705997"/>
            <a:ext cx="4774246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                   DllFileCallback cb, void *user);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89814" y="3294697"/>
            <a:ext cx="5753240" cy="401955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17830" y="3331273"/>
            <a:ext cx="93119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四级防线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479" y="3331273"/>
            <a:ext cx="43831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触发条件与处理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89814" y="3696652"/>
            <a:ext cx="5753240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17830" y="3733228"/>
            <a:ext cx="93119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防线①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479" y="3733228"/>
            <a:ext cx="43831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dll_load 失败 → 打印系统错误原因，跳过该文件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89814" y="4098606"/>
            <a:ext cx="5753240" cy="4019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17830" y="4135182"/>
            <a:ext cx="93119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防线②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479" y="4135182"/>
            <a:ext cx="43831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无 get_plugin 符号 → 卸载并跳过，计入"非插件"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9814" y="4500561"/>
            <a:ext cx="5753240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17830" y="4537137"/>
            <a:ext cx="93119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防线③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8479" y="4537137"/>
            <a:ext cx="43831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get_plugin() 返回空 → 卸载并跳过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89814" y="4902516"/>
            <a:ext cx="5753240" cy="4019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17830" y="4939092"/>
            <a:ext cx="93119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防线④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479" y="4939092"/>
            <a:ext cx="43831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功能缺失 → 启用 main.c 登记的内置实现兜底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不是"我处理了异常"，而是"我能说清楚发生了什么"——这才是工程代码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完整项目：配置化菜单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菜单不是数组，是链表 —— 这就是"零改动扩展"的秘诀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21813"/>
            <a:ext cx="4881542" cy="1885187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321813"/>
            <a:ext cx="4881542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76677"/>
            <a:ext cx="45523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菜单项节点 = 链表节点 + 一个 plugin 指针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786328"/>
            <a:ext cx="455235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typedef struct MenuItem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984702"/>
            <a:ext cx="455235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    int  id;                 /* 菜单编号 */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183076"/>
            <a:ext cx="455235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    char label[40];          /* 菜单文字 */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381450"/>
            <a:ext cx="455235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Plugin* plugin;          /* 关联插件 */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579824"/>
            <a:ext cx="455235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    struct MenuItem* next;   /* 下一个菜单项 */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778198"/>
            <a:ext cx="455235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} MenuItem;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7926" y="2321813"/>
            <a:ext cx="5975128" cy="1874519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7926" y="2321813"/>
            <a:ext cx="50292" cy="1874519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0806" y="2504693"/>
            <a:ext cx="555450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🔑 关键就是那个 plugin 指针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0806" y="2863594"/>
            <a:ext cx="5554504" cy="104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和普通链表唯一的不同，是多了 plugin 指针——它把"用户看到的一行字"和"背后干活的插件"挂在一起。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有了它，菜单处理就退化成纯粹的"查表 + 多态"。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menu_add 用有序插入：注册即挂载、卸载即摘除；加载顺序是 存款→查询→转账→取款，菜单却是 1 存款→2 取款→3 查询→4 转账。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26457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0439" y="4426457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81321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第2讲：硬编码（功能写死在主程序）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3319" y="4481321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第14讲：配置化（数据驱动）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01945"/>
            <a:ext cx="5016855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· printf 一行行写菜单，switch 一个个 case 分发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3" y="4947665"/>
            <a:ext cx="68580" cy="11493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3319" y="4901945"/>
            <a:ext cx="5016855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· 遍历链表显示菜单，menu_find 查表 + 多态调用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15303" y="4947665"/>
            <a:ext cx="68580" cy="11493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63184"/>
            <a:ext cx="5016855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· 加"转账"要改三处：打印、分支、编号分配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3" y="5208904"/>
            <a:ext cx="68580" cy="11493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3319" y="5163184"/>
            <a:ext cx="5016855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· 加"转账"改 0 处：插件自带 menu_id 与 menu_label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5303" y="5208904"/>
            <a:ext cx="68580" cy="11493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424423"/>
            <a:ext cx="5016855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· 菜单顺序 = 代码里的书写顺序，改功能必改主程序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3" y="5470143"/>
            <a:ext cx="68580" cy="11493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3319" y="5424423"/>
            <a:ext cx="5016855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· 菜单顺序 = id 排序，与插件加载顺序完全无关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15303" y="5470143"/>
            <a:ext cx="68580" cy="11493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菜单不长在代码里，它长在链表里 —— 谁注册，谁就在里面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关键代码走读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状态机守门 + 注册即挂菜单 + 主程序只剩三行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6212872" cy="258851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6212872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5883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DBA74"/>
                </a:solidFill>
                <a:latin typeface="微软雅黑"/>
              </a:rPr>
              <a:t>framework.c：manager_start_all() 的核心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while (cur != NULL)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80336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Plugin* p = cur-&gt;plugin;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69693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if (p-&gt;state != PLUGIN_INITIALIZED) continue;  /* 状态守门 */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59050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p-&gt;state = PLUGIN_STARTED;                     /* 升状态：已启动 */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48407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if (p-&gt;menu_id != 0) {                         /* 插件自己声明菜单 */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37764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    menu_add(p-&gt;menu_id, p-&gt;menu_label, p);    /* 注册即挂载 */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27121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16478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ok++;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405835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cur = cur-&gt;next;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595192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9256" y="1426464"/>
            <a:ext cx="4643798" cy="2020443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99256" y="1426464"/>
            <a:ext cx="4643798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63848" y="1481328"/>
            <a:ext cx="431461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DBA74"/>
                </a:solidFill>
                <a:latin typeface="微软雅黑"/>
              </a:rPr>
              <a:t>main.c：通篇没有"存款""取款"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3848" y="1890979"/>
            <a:ext cx="431461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int main(void)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3848" y="2080336"/>
            <a:ext cx="431461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3848" y="2269693"/>
            <a:ext cx="431461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framework_start();   /* 加载 + 注册 + init + start */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3848" y="2459050"/>
            <a:ext cx="431461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framework_run();     /* 菜单交互循环 */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3848" y="2648407"/>
            <a:ext cx="431461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framework_stop();    /* stop + cleanup + 卸载 */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3848" y="2837764"/>
            <a:ext cx="431461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return 0;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3848" y="3027121"/>
            <a:ext cx="431461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9256" y="3666363"/>
            <a:ext cx="4643798" cy="201168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99256" y="3666363"/>
            <a:ext cx="50292" cy="20116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82136" y="3849243"/>
            <a:ext cx="422317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plugin.h：把控制权交出去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2136" y="4208145"/>
            <a:ext cx="4223174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Plugin 结构体 = 元数据 + 五个函数指针，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C 语言用"结构体 + 函数指针"手搓了一张虚函数表。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主程序只做两件事：登记兜底方案、把控制权交给框架。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从第2讲的几十行 switch，瘦到今天的三行。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主程序少掉的全是"调度代码"——这就是控制反转最直观的度量方式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真实运行输出：终端实录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printf '1\n1\n500\n0\n' | ./atm_framework.exe（未删改，仅省去重复菜单）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410337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1109441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DBA74"/>
                </a:solidFill>
                <a:latin typeface="微软雅黑"/>
              </a:rPr>
              <a:t>终端实录（真实输出，节选）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$ printf '1\n1\n500\n0\n' | ./atm_framework.exe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80336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=== 初始化账务核心 ===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69693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[开户] ID:1001  户名:张三  余额:10000.00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59050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=== 扫描插件目录: plugins ===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48407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[发现] plugins\deposit_plugin.dll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37764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[注册] 存款     v1.0  menu=1  向当前账户存入现金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27121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[注册] 查询     v1.0  menu=3  查询余额与交易流水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16478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[注册] 转账     v1.0  menu=4  在当前账户与目标账户之间转账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405835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[注册] 取款     v1.0  menu=2  从当前账户取出现金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595192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[结果] 扫描 4 个文件：成功 4，失败 0，非插件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784549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[OK]   [存款] 已由动态库提供，不使用内置实现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973906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=== 框架启动完成，菜单项 5 个 ===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163263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1. 存款   2. 取款   3. 查询余额   4. 转账   9. 插件列表   0. 退出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352620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请选择操作: 请输入金额:   [存款] 账户:1001(张三)  金额:1.00  余额:10001.00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541977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请选择操作:   [错误] 无效的菜单编号: 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731334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[管理器] 已释放 4 个插件节点     [菜单] 已释放 1 个菜单项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920691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[卸载] plugins\deposit_plugin.dll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110048"/>
            <a:ext cx="1076523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=== 框架已安全关闭，再见！===    $ echo $?  -&gt;  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片尾有真实运行演示动画：逐行打字 + 右侧并列展示 main.c / framework.c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运行演示：优雅降级实测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故意弄坏一个插件，看框架怎么不崩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28216"/>
            <a:ext cx="3564026" cy="135331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28216"/>
            <a:ext cx="50292" cy="135331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11096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① 插件来自文件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69997"/>
            <a:ext cx="314340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[发现] plugins\deposit_plugin.dll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插件是从目录里扫出来的，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不是编译进代码的。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3834" y="1728216"/>
            <a:ext cx="3564026" cy="1353312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3834" y="1728216"/>
            <a:ext cx="50292" cy="13533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6714" y="1911096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② 加载有统计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6714" y="2269997"/>
            <a:ext cx="314340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[结果] 成功 4，失败 0，非插件 0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加载过程有账可算，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失败绝不会静默发生。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9028" y="1728216"/>
            <a:ext cx="3564026" cy="1353312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9028" y="1728216"/>
            <a:ext cx="50292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1908" y="1911096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③ 菜单是攒出来的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1908" y="2269997"/>
            <a:ext cx="314340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菜单 5 项 = 4 个插件 + 1 个内置项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主程序一行菜单都没写，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挂上去的还有摘下来的路径。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300984"/>
            <a:ext cx="11094415" cy="2139696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300984"/>
            <a:ext cx="11094415" cy="365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355848"/>
            <a:ext cx="108018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DBA74"/>
                </a:solidFill>
                <a:latin typeface="微软雅黑"/>
              </a:rPr>
              <a:t>降级实测：删掉 plugins/transfer_plugin.dll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3758184"/>
            <a:ext cx="1080180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6EFAC"/>
                </a:solidFill>
                <a:latin typeface="Consolas"/>
              </a:rPr>
              <a:t>$ rm plugins/transfer_plugin.dll      # 故意删掉转账插件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3996309"/>
            <a:ext cx="1080180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[结果] 扫描 3 个文件：成功 3，失败 0，非插件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4234434"/>
            <a:ext cx="1080180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[OK]   [存款] 已由动态库提供，不使用内置实现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4472559"/>
            <a:ext cx="1080180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[降级] [转账] 未从 plugins/ 加载到，启用内置实现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4710684"/>
            <a:ext cx="1080180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[注册] 转账     v1.0  menu=4  在当前账户与目标账户之间转账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4948809"/>
            <a:ext cx="1080180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=== 框架启动完成，菜单项 5 个 ===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5129784"/>
            <a:ext cx="108018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FB0C9"/>
                </a:solidFill>
                <a:latin typeface="微软雅黑"/>
              </a:rPr>
              <a:t>菜单仍是 5 项，转账照常可用 —— 能力退化，体验不退化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片尾演示用真实输出做打字动画，右侧同步展示真实源码文件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全系列知识树：三条线，拧成一股绳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横着看是三条技术线，竖着看是层层供料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10818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1081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🌳 每一讲都在为终点供料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没有第8讲的链表，就没有插件链表和菜单链表；没有第5讲的函数指针，就没有 Plugin 接口；没有第10讲的动态库，就没有 atmcore.dll。14 讲，没有一讲是"学过就扔"的。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8450"/>
            <a:ext cx="3564026" cy="1325880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838450"/>
            <a:ext cx="50292" cy="1325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21330"/>
            <a:ext cx="31434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766E"/>
                </a:solidFill>
                <a:latin typeface="微软雅黑"/>
              </a:rPr>
              <a:t>语言基础层（第1-8讲）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32607"/>
            <a:ext cx="314340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表达式 · 控制结构 · 函数 · 多文件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指针 · 数组 · 结构体 · 链表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提供"零件"：值 · 逻辑 · 数据 · 连接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3834" y="2838450"/>
            <a:ext cx="3564026" cy="1325880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3834" y="2838450"/>
            <a:ext cx="50292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6714" y="3021330"/>
            <a:ext cx="31434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D4ED8"/>
                </a:solidFill>
                <a:latin typeface="微软雅黑"/>
              </a:rPr>
              <a:t>库与链接层（第9-11讲）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6714" y="3332607"/>
            <a:ext cx="314340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静态库 → 动态库 → 运行时加载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ar / .dll 共享 / dlopen 按需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回答同一个问题：怎么让代码被复用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9028" y="2838450"/>
            <a:ext cx="3564026" cy="1325880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9028" y="2838450"/>
            <a:ext cx="50292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1908" y="3021330"/>
            <a:ext cx="31434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6D28D9"/>
                </a:solidFill>
                <a:latin typeface="微软雅黑"/>
              </a:rPr>
              <a:t>架构思想层（第12-14讲）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1908" y="3332607"/>
            <a:ext cx="314340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接口抽象 → 插件框架 → 完整项目 ★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结构体+函数指针 / 生命周期 / 装配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回答：怎么被"别人写的代码"扩展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65498"/>
            <a:ext cx="11094415" cy="129006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365498"/>
            <a:ext cx="1109441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420362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贯穿全系列的那条主线：复用范围，一级一级往外扩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830013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复用范围：函数内复用 → 文件内复用 → 项目内复用 → 进程内复用 → 系统级复用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028387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      第1-2讲        第3讲         第4讲        第9-10讲        第11-14讲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226761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      一个值         一段逻辑      一组功能     一份二进制       一个生态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复用的范围，就是架构的高度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本讲在主线上的位置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六级台阶的终点：从"你调用世界"到"世界调用你"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96774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9677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🧭 六级台阶，一套度量：复用范围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243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六级台阶：表达式 → 函数 → 模块 → 库 → 插件 → 框架，每上一级，复用范围就往外扩一圈。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9537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06223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93688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第1-2讲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288798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259537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2806223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093688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第3讲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288798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259537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2806223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093688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第4讲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288798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259537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2806223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093688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第9-10讲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288798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259537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2806223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093688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第11-12讲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288798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259537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2806223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093688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第13-14讲 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619500"/>
            <a:ext cx="5419191" cy="1934336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619500"/>
            <a:ext cx="50292" cy="193433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802380"/>
            <a:ext cx="499856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766E"/>
                </a:solidFill>
                <a:latin typeface="微软雅黑"/>
              </a:rPr>
              <a:t>六级台阶都在回答同一个问题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113657"/>
            <a:ext cx="4998567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① 表达式：让我这一行能用上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② 函数：让同一文件里能用上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③ 模块：让同一项目里能用上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④ 库：让别的项目能用上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⑤ 插件：让运行中的系统能用上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⑥ 框架：让别人写的东西能用上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3619500"/>
            <a:ext cx="5419191" cy="1755648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3619500"/>
            <a:ext cx="50292" cy="17556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3802380"/>
            <a:ext cx="499856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本讲为终点贡献了什么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113657"/>
            <a:ext cx="4998567" cy="104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本讲把前十三讲的全部零件装配到位：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· 运行时加载让"有哪些功能"由文件决定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· 共享库让所有插件看到同一份数据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· 优雅降级让坏插件拖不垮整个系统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· 控制反转从局部走向完整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每上一级，我能控制的东西少一点，能容纳的东西多一点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设计模式入门：C 语言里的四个影子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这些模式，你其实已经在无意中用过了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69363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805939"/>
            <a:ext cx="133376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9874" y="180593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一句话定义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9528" y="1805939"/>
            <a:ext cx="466208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本系列里的 C 语言长相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80843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217419"/>
            <a:ext cx="133376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9874" y="221741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把"算法"抽出来，运行时换一个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9528" y="2217419"/>
            <a:ext cx="466208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p-&gt;execute()：同一行代码，换插件就换行为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92323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628899"/>
            <a:ext cx="133376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工厂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9874" y="262889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不直接 new，交给一个函数去造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9528" y="2628899"/>
            <a:ext cx="466208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get_plugin() 是插件工厂的统一入口符号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03803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040379"/>
            <a:ext cx="133376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观察者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9874" y="304037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主体状态变了，通知一批订阅者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9528" y="3040379"/>
            <a:ext cx="466208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manager_start_all() 遍历链表逐个回调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15283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451859"/>
            <a:ext cx="133376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模板方法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29874" y="3451859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骨架固定，可变步骤留给使用者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9528" y="3451859"/>
            <a:ext cx="466208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五阶段生命周期：框架定序，插件填步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046219"/>
            <a:ext cx="5428335" cy="135331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046219"/>
            <a:ext cx="50292" cy="135331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229099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模式不是额外要学的东西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88001"/>
            <a:ext cx="5007711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设计模式在 C++ / Java 里是"模式"，在 C 里只能自己手搓——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但你是一步步走过来的，不是背过来的。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解决真实问题时，你自然会走到这些路上。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4719" y="4046219"/>
            <a:ext cx="5428335" cy="135331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4719" y="4046219"/>
            <a:ext cx="50292" cy="135331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7599" y="4229099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模板方法：框架定流程，插件填步骤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7599" y="4588001"/>
            <a:ext cx="5007711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框架规定死的骨架：init → start → execute… → stop → cleanup，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插件只填每一步"做什么"；状态机还强制了顺序。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想跳过 init 直接 start？状态机当场拒绝。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设计模式不是额外要学的东西，它是你解决问题时自然走上的路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先自己想，再看下一页的参考解答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92808"/>
            <a:ext cx="11094415" cy="1572768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92808"/>
            <a:ext cx="50292" cy="15727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75688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思考题 ①：插件崩溃了，框架该怎么办？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34589"/>
            <a:ext cx="10673791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本讲的降级策略覆盖的都是"加载阶段"的失败。但如果插件已经成功加载并启动，在 execute() 执行到一半时空指针解引用、数组越界直接崩溃（Windows 访问违例 / Linux SIGSEGV），整个进程会立刻挂掉。</a:t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提示：进程内的段错误，框架到底能不能接住？如果能，代价是什么？想想"进程隔离"这条路要付出什么。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11094415" cy="1572768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0292" cy="15727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思考题 ②：插件之间有依赖关系，怎么保证启动顺序正确？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45102"/>
            <a:ext cx="10673791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假设新来一个"报表"插件，它必须在"查询"和"取款"都启动成功之后才能工作；如果它先启动，调用 transaction_print_history() 时数据还没准备好。而本讲的 manager_start_all() 只是顺序遍历链表，不关心任何依赖。</a:t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提示：依赖关系本质是一张有向图，"启动顺序"是什么？谁来检测循环依赖？停机的顺序又该怎样？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带着问题翻页，比直接看答案收获大得多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看看你的思路和参考答案差在哪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5428335" cy="3017520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75688"/>
            <a:ext cx="50292" cy="30175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58568"/>
            <a:ext cx="500771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B91C1C"/>
                </a:solidFill>
                <a:latin typeface="微软雅黑"/>
              </a:rPr>
              <a:t>解答 ①：分级防御，只有进程隔离能真兜住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9845"/>
            <a:ext cx="5007711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残酷事实：进程内的段错误，框架接不住。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execute() 与框架同进程同线程，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插件越界写内存，可能连账务数据一起踩坏。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第一级 进程内（只防软错误）：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  参数校验 + 返回值协议 + 看门狗超时。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第二级 进程隔离（真解决，代价大）：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  插件跑独立进程，IPC 通信，崩了就重启它。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第三级 工程手段：插件过审、分级目录、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  版本归档回滚、崩溃现场写日志。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075688"/>
            <a:ext cx="5428335" cy="3017520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075688"/>
            <a:ext cx="50292" cy="30175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258568"/>
            <a:ext cx="500771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6D28D9"/>
                </a:solidFill>
                <a:latin typeface="微软雅黑"/>
              </a:rPr>
              <a:t>解答 ②：把隐式约定变成显式数据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569845"/>
            <a:ext cx="500771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第一步 把依赖变成可声明的数据：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  Plugin 里加 depends_on[] + dep_count。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第二步 启动前做一次拓扑排序：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  入度为 0 的先启动，每启动一个解锁一批；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  队列空了还有没启动的 → 存在循环依赖，报错。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第三步 处理"被依赖插件加载不到"：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  严格 / 宽松 / 回退三种策略；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  本讲的"内置实现兜底"天然适合回退策略。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第四步 停止要逆序（A→B→C 就 C→B→A），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  中途失败要按启动逆序回滚。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架构的本质就是：你愿意为哪种失败，付出什么代价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两题进阶：配置化的边界，与库/框架的分界线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47469"/>
            <a:ext cx="11094415" cy="1572768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47469"/>
            <a:ext cx="50292" cy="15727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30349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思考题 ③：配置化和硬编码，边界到底在哪？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89250"/>
            <a:ext cx="10673791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本讲项目里同时存在"配置化"和"硬编码"，而且硬编码是有意为之：插件目录写死为 "plugins"、入口符号写死为 "get_plugin"、生命周期写死五步，但功能清单、菜单编号、need_amount 又全是配置化的。</a:t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提示：判断标准是什么？"会变、且变化来自使用者"与"稳定、且变化只能来自开发者"该怎么分？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981"/>
            <a:ext cx="11094415" cy="1663446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981"/>
            <a:ext cx="50292" cy="166344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40861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思考题 ④：框架和库的本质区别到底是什么？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99763"/>
            <a:ext cx="10673791" cy="938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同一个项目里两者同时存在：atmcore.dll 是库（插件主动调用它的 account_* 函数）；framework.c 是框架（框架反过来调插件的 init/execute）。那分界线到底划在哪？</a:t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提示：从"控制权在谁手上""谁定义流程谁定义步骤""依赖方向""价值来源与代价"四个角度层层深入；最后想想两者是对立的，还是分层共存的。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这两题想通了，你就从"会写代码"走到了"会做设计"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 参考解答 + 全系列收尾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把今天的项目，接到整条架构主线上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第14讲 完整项目与全系列总结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5428335" cy="2697480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26974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500771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766E"/>
                </a:solidFill>
                <a:latin typeface="微软雅黑"/>
              </a:rPr>
              <a:t>解答 ③：契约硬编码，策略配置化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20621"/>
            <a:ext cx="5007711" cy="1735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一条尺子：会变、且变化来自使用者 → 配置化；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稳定、且变化只能来自开发者 → 硬编码。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配置化：功能清单、菜单文字、need_amount。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硬编码：插件目录 "plugins"（部署约定）、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  入口符号 "get_plugin"（ABI 契约）、生命周期五步。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三条细则：契约硬编码策略配置化；变化频率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差一个数量级的东西别放一处；算清配置化成本账。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该反过来硬编码时：功能极少且稳定、性能极敏感、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  必须编译期校验。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1426464"/>
            <a:ext cx="5428335" cy="2697480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1426464"/>
            <a:ext cx="50292" cy="2697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1609344"/>
            <a:ext cx="500771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5803D"/>
                </a:solidFill>
                <a:latin typeface="微软雅黑"/>
              </a:rPr>
              <a:t>解答 ④：控制权在谁手上，就是分界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1920621"/>
            <a:ext cx="5007711" cy="1735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第一层：库是你调用它，框架是它调用你（IoC）。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第二层：谁定义"流程"谁定义"步骤"——库不拒绝你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  调用，框架会拒绝你没按它的流程走。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第三层：依赖方向相反。应用 → 库；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  插件 → 框架契约，而框架不依赖任何具体插件。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第四层：库复用代码，框架复用结构；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  用库学 API，用框架交控制权。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第五层：两者不对立，是分层共存——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  对插件而言，框架是"调用我的"，库是"我调用的"。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25112"/>
            <a:ext cx="11094415" cy="942593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25112"/>
            <a:ext cx="50292" cy="942593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07992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📝 全系列一句话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66894"/>
            <a:ext cx="10673791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一句话总结：把一行 printf，变成一台"谁都能往上装功能、主程序不用改"的机器——这就是架构。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🎉 全系列完 —— 感谢同行。课程结束了，你的架构之路才刚开始。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