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023360" cy="6858000"/>
          </a:xfrm>
          <a:prstGeom prst="rect">
            <a:avLst/>
          </a:prstGeom>
          <a:solidFill>
            <a:srgbClr val="FF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023360" y="0"/>
            <a:ext cx="8168335" cy="109728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051560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1" i="0">
                <a:solidFill>
                  <a:srgbClr val="C2410C"/>
                </a:solidFill>
                <a:latin typeface="微软雅黑"/>
              </a:rPr>
              <a:t>从程序员到架构师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572768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475569"/>
                </a:solidFill>
                <a:latin typeface="微软雅黑"/>
              </a:rPr>
              <a:t>C语言插件框架演进之旅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2103120"/>
            <a:ext cx="822960" cy="4572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468880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 i="0">
                <a:solidFill>
                  <a:srgbClr val="475569"/>
                </a:solidFill>
                <a:latin typeface="微软雅黑"/>
              </a:rPr>
              <a:t>综合篇 / 14 讲串讲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4937760"/>
            <a:ext cx="3200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1" i="0">
                <a:solidFill>
                  <a:srgbClr val="C2410C"/>
                </a:solidFill>
                <a:latin typeface="微软雅黑"/>
              </a:rPr>
              <a:t>半小时看完</a:t>
            </a:r>
          </a:p>
          <a:p>
            <a:pPr algn="l">
              <a:lnSpc>
                <a:spcPct val="130000"/>
              </a:lnSpc>
            </a:pPr>
            <a:r>
              <a:rPr sz="1500" b="1" i="0">
                <a:solidFill>
                  <a:srgbClr val="C2410C"/>
                </a:solidFill>
                <a:latin typeface="微软雅黑"/>
              </a:rPr>
              <a:t>十四讲的完整演进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92040" y="1783080"/>
            <a:ext cx="676656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4600" b="1" i="0">
                <a:solidFill>
                  <a:srgbClr val="1F2937"/>
                </a:solidFill>
                <a:latin typeface="微软雅黑"/>
              </a:rPr>
              <a:t>从表达式到框架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92040" y="2788920"/>
            <a:ext cx="67665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0" i="0">
                <a:solidFill>
                  <a:srgbClr val="C2410C"/>
                </a:solidFill>
                <a:latin typeface="微软雅黑"/>
              </a:rPr>
              <a:t>14 讲要点一次讲透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892040" y="3474720"/>
            <a:ext cx="5852160" cy="27432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92040" y="3703320"/>
            <a:ext cx="658368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600" b="0" i="0">
                <a:solidFill>
                  <a:srgbClr val="475569"/>
                </a:solidFill>
                <a:latin typeface="微软雅黑"/>
              </a:rPr>
              <a:t>这一期不引入新知识，只做一件事：把十四讲串成一条线，</a:t>
            </a:r>
          </a:p>
          <a:p>
            <a:pPr algn="l">
              <a:lnSpc>
                <a:spcPct val="150000"/>
              </a:lnSpc>
            </a:pPr>
            <a:r>
              <a:rPr sz="1600" b="0" i="0">
                <a:solidFill>
                  <a:srgbClr val="475569"/>
                </a:solidFill>
                <a:latin typeface="微软雅黑"/>
              </a:rPr>
              <a:t>看清每一次跃迁解决了什么痛点、留下了什么新问题。</a:t>
            </a:r>
          </a:p>
          <a:p>
            <a:pPr algn="l">
              <a:lnSpc>
                <a:spcPct val="150000"/>
              </a:lnSpc>
            </a:pPr>
            <a:r>
              <a:rPr sz="1600" b="0" i="0">
                <a:solidFill>
                  <a:srgbClr val="475569"/>
                </a:solidFill>
                <a:latin typeface="微软雅黑"/>
              </a:rPr>
              <a:t>从一行 printf，到一台谁都能往上装功能的机器。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36576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07007" y="365760"/>
            <a:ext cx="10436047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800" b="1" i="0">
                <a:solidFill>
                  <a:srgbClr val="1F2937"/>
                </a:solidFill>
                <a:latin typeface="微软雅黑"/>
              </a:rPr>
              <a:t>整条路线：六级台阶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25295" y="987552"/>
            <a:ext cx="10436047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475569"/>
                </a:solidFill>
                <a:latin typeface="微软雅黑"/>
              </a:rPr>
              <a:t>每一级都在做同一件事——把变化从代码里挪到代码外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316736"/>
            <a:ext cx="11094415" cy="18288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776609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7C8A9C"/>
                </a:solidFill>
                <a:latin typeface="微软雅黑"/>
              </a:rPr>
              <a:t>综合篇 · 从表达式到框架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45775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100" b="0" i="0">
                <a:solidFill>
                  <a:srgbClr val="7C8A9C"/>
                </a:solidFill>
                <a:latin typeface="微软雅黑"/>
              </a:rPr>
              <a:t>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426464"/>
            <a:ext cx="1589989" cy="658368"/>
          </a:xfrm>
          <a:prstGeom prst="roundRect">
            <a:avLst>
              <a:gd name="adj" fmla="val 12000"/>
            </a:avLst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636585"/>
            <a:ext cx="1407109" cy="238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500" b="1" i="0">
                <a:solidFill>
                  <a:srgbClr val="FFFFFF"/>
                </a:solidFill>
                <a:latin typeface="微软雅黑"/>
              </a:rPr>
              <a:t>表达式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2166061" y="1636776"/>
            <a:ext cx="256032" cy="237744"/>
          </a:xfrm>
          <a:prstGeom prst="rightArrow">
            <a:avLst/>
          </a:prstGeom>
          <a:solidFill>
            <a:srgbClr val="7C8A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449525" y="1426464"/>
            <a:ext cx="1589989" cy="658368"/>
          </a:xfrm>
          <a:prstGeom prst="roundRect">
            <a:avLst>
              <a:gd name="adj" fmla="val 12000"/>
            </a:avLst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540965" y="1636585"/>
            <a:ext cx="1407109" cy="238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500" b="1" i="0">
                <a:solidFill>
                  <a:srgbClr val="FFFFFF"/>
                </a:solidFill>
                <a:latin typeface="微软雅黑"/>
              </a:rPr>
              <a:t>函数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4066946" y="1636776"/>
            <a:ext cx="256032" cy="237744"/>
          </a:xfrm>
          <a:prstGeom prst="rightArrow">
            <a:avLst/>
          </a:prstGeom>
          <a:solidFill>
            <a:srgbClr val="7C8A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350410" y="1426464"/>
            <a:ext cx="1589989" cy="658368"/>
          </a:xfrm>
          <a:prstGeom prst="roundRect">
            <a:avLst>
              <a:gd name="adj" fmla="val 12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41850" y="1636585"/>
            <a:ext cx="1407109" cy="238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500" b="1" i="0">
                <a:solidFill>
                  <a:srgbClr val="FFFFFF"/>
                </a:solidFill>
                <a:latin typeface="微软雅黑"/>
              </a:rPr>
              <a:t>模块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5967831" y="1636776"/>
            <a:ext cx="256032" cy="237744"/>
          </a:xfrm>
          <a:prstGeom prst="rightArrow">
            <a:avLst/>
          </a:prstGeom>
          <a:solidFill>
            <a:srgbClr val="7C8A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251295" y="1426464"/>
            <a:ext cx="1589989" cy="658368"/>
          </a:xfrm>
          <a:prstGeom prst="roundRect">
            <a:avLst>
              <a:gd name="adj" fmla="val 12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42735" y="1636585"/>
            <a:ext cx="1407109" cy="238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500" b="1" i="0">
                <a:solidFill>
                  <a:srgbClr val="FFFFFF"/>
                </a:solidFill>
                <a:latin typeface="微软雅黑"/>
              </a:rPr>
              <a:t>库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7868716" y="1636776"/>
            <a:ext cx="256032" cy="237744"/>
          </a:xfrm>
          <a:prstGeom prst="rightArrow">
            <a:avLst/>
          </a:prstGeom>
          <a:solidFill>
            <a:srgbClr val="7C8A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152180" y="1426464"/>
            <a:ext cx="1589989" cy="658368"/>
          </a:xfrm>
          <a:prstGeom prst="roundRect">
            <a:avLst>
              <a:gd name="adj" fmla="val 12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43620" y="1636585"/>
            <a:ext cx="1407109" cy="238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500" b="1" i="0">
                <a:solidFill>
                  <a:srgbClr val="FFFFFF"/>
                </a:solidFill>
                <a:latin typeface="微软雅黑"/>
              </a:rPr>
              <a:t>插件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9769602" y="1636776"/>
            <a:ext cx="256032" cy="237744"/>
          </a:xfrm>
          <a:prstGeom prst="rightArrow">
            <a:avLst/>
          </a:prstGeom>
          <a:solidFill>
            <a:srgbClr val="7C8A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0053066" y="1426464"/>
            <a:ext cx="1589989" cy="658368"/>
          </a:xfrm>
          <a:prstGeom prst="roundRect">
            <a:avLst>
              <a:gd name="adj" fmla="val 12000"/>
            </a:avLst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144506" y="1636585"/>
            <a:ext cx="1407109" cy="238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500" b="1" i="0">
                <a:solidFill>
                  <a:srgbClr val="FFFFFF"/>
                </a:solidFill>
                <a:latin typeface="微软雅黑"/>
              </a:rPr>
              <a:t>框架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2304288"/>
            <a:ext cx="3564026" cy="1874519"/>
          </a:xfrm>
          <a:prstGeom prst="roundRect">
            <a:avLst>
              <a:gd name="adj" fmla="val 6000"/>
            </a:avLst>
          </a:prstGeom>
          <a:solidFill>
            <a:srgbClr val="E8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48640" y="2304288"/>
            <a:ext cx="50292" cy="1874519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1520" y="2487168"/>
            <a:ext cx="3143402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1D4ED8"/>
                </a:solidFill>
                <a:latin typeface="微软雅黑"/>
              </a:rPr>
              <a:t>① 语言基础层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2846070"/>
            <a:ext cx="3143402" cy="871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300" b="0" i="0">
                <a:solidFill>
                  <a:srgbClr val="1F2937"/>
                </a:solidFill>
                <a:latin typeface="微软雅黑"/>
              </a:rPr>
              <a:t>第1-8讲：表达式、控制结构、函数、</a:t>
            </a:r>
          </a:p>
          <a:p>
            <a:pPr algn="l">
              <a:lnSpc>
                <a:spcPct val="132000"/>
              </a:lnSpc>
            </a:pPr>
            <a:r>
              <a:rPr sz="1300" b="0" i="0">
                <a:solidFill>
                  <a:srgbClr val="1F2937"/>
                </a:solidFill>
                <a:latin typeface="微软雅黑"/>
              </a:rPr>
              <a:t>多文件、指针、数组、结构体、链表。</a:t>
            </a:r>
          </a:p>
          <a:p>
            <a:pPr algn="l">
              <a:lnSpc>
                <a:spcPct val="132000"/>
              </a:lnSpc>
            </a:pPr>
            <a:r>
              <a:rPr sz="1300" b="0" i="0">
                <a:solidFill>
                  <a:srgbClr val="1F2937"/>
                </a:solidFill>
                <a:latin typeface="微软雅黑"/>
              </a:rPr>
              <a:t>回答：怎么把逻辑写清楚、</a:t>
            </a:r>
          </a:p>
          <a:p>
            <a:pPr algn="l">
              <a:lnSpc>
                <a:spcPct val="132000"/>
              </a:lnSpc>
            </a:pPr>
            <a:r>
              <a:rPr sz="1300" b="0" i="0">
                <a:solidFill>
                  <a:srgbClr val="1F2937"/>
                </a:solidFill>
                <a:latin typeface="微软雅黑"/>
              </a:rPr>
              <a:t>把数据组织好。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313834" y="2304288"/>
            <a:ext cx="3564026" cy="1874519"/>
          </a:xfrm>
          <a:prstGeom prst="roundRect">
            <a:avLst>
              <a:gd name="adj" fmla="val 6000"/>
            </a:avLst>
          </a:prstGeom>
          <a:solidFill>
            <a:srgbClr val="E4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313834" y="2304288"/>
            <a:ext cx="50292" cy="1874519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496714" y="2487168"/>
            <a:ext cx="3143402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0F766E"/>
                </a:solidFill>
                <a:latin typeface="微软雅黑"/>
              </a:rPr>
              <a:t>② 库与链接层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96714" y="2846070"/>
            <a:ext cx="3143402" cy="871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300" b="0" i="0">
                <a:solidFill>
                  <a:srgbClr val="1F2937"/>
                </a:solidFill>
                <a:latin typeface="微软雅黑"/>
              </a:rPr>
              <a:t>第9-11讲：静态库、动态库、</a:t>
            </a:r>
          </a:p>
          <a:p>
            <a:pPr algn="l">
              <a:lnSpc>
                <a:spcPct val="132000"/>
              </a:lnSpc>
            </a:pPr>
            <a:r>
              <a:rPr sz="1300" b="0" i="0">
                <a:solidFill>
                  <a:srgbClr val="1F2937"/>
                </a:solidFill>
                <a:latin typeface="微软雅黑"/>
              </a:rPr>
              <a:t>运行时加载。</a:t>
            </a:r>
          </a:p>
          <a:p>
            <a:pPr algn="l">
              <a:lnSpc>
                <a:spcPct val="132000"/>
              </a:lnSpc>
            </a:pPr>
            <a:r>
              <a:rPr sz="1300" b="0" i="0">
                <a:solidFill>
                  <a:srgbClr val="1F2937"/>
                </a:solidFill>
                <a:latin typeface="微软雅黑"/>
              </a:rPr>
              <a:t>回答：写好的代码怎么交到</a:t>
            </a:r>
          </a:p>
          <a:p>
            <a:pPr algn="l">
              <a:lnSpc>
                <a:spcPct val="132000"/>
              </a:lnSpc>
            </a:pPr>
            <a:r>
              <a:rPr sz="1300" b="0" i="0">
                <a:solidFill>
                  <a:srgbClr val="1F2937"/>
                </a:solidFill>
                <a:latin typeface="微软雅黑"/>
              </a:rPr>
              <a:t>别人手上复用。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079028" y="2304288"/>
            <a:ext cx="3564026" cy="1874519"/>
          </a:xfrm>
          <a:prstGeom prst="roundRect">
            <a:avLst>
              <a:gd name="adj" fmla="val 6000"/>
            </a:avLst>
          </a:prstGeom>
          <a:solidFill>
            <a:srgbClr val="F1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079028" y="2304288"/>
            <a:ext cx="50292" cy="1874519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61908" y="2487168"/>
            <a:ext cx="3143402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6D28D9"/>
                </a:solidFill>
                <a:latin typeface="微软雅黑"/>
              </a:rPr>
              <a:t>③ 架构思想层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61908" y="2846070"/>
            <a:ext cx="3143402" cy="871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300" b="0" i="0">
                <a:solidFill>
                  <a:srgbClr val="1F2937"/>
                </a:solidFill>
                <a:latin typeface="微软雅黑"/>
              </a:rPr>
              <a:t>第12-14讲：接口抽象、</a:t>
            </a:r>
          </a:p>
          <a:p>
            <a:pPr algn="l">
              <a:lnSpc>
                <a:spcPct val="132000"/>
              </a:lnSpc>
            </a:pPr>
            <a:r>
              <a:rPr sz="1300" b="0" i="0">
                <a:solidFill>
                  <a:srgbClr val="1F2937"/>
                </a:solidFill>
                <a:latin typeface="微软雅黑"/>
              </a:rPr>
              <a:t>插件框架、完整项目。</a:t>
            </a:r>
          </a:p>
          <a:p>
            <a:pPr algn="l">
              <a:lnSpc>
                <a:spcPct val="132000"/>
              </a:lnSpc>
            </a:pPr>
            <a:r>
              <a:rPr sz="1300" b="0" i="0">
                <a:solidFill>
                  <a:srgbClr val="1F2937"/>
                </a:solidFill>
                <a:latin typeface="微软雅黑"/>
              </a:rPr>
              <a:t>回答：别人写的代码怎么插进来</a:t>
            </a:r>
          </a:p>
          <a:p>
            <a:pPr algn="l">
              <a:lnSpc>
                <a:spcPct val="132000"/>
              </a:lnSpc>
            </a:pPr>
            <a:r>
              <a:rPr sz="1300" b="0" i="0">
                <a:solidFill>
                  <a:srgbClr val="1F2937"/>
                </a:solidFill>
                <a:latin typeface="微软雅黑"/>
              </a:rPr>
              <a:t>而不改主程序。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48640" y="4398264"/>
            <a:ext cx="11094415" cy="950976"/>
          </a:xfrm>
          <a:prstGeom prst="roundRect">
            <a:avLst>
              <a:gd name="adj" fmla="val 6000"/>
            </a:avLst>
          </a:prstGeom>
          <a:solidFill>
            <a:srgbClr val="FF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48640" y="4398264"/>
            <a:ext cx="50292" cy="950976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31520" y="4581144"/>
            <a:ext cx="10673791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C2410C"/>
                </a:solidFill>
                <a:latin typeface="微软雅黑"/>
              </a:rPr>
              <a:t>🧭 记住这条线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1520" y="4940046"/>
            <a:ext cx="10673791" cy="22631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350" b="0" i="0">
                <a:solidFill>
                  <a:srgbClr val="1F2937"/>
                </a:solidFill>
                <a:latin typeface="微软雅黑"/>
              </a:rPr>
              <a:t>一句话主线：表达式 → 函数 → 模块 → 库 → 插件 → 框架。每上一级，改动的波及面就小一圈。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48640" y="5888736"/>
            <a:ext cx="11094415" cy="530352"/>
          </a:xfrm>
          <a:prstGeom prst="roundRect">
            <a:avLst>
              <a:gd name="adj" fmla="val 20000"/>
            </a:avLst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22959" y="5980176"/>
            <a:ext cx="10545775" cy="3474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600" b="1" i="0">
                <a:solidFill>
                  <a:srgbClr val="FFFFFF"/>
                </a:solidFill>
                <a:latin typeface="微软雅黑"/>
              </a:rPr>
              <a:t>架构演进的全部意义：让"变化"越来越难波及别人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36576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07007" y="365760"/>
            <a:ext cx="10436047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800" b="1" i="0">
                <a:solidFill>
                  <a:srgbClr val="1F2937"/>
                </a:solidFill>
                <a:latin typeface="微软雅黑"/>
              </a:rPr>
              <a:t>第1讲 表达式：一行代码里的骨架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25295" y="987552"/>
            <a:ext cx="10436047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475569"/>
                </a:solidFill>
                <a:latin typeface="微软雅黑"/>
              </a:rPr>
              <a:t>编译四阶段 · 接口/复用/进化三颗种子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316736"/>
            <a:ext cx="11094415" cy="18288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776609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7C8A9C"/>
                </a:solidFill>
                <a:latin typeface="微软雅黑"/>
              </a:rPr>
              <a:t>综合篇 · 从表达式到框架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45775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100" b="0" i="0">
                <a:solidFill>
                  <a:srgbClr val="7C8A9C"/>
                </a:solidFill>
                <a:latin typeface="微软雅黑"/>
              </a:rPr>
              <a:t>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426464"/>
            <a:ext cx="11094415" cy="1177290"/>
          </a:xfrm>
          <a:prstGeom prst="roundRect">
            <a:avLst>
              <a:gd name="adj" fmla="val 6000"/>
            </a:avLst>
          </a:prstGeom>
          <a:solidFill>
            <a:srgbClr val="E8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426464"/>
            <a:ext cx="50292" cy="117729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1609344"/>
            <a:ext cx="10673791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1D4ED8"/>
                </a:solidFill>
                <a:latin typeface="微软雅黑"/>
              </a:rPr>
              <a:t>📌 本讲要点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1968245"/>
            <a:ext cx="10673791" cy="4526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350" b="0" i="0">
                <a:solidFill>
                  <a:srgbClr val="1F2937"/>
                </a:solidFill>
                <a:latin typeface="微软雅黑"/>
              </a:rPr>
              <a:t>一个表达式背后是五个要素：运算符、操作数、优先级、结合性、求值顺序。源文件变成能跑的程序，要过四道门：预处理、编译、汇编、链接。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804922"/>
            <a:ext cx="5532120" cy="1867154"/>
          </a:xfrm>
          <a:prstGeom prst="roundRect">
            <a:avLst>
              <a:gd name="adj" fmla="val 5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48640" y="2804922"/>
            <a:ext cx="5532120" cy="36576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232" y="2859786"/>
            <a:ext cx="5202936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 i="0">
                <a:solidFill>
                  <a:srgbClr val="FDBA74"/>
                </a:solidFill>
                <a:latin typeface="微软雅黑"/>
              </a:rPr>
              <a:t>hello.c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" y="3269437"/>
            <a:ext cx="5202936" cy="2344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9FB0C9"/>
                </a:solidFill>
                <a:latin typeface="Consolas"/>
              </a:rPr>
              <a:t>#include &lt;stdio.h&gt;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" y="3503879"/>
            <a:ext cx="5202936" cy="2344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DBA74"/>
                </a:solidFill>
                <a:latin typeface="Consolas"/>
              </a:rPr>
              <a:t>int main(void) {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" y="3738321"/>
            <a:ext cx="5202936" cy="2344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E6EDF7"/>
                </a:solidFill>
                <a:latin typeface="Consolas"/>
              </a:rPr>
              <a:t>    printf("Hello, ATM!");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" y="3972763"/>
            <a:ext cx="5202936" cy="2344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DBA74"/>
                </a:solidFill>
                <a:latin typeface="Consolas"/>
              </a:rPr>
              <a:t>    return 0;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" y="4207205"/>
            <a:ext cx="5202936" cy="2344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E6EDF7"/>
                </a:solidFill>
                <a:latin typeface="Consolas"/>
              </a:rPr>
              <a:t>}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55079" y="2804922"/>
            <a:ext cx="5287975" cy="1161415"/>
          </a:xfrm>
          <a:prstGeom prst="roundRect">
            <a:avLst>
              <a:gd name="adj" fmla="val 6000"/>
            </a:avLst>
          </a:prstGeom>
          <a:solidFill>
            <a:srgbClr val="E8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355079" y="2804922"/>
            <a:ext cx="50292" cy="116141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37959" y="2987802"/>
            <a:ext cx="4867351" cy="269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 i="0">
                <a:solidFill>
                  <a:srgbClr val="1D4ED8"/>
                </a:solidFill>
                <a:latin typeface="微软雅黑"/>
              </a:rPr>
              <a:t>核心要点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37959" y="3330829"/>
            <a:ext cx="4867351" cy="4526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350" b="0" i="0">
                <a:solidFill>
                  <a:srgbClr val="1F2937"/>
                </a:solidFill>
                <a:latin typeface="微软雅黑"/>
              </a:rPr>
              <a:t>五个要素决定表达式怎么求值；</a:t>
            </a:r>
          </a:p>
          <a:p>
            <a:pPr algn="l">
              <a:lnSpc>
                <a:spcPct val="132000"/>
              </a:lnSpc>
            </a:pPr>
            <a:r>
              <a:rPr sz="1350" b="0" i="0">
                <a:solidFill>
                  <a:srgbClr val="1F2937"/>
                </a:solidFill>
                <a:latin typeface="微软雅黑"/>
              </a:rPr>
              <a:t>四阶段把源码变成可执行文件。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55079" y="4149217"/>
            <a:ext cx="5287975" cy="1161415"/>
          </a:xfrm>
          <a:prstGeom prst="roundRect">
            <a:avLst>
              <a:gd name="adj" fmla="val 6000"/>
            </a:avLst>
          </a:prstGeom>
          <a:solidFill>
            <a:srgbClr val="F1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355079" y="4149217"/>
            <a:ext cx="50292" cy="1161415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37959" y="4332097"/>
            <a:ext cx="4867351" cy="269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 i="0">
                <a:solidFill>
                  <a:srgbClr val="6D28D9"/>
                </a:solidFill>
                <a:latin typeface="微软雅黑"/>
              </a:rPr>
              <a:t>埋下的种子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37959" y="4675124"/>
            <a:ext cx="4867351" cy="4526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350" b="0" i="0">
                <a:solidFill>
                  <a:srgbClr val="1F2937"/>
                </a:solidFill>
                <a:latin typeface="微软雅黑"/>
              </a:rPr>
              <a:t>接口、复用、进化——</a:t>
            </a:r>
          </a:p>
          <a:p>
            <a:pPr algn="l">
              <a:lnSpc>
                <a:spcPct val="132000"/>
              </a:lnSpc>
            </a:pPr>
            <a:r>
              <a:rPr sz="1350" b="0" i="0">
                <a:solidFill>
                  <a:srgbClr val="1F2937"/>
                </a:solidFill>
                <a:latin typeface="微软雅黑"/>
              </a:rPr>
              <a:t>后面十四讲全是它们长出来的。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" y="5888736"/>
            <a:ext cx="11094415" cy="530352"/>
          </a:xfrm>
          <a:prstGeom prst="roundRect">
            <a:avLst>
              <a:gd name="adj" fmla="val 20000"/>
            </a:avLst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59" y="5980176"/>
            <a:ext cx="10545775" cy="3474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600" b="1" i="0">
                <a:solidFill>
                  <a:srgbClr val="FFFFFF"/>
                </a:solidFill>
                <a:latin typeface="微软雅黑"/>
              </a:rPr>
              <a:t>最小的一行代码里，藏着整门语言的骨架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36576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07007" y="365760"/>
            <a:ext cx="10436047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800" b="1" i="0">
                <a:solidFill>
                  <a:srgbClr val="1F2937"/>
                </a:solidFill>
                <a:latin typeface="微软雅黑"/>
              </a:rPr>
              <a:t>第2讲 控制结构：程序活了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25295" y="987552"/>
            <a:ext cx="10436047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475569"/>
                </a:solidFill>
                <a:latin typeface="微软雅黑"/>
              </a:rPr>
              <a:t>顺序 / 分支 / 循环 —— 第一个痛点也来了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316736"/>
            <a:ext cx="11094415" cy="18288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776609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7C8A9C"/>
                </a:solidFill>
                <a:latin typeface="微软雅黑"/>
              </a:rPr>
              <a:t>综合篇 · 从表达式到框架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45775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100" b="0" i="0">
                <a:solidFill>
                  <a:srgbClr val="7C8A9C"/>
                </a:solidFill>
                <a:latin typeface="微软雅黑"/>
              </a:rPr>
              <a:t>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426464"/>
            <a:ext cx="11094415" cy="1177290"/>
          </a:xfrm>
          <a:prstGeom prst="roundRect">
            <a:avLst>
              <a:gd name="adj" fmla="val 6000"/>
            </a:avLst>
          </a:prstGeom>
          <a:solidFill>
            <a:srgbClr val="E8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426464"/>
            <a:ext cx="50292" cy="117729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1609344"/>
            <a:ext cx="10673791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1D4ED8"/>
                </a:solidFill>
                <a:latin typeface="微软雅黑"/>
              </a:rPr>
              <a:t>📌 本讲要点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1968245"/>
            <a:ext cx="10673791" cy="4526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350" b="0" i="0">
                <a:solidFill>
                  <a:srgbClr val="1F2937"/>
                </a:solidFill>
                <a:latin typeface="微软雅黑"/>
              </a:rPr>
              <a:t>switch 负责选功能，while 让菜单一直转，余额这个变量保存着程序的状态。痛点也随之出现：所有逻辑堆在一个循环里，代码一长就成了没人敢碰的屎山。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804922"/>
            <a:ext cx="5532120" cy="2570480"/>
          </a:xfrm>
          <a:prstGeom prst="roundRect">
            <a:avLst>
              <a:gd name="adj" fmla="val 5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48640" y="2804922"/>
            <a:ext cx="5532120" cy="36576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232" y="2859786"/>
            <a:ext cx="5202936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 i="0">
                <a:solidFill>
                  <a:srgbClr val="FDBA74"/>
                </a:solidFill>
                <a:latin typeface="微软雅黑"/>
              </a:rPr>
              <a:t>atm_menu.c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" y="3269437"/>
            <a:ext cx="5202936" cy="2344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E6EDF7"/>
                </a:solidFill>
                <a:latin typeface="Consolas"/>
              </a:rPr>
              <a:t>while (1) {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" y="3503879"/>
            <a:ext cx="5202936" cy="2344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E6EDF7"/>
                </a:solidFill>
                <a:latin typeface="Consolas"/>
              </a:rPr>
              <a:t>    show_menu();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" y="3738321"/>
            <a:ext cx="5202936" cy="2344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E6EDF7"/>
                </a:solidFill>
                <a:latin typeface="Consolas"/>
              </a:rPr>
              <a:t>    scanf("%d", &amp;choice);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" y="3972763"/>
            <a:ext cx="5202936" cy="2344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E6EDF7"/>
                </a:solidFill>
                <a:latin typeface="Consolas"/>
              </a:rPr>
              <a:t>    switch (choice) {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" y="4207205"/>
            <a:ext cx="5202936" cy="2344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E6EDF7"/>
                </a:solidFill>
                <a:latin typeface="Consolas"/>
              </a:rPr>
              <a:t>      case 1: deposit(); break;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" y="4441647"/>
            <a:ext cx="5202936" cy="2344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E6EDF7"/>
                </a:solidFill>
                <a:latin typeface="Consolas"/>
              </a:rPr>
              <a:t>      case 0: return 0;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" y="4676089"/>
            <a:ext cx="5202936" cy="2344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E6EDF7"/>
                </a:solidFill>
                <a:latin typeface="Consolas"/>
              </a:rPr>
              <a:t>    }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3232" y="4910531"/>
            <a:ext cx="5202936" cy="2344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E6EDF7"/>
                </a:solidFill>
                <a:latin typeface="Consolas"/>
              </a:rPr>
              <a:t>}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55079" y="2804922"/>
            <a:ext cx="5287975" cy="1387729"/>
          </a:xfrm>
          <a:prstGeom prst="roundRect">
            <a:avLst>
              <a:gd name="adj" fmla="val 6000"/>
            </a:avLst>
          </a:prstGeom>
          <a:solidFill>
            <a:srgbClr val="E8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355079" y="2804922"/>
            <a:ext cx="50292" cy="1387729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37959" y="2987802"/>
            <a:ext cx="4867351" cy="269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 i="0">
                <a:solidFill>
                  <a:srgbClr val="1D4ED8"/>
                </a:solidFill>
                <a:latin typeface="微软雅黑"/>
              </a:rPr>
              <a:t>三种结构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37959" y="3330829"/>
            <a:ext cx="4867351" cy="6789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350" b="0" i="0">
                <a:solidFill>
                  <a:srgbClr val="1F2937"/>
                </a:solidFill>
                <a:latin typeface="微软雅黑"/>
              </a:rPr>
              <a:t>顺序：一步一步往下走</a:t>
            </a:r>
          </a:p>
          <a:p>
            <a:pPr algn="l">
              <a:lnSpc>
                <a:spcPct val="132000"/>
              </a:lnSpc>
            </a:pPr>
            <a:r>
              <a:rPr sz="1350" b="0" i="0">
                <a:solidFill>
                  <a:srgbClr val="1F2937"/>
                </a:solidFill>
                <a:latin typeface="微软雅黑"/>
              </a:rPr>
              <a:t>分支：if-else / switch 做选择</a:t>
            </a:r>
          </a:p>
          <a:p>
            <a:pPr algn="l">
              <a:lnSpc>
                <a:spcPct val="132000"/>
              </a:lnSpc>
            </a:pPr>
            <a:r>
              <a:rPr sz="1350" b="0" i="0">
                <a:solidFill>
                  <a:srgbClr val="1F2937"/>
                </a:solidFill>
                <a:latin typeface="微软雅黑"/>
              </a:rPr>
              <a:t>循环：while / for 做重复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55079" y="4375531"/>
            <a:ext cx="5287975" cy="1161415"/>
          </a:xfrm>
          <a:prstGeom prst="roundRect">
            <a:avLst>
              <a:gd name="adj" fmla="val 6000"/>
            </a:avLst>
          </a:prstGeom>
          <a:solidFill>
            <a:srgbClr val="FD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355079" y="4375531"/>
            <a:ext cx="50292" cy="1161415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37959" y="4558411"/>
            <a:ext cx="4867351" cy="269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 i="0">
                <a:solidFill>
                  <a:srgbClr val="B91C1C"/>
                </a:solidFill>
                <a:latin typeface="微软雅黑"/>
              </a:rPr>
              <a:t>新痛点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37959" y="4901438"/>
            <a:ext cx="4867351" cy="4526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350" b="0" i="0">
                <a:solidFill>
                  <a:srgbClr val="1F2937"/>
                </a:solidFill>
                <a:latin typeface="微软雅黑"/>
              </a:rPr>
              <a:t>所有逻辑挤在一个循环里，</a:t>
            </a:r>
          </a:p>
          <a:p>
            <a:pPr algn="l">
              <a:lnSpc>
                <a:spcPct val="132000"/>
              </a:lnSpc>
            </a:pPr>
            <a:r>
              <a:rPr sz="1350" b="0" i="0">
                <a:solidFill>
                  <a:srgbClr val="1F2937"/>
                </a:solidFill>
                <a:latin typeface="微软雅黑"/>
              </a:rPr>
              <a:t>加一个功能要改一大片代码。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48640" y="5888736"/>
            <a:ext cx="11094415" cy="530352"/>
          </a:xfrm>
          <a:prstGeom prst="roundRect">
            <a:avLst>
              <a:gd name="adj" fmla="val 20000"/>
            </a:avLst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2959" y="5980176"/>
            <a:ext cx="10545775" cy="3474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600" b="1" i="0">
                <a:solidFill>
                  <a:srgbClr val="FFFFFF"/>
                </a:solidFill>
                <a:latin typeface="微软雅黑"/>
              </a:rPr>
              <a:t>程序活起来了，但代码开始失控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36576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07007" y="365760"/>
            <a:ext cx="10436047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800" b="1" i="0">
                <a:solidFill>
                  <a:srgbClr val="1F2937"/>
                </a:solidFill>
                <a:latin typeface="微软雅黑"/>
              </a:rPr>
              <a:t>第3讲 函数封装：给逻辑起名字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25295" y="987552"/>
            <a:ext cx="10436047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475569"/>
                </a:solidFill>
                <a:latin typeface="微软雅黑"/>
              </a:rPr>
              <a:t>命名 · 复用 · 边界 —— 第一次分而治之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316736"/>
            <a:ext cx="11094415" cy="18288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776609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7C8A9C"/>
                </a:solidFill>
                <a:latin typeface="微软雅黑"/>
              </a:rPr>
              <a:t>综合篇 · 从表达式到框架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45775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100" b="0" i="0">
                <a:solidFill>
                  <a:srgbClr val="7C8A9C"/>
                </a:solidFill>
                <a:latin typeface="微软雅黑"/>
              </a:rPr>
              <a:t>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426464"/>
            <a:ext cx="11094415" cy="960120"/>
          </a:xfrm>
          <a:prstGeom prst="roundRect">
            <a:avLst>
              <a:gd name="adj" fmla="val 6000"/>
            </a:avLst>
          </a:prstGeom>
          <a:solidFill>
            <a:srgbClr val="E4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426464"/>
            <a:ext cx="50292" cy="96012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1609344"/>
            <a:ext cx="10673791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0F766E"/>
                </a:solidFill>
                <a:latin typeface="微软雅黑"/>
              </a:rPr>
              <a:t>📌 本讲要点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1968245"/>
            <a:ext cx="10673791" cy="22631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350" b="0" i="0">
                <a:solidFill>
                  <a:srgbClr val="1F2937"/>
                </a:solidFill>
                <a:latin typeface="微软雅黑"/>
              </a:rPr>
              <a:t>把存款、取款、查询各自抽成函数，main 里只剩调度。参数和返回值就是契约，外面的代码不能随便碰函数里的变量。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587752"/>
            <a:ext cx="5532120" cy="1867154"/>
          </a:xfrm>
          <a:prstGeom prst="roundRect">
            <a:avLst>
              <a:gd name="adj" fmla="val 5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48640" y="2587752"/>
            <a:ext cx="5532120" cy="36576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232" y="2642616"/>
            <a:ext cx="5202936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 i="0">
                <a:solidFill>
                  <a:srgbClr val="FDBA74"/>
                </a:solidFill>
                <a:latin typeface="微软雅黑"/>
              </a:rPr>
              <a:t>atm_func.c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" y="3052267"/>
            <a:ext cx="5202936" cy="2344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DBA74"/>
                </a:solidFill>
                <a:latin typeface="Consolas"/>
              </a:rPr>
              <a:t>int deposit(Account *a, double amt) {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" y="3286709"/>
            <a:ext cx="5202936" cy="2344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E6EDF7"/>
                </a:solidFill>
                <a:latin typeface="Consolas"/>
              </a:rPr>
              <a:t>    if (amt &lt;= 0) return -1;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" y="3521151"/>
            <a:ext cx="5202936" cy="2344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E6EDF7"/>
                </a:solidFill>
                <a:latin typeface="Consolas"/>
              </a:rPr>
              <a:t>    a-&gt;balance += amt;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" y="3755593"/>
            <a:ext cx="5202936" cy="2344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DBA74"/>
                </a:solidFill>
                <a:latin typeface="Consolas"/>
              </a:rPr>
              <a:t>    return 0;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" y="3990035"/>
            <a:ext cx="5202936" cy="2344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E6EDF7"/>
                </a:solidFill>
                <a:latin typeface="Consolas"/>
              </a:rPr>
              <a:t>}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55079" y="2587752"/>
            <a:ext cx="5287975" cy="1387729"/>
          </a:xfrm>
          <a:prstGeom prst="roundRect">
            <a:avLst>
              <a:gd name="adj" fmla="val 6000"/>
            </a:avLst>
          </a:prstGeom>
          <a:solidFill>
            <a:srgbClr val="E4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355079" y="2587752"/>
            <a:ext cx="50292" cy="1387729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37959" y="2770632"/>
            <a:ext cx="4867351" cy="269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 i="0">
                <a:solidFill>
                  <a:srgbClr val="0F766E"/>
                </a:solidFill>
                <a:latin typeface="微软雅黑"/>
              </a:rPr>
              <a:t>三个收益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37959" y="3113659"/>
            <a:ext cx="4867351" cy="6789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350" b="0" i="0">
                <a:solidFill>
                  <a:srgbClr val="1F2937"/>
                </a:solidFill>
                <a:latin typeface="微软雅黑"/>
              </a:rPr>
              <a:t>命名：函数名说明意图</a:t>
            </a:r>
          </a:p>
          <a:p>
            <a:pPr algn="l">
              <a:lnSpc>
                <a:spcPct val="132000"/>
              </a:lnSpc>
            </a:pPr>
            <a:r>
              <a:rPr sz="1350" b="0" i="0">
                <a:solidFill>
                  <a:srgbClr val="1F2937"/>
                </a:solidFill>
                <a:latin typeface="微软雅黑"/>
              </a:rPr>
              <a:t>复用：校验逻辑只写一遍</a:t>
            </a:r>
          </a:p>
          <a:p>
            <a:pPr algn="l">
              <a:lnSpc>
                <a:spcPct val="132000"/>
              </a:lnSpc>
            </a:pPr>
            <a:r>
              <a:rPr sz="1350" b="0" i="0">
                <a:solidFill>
                  <a:srgbClr val="1F2937"/>
                </a:solidFill>
                <a:latin typeface="微软雅黑"/>
              </a:rPr>
              <a:t>边界：参数就是契约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55079" y="4158361"/>
            <a:ext cx="5287975" cy="1161415"/>
          </a:xfrm>
          <a:prstGeom prst="roundRect">
            <a:avLst>
              <a:gd name="adj" fmla="val 6000"/>
            </a:avLst>
          </a:prstGeom>
          <a:solidFill>
            <a:srgbClr val="FD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355079" y="4158361"/>
            <a:ext cx="50292" cy="1161415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37959" y="4341241"/>
            <a:ext cx="4867351" cy="269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 i="0">
                <a:solidFill>
                  <a:srgbClr val="B91C1C"/>
                </a:solidFill>
                <a:latin typeface="微软雅黑"/>
              </a:rPr>
              <a:t>遗留问题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37959" y="4684268"/>
            <a:ext cx="4867351" cy="4526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350" b="0" i="0">
                <a:solidFill>
                  <a:srgbClr val="1F2937"/>
                </a:solidFill>
                <a:latin typeface="微软雅黑"/>
              </a:rPr>
              <a:t>函数都在同一个文件里，</a:t>
            </a:r>
          </a:p>
          <a:p>
            <a:pPr algn="l">
              <a:lnSpc>
                <a:spcPct val="132000"/>
              </a:lnSpc>
            </a:pPr>
            <a:r>
              <a:rPr sz="1350" b="0" i="0">
                <a:solidFill>
                  <a:srgbClr val="1F2937"/>
                </a:solidFill>
                <a:latin typeface="微软雅黑"/>
              </a:rPr>
              <a:t>文件越来越长，找东西越来越难。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" y="5888736"/>
            <a:ext cx="11094415" cy="530352"/>
          </a:xfrm>
          <a:prstGeom prst="roundRect">
            <a:avLst>
              <a:gd name="adj" fmla="val 20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59" y="5980176"/>
            <a:ext cx="10545775" cy="3474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600" b="1" i="0">
                <a:solidFill>
                  <a:srgbClr val="FFFFFF"/>
                </a:solidFill>
                <a:latin typeface="微软雅黑"/>
              </a:rPr>
              <a:t>分而治之的第一步：让每段逻辑有名字、有边界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36576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07007" y="365760"/>
            <a:ext cx="10436047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800" b="1" i="0">
                <a:solidFill>
                  <a:srgbClr val="1F2937"/>
                </a:solidFill>
                <a:latin typeface="微软雅黑"/>
              </a:rPr>
              <a:t>第4讲 多文件模块：按职责分家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25295" y="987552"/>
            <a:ext cx="10436047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475569"/>
                </a:solidFill>
                <a:latin typeface="微软雅黑"/>
              </a:rPr>
              <a:t>头文件声明契约 · 实现文件各管一摊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316736"/>
            <a:ext cx="11094415" cy="18288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776609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7C8A9C"/>
                </a:solidFill>
                <a:latin typeface="微软雅黑"/>
              </a:rPr>
              <a:t>综合篇 · 从表达式到框架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45775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100" b="0" i="0">
                <a:solidFill>
                  <a:srgbClr val="7C8A9C"/>
                </a:solidFill>
                <a:latin typeface="微软雅黑"/>
              </a:rPr>
              <a:t>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750948"/>
            <a:ext cx="11094415" cy="960120"/>
          </a:xfrm>
          <a:prstGeom prst="roundRect">
            <a:avLst>
              <a:gd name="adj" fmla="val 6000"/>
            </a:avLst>
          </a:prstGeom>
          <a:solidFill>
            <a:srgbClr val="E4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750948"/>
            <a:ext cx="50292" cy="96012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1933828"/>
            <a:ext cx="10673791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0F766E"/>
                </a:solidFill>
                <a:latin typeface="微软雅黑"/>
              </a:rPr>
              <a:t>📌 本讲要点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292729"/>
            <a:ext cx="10673791" cy="22631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350" b="0" i="0">
                <a:solidFill>
                  <a:srgbClr val="1F2937"/>
                </a:solidFill>
                <a:latin typeface="微软雅黑"/>
              </a:rPr>
              <a:t>账务、界面、工具各归各的文件，每块配一个头文件对外声明。头文件保护防止重复包含，编译隔离让改动只重编一个文件。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912236"/>
            <a:ext cx="5532120" cy="2336037"/>
          </a:xfrm>
          <a:prstGeom prst="roundRect">
            <a:avLst>
              <a:gd name="adj" fmla="val 5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48640" y="2912236"/>
            <a:ext cx="5532120" cy="36576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232" y="2967100"/>
            <a:ext cx="5202936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 i="0">
                <a:solidFill>
                  <a:srgbClr val="FDBA74"/>
                </a:solidFill>
                <a:latin typeface="微软雅黑"/>
              </a:rPr>
              <a:t>account.h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" y="3376751"/>
            <a:ext cx="5202936" cy="2344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9FB0C9"/>
                </a:solidFill>
                <a:latin typeface="Consolas"/>
              </a:rPr>
              <a:t>#ifndef ACCOUNT_H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" y="3611193"/>
            <a:ext cx="5202936" cy="2344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9FB0C9"/>
                </a:solidFill>
                <a:latin typeface="Consolas"/>
              </a:rPr>
              <a:t>#define ACCOUNT_H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" y="3845635"/>
            <a:ext cx="5202936" cy="2344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E6EDF7"/>
                </a:solidFill>
                <a:latin typeface="Consolas"/>
              </a:rPr>
              <a:t/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" y="4080077"/>
            <a:ext cx="5202936" cy="2344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DBA74"/>
                </a:solidFill>
                <a:latin typeface="Consolas"/>
              </a:rPr>
              <a:t>double get_balance(int id);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" y="4314519"/>
            <a:ext cx="5202936" cy="2344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DBA74"/>
                </a:solidFill>
                <a:latin typeface="Consolas"/>
              </a:rPr>
              <a:t>int    deposit(int id, double amt);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" y="4548961"/>
            <a:ext cx="5202936" cy="2344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E6EDF7"/>
                </a:solidFill>
                <a:latin typeface="Consolas"/>
              </a:rPr>
              <a:t/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" y="4783403"/>
            <a:ext cx="5202936" cy="2344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9FB0C9"/>
                </a:solidFill>
                <a:latin typeface="Consolas"/>
              </a:rPr>
              <a:t>#endif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55079" y="2912236"/>
            <a:ext cx="5287975" cy="1161415"/>
          </a:xfrm>
          <a:prstGeom prst="roundRect">
            <a:avLst>
              <a:gd name="adj" fmla="val 6000"/>
            </a:avLst>
          </a:prstGeom>
          <a:solidFill>
            <a:srgbClr val="E4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355079" y="2912236"/>
            <a:ext cx="50292" cy="1161415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37959" y="3095116"/>
            <a:ext cx="4867351" cy="269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 i="0">
                <a:solidFill>
                  <a:srgbClr val="0F766E"/>
                </a:solidFill>
                <a:latin typeface="微软雅黑"/>
              </a:rPr>
              <a:t>核心收益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37959" y="3438143"/>
            <a:ext cx="4867351" cy="4526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350" b="0" i="0">
                <a:solidFill>
                  <a:srgbClr val="1F2937"/>
                </a:solidFill>
                <a:latin typeface="微软雅黑"/>
              </a:rPr>
              <a:t>编译隔离：改一个 .c 只重编它自己</a:t>
            </a:r>
          </a:p>
          <a:p>
            <a:pPr algn="l">
              <a:lnSpc>
                <a:spcPct val="132000"/>
              </a:lnSpc>
            </a:pPr>
            <a:r>
              <a:rPr sz="1350" b="0" i="0">
                <a:solidFill>
                  <a:srgbClr val="1F2937"/>
                </a:solidFill>
                <a:latin typeface="微软雅黑"/>
              </a:rPr>
              <a:t>接口与实现彻底分离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355079" y="4256531"/>
            <a:ext cx="5287975" cy="1161415"/>
          </a:xfrm>
          <a:prstGeom prst="roundRect">
            <a:avLst>
              <a:gd name="adj" fmla="val 6000"/>
            </a:avLst>
          </a:prstGeom>
          <a:solidFill>
            <a:srgbClr val="FD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355079" y="4256531"/>
            <a:ext cx="50292" cy="1161415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37959" y="4439411"/>
            <a:ext cx="4867351" cy="269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 i="0">
                <a:solidFill>
                  <a:srgbClr val="B91C1C"/>
                </a:solidFill>
                <a:latin typeface="微软雅黑"/>
              </a:rPr>
              <a:t>遗留问题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37959" y="4782438"/>
            <a:ext cx="4867351" cy="4526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350" b="0" i="0">
                <a:solidFill>
                  <a:srgbClr val="1F2937"/>
                </a:solidFill>
                <a:latin typeface="微软雅黑"/>
              </a:rPr>
              <a:t>想复用这些代码，</a:t>
            </a:r>
          </a:p>
          <a:p>
            <a:pPr algn="l">
              <a:lnSpc>
                <a:spcPct val="132000"/>
              </a:lnSpc>
            </a:pPr>
            <a:r>
              <a:rPr sz="1350" b="0" i="0">
                <a:solidFill>
                  <a:srgbClr val="1F2937"/>
                </a:solidFill>
                <a:latin typeface="微软雅黑"/>
              </a:rPr>
              <a:t>还得把源文件拷到别人的工程里。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48640" y="5888736"/>
            <a:ext cx="11094415" cy="530352"/>
          </a:xfrm>
          <a:prstGeom prst="roundRect">
            <a:avLst>
              <a:gd name="adj" fmla="val 20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2959" y="5980176"/>
            <a:ext cx="10545775" cy="3474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600" b="1" i="0">
                <a:solidFill>
                  <a:srgbClr val="FFFFFF"/>
                </a:solidFill>
                <a:latin typeface="微软雅黑"/>
              </a:rPr>
              <a:t>接口和实现第一次分离——插件思想的雏形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36576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07007" y="365760"/>
            <a:ext cx="10436047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800" b="1" i="0">
                <a:solidFill>
                  <a:srgbClr val="1F2937"/>
                </a:solidFill>
                <a:latin typeface="微软雅黑"/>
              </a:rPr>
              <a:t>第5讲 指针：全系列的分水岭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25295" y="987552"/>
            <a:ext cx="10436047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475569"/>
                </a:solidFill>
                <a:latin typeface="微软雅黑"/>
              </a:rPr>
              <a:t>类型决定步长 · 地址传参 · 函数指针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316736"/>
            <a:ext cx="11094415" cy="18288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776609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7C8A9C"/>
                </a:solidFill>
                <a:latin typeface="微软雅黑"/>
              </a:rPr>
              <a:t>综合篇 · 从表达式到框架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45775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100" b="0" i="0">
                <a:solidFill>
                  <a:srgbClr val="7C8A9C"/>
                </a:solidFill>
                <a:latin typeface="微软雅黑"/>
              </a:rPr>
              <a:t>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426464"/>
            <a:ext cx="11094415" cy="1177290"/>
          </a:xfrm>
          <a:prstGeom prst="roundRect">
            <a:avLst>
              <a:gd name="adj" fmla="val 6000"/>
            </a:avLst>
          </a:prstGeom>
          <a:solidFill>
            <a:srgbClr val="E8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426464"/>
            <a:ext cx="50292" cy="117729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1609344"/>
            <a:ext cx="10673791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1D4ED8"/>
                </a:solidFill>
                <a:latin typeface="微软雅黑"/>
              </a:rPr>
              <a:t>📌 本讲要点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1968245"/>
            <a:ext cx="10673791" cy="4526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350" b="0" i="0">
                <a:solidFill>
                  <a:srgbClr val="1F2937"/>
                </a:solidFill>
                <a:latin typeface="微软雅黑"/>
              </a:rPr>
              <a:t>指针就是地址。int 星号 加一走四个字节，char 星号 加一走一个字节。想让函数改掉外面的变量，就必须传地址；函数指针则让函数变成可以传递的数据。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804922"/>
            <a:ext cx="5532120" cy="1867154"/>
          </a:xfrm>
          <a:prstGeom prst="roundRect">
            <a:avLst>
              <a:gd name="adj" fmla="val 5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48640" y="2804922"/>
            <a:ext cx="5532120" cy="36576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232" y="2859786"/>
            <a:ext cx="5202936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 i="0">
                <a:solidFill>
                  <a:srgbClr val="FDBA74"/>
                </a:solidFill>
                <a:latin typeface="微软雅黑"/>
              </a:rPr>
              <a:t>指针的两张脸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" y="3269437"/>
            <a:ext cx="5202936" cy="2344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DBA74"/>
                </a:solidFill>
                <a:latin typeface="Consolas"/>
              </a:rPr>
              <a:t>void swap(int *a, int *b) {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" y="3503879"/>
            <a:ext cx="5202936" cy="2344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DBA74"/>
                </a:solidFill>
                <a:latin typeface="Consolas"/>
              </a:rPr>
              <a:t>    int t = *a; *a = *b; *b = t;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" y="3738321"/>
            <a:ext cx="5202936" cy="2344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E6EDF7"/>
                </a:solidFill>
                <a:latin typeface="Consolas"/>
              </a:rPr>
              <a:t>}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" y="3972763"/>
            <a:ext cx="5202936" cy="2344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DBA74"/>
                </a:solidFill>
                <a:latin typeface="Consolas"/>
              </a:rPr>
              <a:t>int (*op)(int, int) = &amp;add;   // 函数指针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" y="4207205"/>
            <a:ext cx="5202936" cy="2344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DBA74"/>
                </a:solidFill>
                <a:latin typeface="Consolas"/>
              </a:rPr>
              <a:t>int r = op(3, 5);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55079" y="2804922"/>
            <a:ext cx="5287975" cy="1161415"/>
          </a:xfrm>
          <a:prstGeom prst="roundRect">
            <a:avLst>
              <a:gd name="adj" fmla="val 6000"/>
            </a:avLst>
          </a:prstGeom>
          <a:solidFill>
            <a:srgbClr val="E8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355079" y="2804922"/>
            <a:ext cx="50292" cy="116141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37959" y="2987802"/>
            <a:ext cx="4867351" cy="269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 i="0">
                <a:solidFill>
                  <a:srgbClr val="1D4ED8"/>
                </a:solidFill>
                <a:latin typeface="微软雅黑"/>
              </a:rPr>
              <a:t>为什么必须传地址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37959" y="3330829"/>
            <a:ext cx="4867351" cy="4526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350" b="0" i="0">
                <a:solidFill>
                  <a:srgbClr val="1F2937"/>
                </a:solidFill>
                <a:latin typeface="微软雅黑"/>
              </a:rPr>
              <a:t>C 的函数参数是值传递，</a:t>
            </a:r>
          </a:p>
          <a:p>
            <a:pPr algn="l">
              <a:lnSpc>
                <a:spcPct val="132000"/>
              </a:lnSpc>
            </a:pPr>
            <a:r>
              <a:rPr sz="1350" b="0" i="0">
                <a:solidFill>
                  <a:srgbClr val="1F2937"/>
                </a:solidFill>
                <a:latin typeface="微软雅黑"/>
              </a:rPr>
              <a:t>形参改了，实参纹丝不动。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55079" y="4149217"/>
            <a:ext cx="5287975" cy="1161415"/>
          </a:xfrm>
          <a:prstGeom prst="roundRect">
            <a:avLst>
              <a:gd name="adj" fmla="val 6000"/>
            </a:avLst>
          </a:prstGeom>
          <a:solidFill>
            <a:srgbClr val="F1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355079" y="4149217"/>
            <a:ext cx="50292" cy="1161415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37959" y="4332097"/>
            <a:ext cx="4867351" cy="269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 i="0">
                <a:solidFill>
                  <a:srgbClr val="6D28D9"/>
                </a:solidFill>
                <a:latin typeface="微软雅黑"/>
              </a:rPr>
              <a:t>为什么要有函数指针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37959" y="4675124"/>
            <a:ext cx="4867351" cy="4526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350" b="0" i="0">
                <a:solidFill>
                  <a:srgbClr val="1F2937"/>
                </a:solidFill>
                <a:latin typeface="微软雅黑"/>
              </a:rPr>
              <a:t>把函数当数据传来传去，</a:t>
            </a:r>
          </a:p>
          <a:p>
            <a:pPr algn="l">
              <a:lnSpc>
                <a:spcPct val="132000"/>
              </a:lnSpc>
            </a:pPr>
            <a:r>
              <a:rPr sz="1350" b="0" i="0">
                <a:solidFill>
                  <a:srgbClr val="1F2937"/>
                </a:solidFill>
                <a:latin typeface="微软雅黑"/>
              </a:rPr>
              <a:t>它是接口抽象和插件注册的技术底座。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" y="5888736"/>
            <a:ext cx="11094415" cy="530352"/>
          </a:xfrm>
          <a:prstGeom prst="roundRect">
            <a:avLst>
              <a:gd name="adj" fmla="val 20000"/>
            </a:avLst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59" y="5980176"/>
            <a:ext cx="10545775" cy="3474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600" b="1" i="0">
                <a:solidFill>
                  <a:srgbClr val="FFFFFF"/>
                </a:solidFill>
                <a:latin typeface="微软雅黑"/>
              </a:rPr>
              <a:t>指针是后面所有关卡的钥匙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36576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07007" y="365760"/>
            <a:ext cx="10436047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800" b="1" i="0">
                <a:solidFill>
                  <a:srgbClr val="1F2937"/>
                </a:solidFill>
                <a:latin typeface="微软雅黑"/>
              </a:rPr>
              <a:t>第6讲 数组：一段连续内存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25295" y="987552"/>
            <a:ext cx="10436047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475569"/>
                </a:solidFill>
                <a:latin typeface="微软雅黑"/>
              </a:rPr>
              <a:t>随机访问是强项 · 长度固定是弱项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316736"/>
            <a:ext cx="11094415" cy="18288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776609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7C8A9C"/>
                </a:solidFill>
                <a:latin typeface="微软雅黑"/>
              </a:rPr>
              <a:t>综合篇 · 从表达式到框架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45775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100" b="0" i="0">
                <a:solidFill>
                  <a:srgbClr val="7C8A9C"/>
                </a:solidFill>
                <a:latin typeface="微软雅黑"/>
              </a:rPr>
              <a:t>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426464"/>
            <a:ext cx="11094415" cy="1177290"/>
          </a:xfrm>
          <a:prstGeom prst="roundRect">
            <a:avLst>
              <a:gd name="adj" fmla="val 6000"/>
            </a:avLst>
          </a:prstGeom>
          <a:solidFill>
            <a:srgbClr val="E8F8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426464"/>
            <a:ext cx="50292" cy="117729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1609344"/>
            <a:ext cx="10673791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15803D"/>
                </a:solidFill>
                <a:latin typeface="微软雅黑"/>
              </a:rPr>
              <a:t>📌 本讲要点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1968245"/>
            <a:ext cx="10673791" cy="4526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350" b="0" i="0">
                <a:solidFill>
                  <a:srgbClr val="1F2937"/>
                </a:solidFill>
                <a:latin typeface="微软雅黑"/>
              </a:rPr>
              <a:t>数组名在大多数场合会退化成首元素指针，所以下标访问等价于指针加偏移再解引用。强项是算一下标就能到位，弱项是长度编译时就定死了。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804922"/>
            <a:ext cx="5532120" cy="1867154"/>
          </a:xfrm>
          <a:prstGeom prst="roundRect">
            <a:avLst>
              <a:gd name="adj" fmla="val 5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48640" y="2804922"/>
            <a:ext cx="5532120" cy="36576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232" y="2859786"/>
            <a:ext cx="5202936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 i="0">
                <a:solidFill>
                  <a:srgbClr val="FDBA74"/>
                </a:solidFill>
                <a:latin typeface="微软雅黑"/>
              </a:rPr>
              <a:t>array_atm.c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" y="3269437"/>
            <a:ext cx="5202936" cy="2344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DBA74"/>
                </a:solidFill>
                <a:latin typeface="Consolas"/>
              </a:rPr>
              <a:t>int arr[5] = {1, 2, 3, 4, 5};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" y="3503879"/>
            <a:ext cx="5202936" cy="2344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E6EDF7"/>
                </a:solidFill>
                <a:latin typeface="Consolas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" y="3738321"/>
            <a:ext cx="5202936" cy="2344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9FB0C9"/>
                </a:solidFill>
                <a:latin typeface="Consolas"/>
              </a:rPr>
              <a:t>// arr[i] 等价于 *(arr + i)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" y="3972763"/>
            <a:ext cx="5202936" cy="2344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E6EDF7"/>
                </a:solidFill>
                <a:latin typeface="Consolas"/>
              </a:rPr>
              <a:t>for (int i = 0; i &lt; 5; i++)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" y="4207205"/>
            <a:ext cx="5202936" cy="2344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E6EDF7"/>
                </a:solidFill>
                <a:latin typeface="Consolas"/>
              </a:rPr>
              <a:t>    sum += arr[i];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55079" y="2804922"/>
            <a:ext cx="5287975" cy="1161415"/>
          </a:xfrm>
          <a:prstGeom prst="roundRect">
            <a:avLst>
              <a:gd name="adj" fmla="val 6000"/>
            </a:avLst>
          </a:prstGeom>
          <a:solidFill>
            <a:srgbClr val="E8F8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355079" y="2804922"/>
            <a:ext cx="50292" cy="1161415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37959" y="2987802"/>
            <a:ext cx="4867351" cy="269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 i="0">
                <a:solidFill>
                  <a:srgbClr val="15803D"/>
                </a:solidFill>
                <a:latin typeface="微软雅黑"/>
              </a:rPr>
              <a:t>强项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37959" y="3330829"/>
            <a:ext cx="4867351" cy="4526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350" b="0" i="0">
                <a:solidFill>
                  <a:srgbClr val="1F2937"/>
                </a:solidFill>
                <a:latin typeface="微软雅黑"/>
              </a:rPr>
              <a:t>连续内存 + 随机访问，</a:t>
            </a:r>
          </a:p>
          <a:p>
            <a:pPr algn="l">
              <a:lnSpc>
                <a:spcPct val="132000"/>
              </a:lnSpc>
            </a:pPr>
            <a:r>
              <a:rPr sz="1350" b="0" i="0">
                <a:solidFill>
                  <a:srgbClr val="1F2937"/>
                </a:solidFill>
                <a:latin typeface="微软雅黑"/>
              </a:rPr>
              <a:t>下标一算就到位。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55079" y="4149217"/>
            <a:ext cx="5287975" cy="1161415"/>
          </a:xfrm>
          <a:prstGeom prst="roundRect">
            <a:avLst>
              <a:gd name="adj" fmla="val 6000"/>
            </a:avLst>
          </a:prstGeom>
          <a:solidFill>
            <a:srgbClr val="FD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355079" y="4149217"/>
            <a:ext cx="50292" cy="1161415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37959" y="4332097"/>
            <a:ext cx="4867351" cy="269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 i="0">
                <a:solidFill>
                  <a:srgbClr val="B91C1C"/>
                </a:solidFill>
                <a:latin typeface="微软雅黑"/>
              </a:rPr>
              <a:t>弱项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37959" y="4675124"/>
            <a:ext cx="4867351" cy="4526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350" b="0" i="0">
                <a:solidFill>
                  <a:srgbClr val="1F2937"/>
                </a:solidFill>
                <a:latin typeface="微软雅黑"/>
              </a:rPr>
              <a:t>长度固定，想动态增长</a:t>
            </a:r>
          </a:p>
          <a:p>
            <a:pPr algn="l">
              <a:lnSpc>
                <a:spcPct val="132000"/>
              </a:lnSpc>
            </a:pPr>
            <a:r>
              <a:rPr sz="1350" b="0" i="0">
                <a:solidFill>
                  <a:srgbClr val="1F2937"/>
                </a:solidFill>
                <a:latin typeface="微软雅黑"/>
              </a:rPr>
              <a:t>只能重新分配一块更大的内存。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" y="5888736"/>
            <a:ext cx="11094415" cy="530352"/>
          </a:xfrm>
          <a:prstGeom prst="roundRect">
            <a:avLst>
              <a:gd name="adj" fmla="val 20000"/>
            </a:avLst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59" y="5980176"/>
            <a:ext cx="10545775" cy="3474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600" b="1" i="0">
                <a:solidFill>
                  <a:srgbClr val="FFFFFF"/>
                </a:solidFill>
                <a:latin typeface="微软雅黑"/>
              </a:rPr>
              <a:t>连续与下标，换来速度也换来束缚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36576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07007" y="365760"/>
            <a:ext cx="10436047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800" b="1" i="0">
                <a:solidFill>
                  <a:srgbClr val="1F2937"/>
                </a:solidFill>
                <a:latin typeface="微软雅黑"/>
              </a:rPr>
              <a:t>第7讲 结构体：把数据打包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25295" y="987552"/>
            <a:ext cx="10436047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475569"/>
                </a:solidFill>
                <a:latin typeface="微软雅黑"/>
              </a:rPr>
              <a:t>从平行数组到数据建模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316736"/>
            <a:ext cx="11094415" cy="18288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776609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7C8A9C"/>
                </a:solidFill>
                <a:latin typeface="微软雅黑"/>
              </a:rPr>
              <a:t>综合篇 · 从表达式到框架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45775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100" b="0" i="0">
                <a:solidFill>
                  <a:srgbClr val="7C8A9C"/>
                </a:solidFill>
                <a:latin typeface="微软雅黑"/>
              </a:rPr>
              <a:t>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426464"/>
            <a:ext cx="11094415" cy="1177290"/>
          </a:xfrm>
          <a:prstGeom prst="roundRect">
            <a:avLst>
              <a:gd name="adj" fmla="val 6000"/>
            </a:avLst>
          </a:prstGeom>
          <a:solidFill>
            <a:srgbClr val="E8F8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426464"/>
            <a:ext cx="50292" cy="117729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1609344"/>
            <a:ext cx="10673791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15803D"/>
                </a:solidFill>
                <a:latin typeface="微软雅黑"/>
              </a:rPr>
              <a:t>📌 本讲要点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1968245"/>
            <a:ext cx="10673791" cy="4526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350" b="0" i="0">
                <a:solidFill>
                  <a:srgbClr val="1F2937"/>
                </a:solidFill>
                <a:latin typeface="微软雅黑"/>
              </a:rPr>
              <a:t>账号、户名、余额原来是三个平行数组，改一个账户要同步改三处。打包成一个结构体之后，一个账户就是一个整体，传参只传一个指针。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804922"/>
            <a:ext cx="5532120" cy="2336037"/>
          </a:xfrm>
          <a:prstGeom prst="roundRect">
            <a:avLst>
              <a:gd name="adj" fmla="val 5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48640" y="2804922"/>
            <a:ext cx="5532120" cy="36576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232" y="2859786"/>
            <a:ext cx="5202936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 i="0">
                <a:solidFill>
                  <a:srgbClr val="FDBA74"/>
                </a:solidFill>
                <a:latin typeface="微软雅黑"/>
              </a:rPr>
              <a:t>struct_atm.c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" y="3269437"/>
            <a:ext cx="5202936" cy="2344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DBA74"/>
                </a:solidFill>
                <a:latin typeface="Consolas"/>
              </a:rPr>
              <a:t>typedef struct {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" y="3503879"/>
            <a:ext cx="5202936" cy="2344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DBA74"/>
                </a:solidFill>
                <a:latin typeface="Consolas"/>
              </a:rPr>
              <a:t>    int    id;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" y="3738321"/>
            <a:ext cx="5202936" cy="2344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DBA74"/>
                </a:solidFill>
                <a:latin typeface="Consolas"/>
              </a:rPr>
              <a:t>    char   name[32];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" y="3972763"/>
            <a:ext cx="5202936" cy="2344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DBA74"/>
                </a:solidFill>
                <a:latin typeface="Consolas"/>
              </a:rPr>
              <a:t>    double balance;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" y="4207205"/>
            <a:ext cx="5202936" cy="2344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E6EDF7"/>
                </a:solidFill>
                <a:latin typeface="Consolas"/>
              </a:rPr>
              <a:t>} Account;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" y="4441647"/>
            <a:ext cx="5202936" cy="2344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E6EDF7"/>
                </a:solidFill>
                <a:latin typeface="Consolas"/>
              </a:rPr>
              <a:t>acc.id = 1001;        // 变量用点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" y="4676089"/>
            <a:ext cx="5202936" cy="2344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E6EDF7"/>
                </a:solidFill>
                <a:latin typeface="Consolas"/>
              </a:rPr>
              <a:t>p-&gt;balance += 100;    // 指针用箭头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55079" y="2804922"/>
            <a:ext cx="5287975" cy="1161415"/>
          </a:xfrm>
          <a:prstGeom prst="roundRect">
            <a:avLst>
              <a:gd name="adj" fmla="val 6000"/>
            </a:avLst>
          </a:prstGeom>
          <a:solidFill>
            <a:srgbClr val="E8F8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355079" y="2804922"/>
            <a:ext cx="50292" cy="1161415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37959" y="2987802"/>
            <a:ext cx="4867351" cy="269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 i="0">
                <a:solidFill>
                  <a:srgbClr val="15803D"/>
                </a:solidFill>
                <a:latin typeface="微软雅黑"/>
              </a:rPr>
              <a:t>解决了什么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37959" y="3330829"/>
            <a:ext cx="4867351" cy="4526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350" b="0" i="0">
                <a:solidFill>
                  <a:srgbClr val="1F2937"/>
                </a:solidFill>
                <a:latin typeface="微软雅黑"/>
              </a:rPr>
              <a:t>相关数据不再散落，</a:t>
            </a:r>
          </a:p>
          <a:p>
            <a:pPr algn="l">
              <a:lnSpc>
                <a:spcPct val="132000"/>
              </a:lnSpc>
            </a:pPr>
            <a:r>
              <a:rPr sz="1350" b="0" i="0">
                <a:solidFill>
                  <a:srgbClr val="1F2937"/>
                </a:solidFill>
                <a:latin typeface="微软雅黑"/>
              </a:rPr>
              <a:t>改一个账户只需改一处。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355079" y="4149217"/>
            <a:ext cx="5287975" cy="1161415"/>
          </a:xfrm>
          <a:prstGeom prst="roundRect">
            <a:avLst>
              <a:gd name="adj" fmla="val 6000"/>
            </a:avLst>
          </a:prstGeom>
          <a:solidFill>
            <a:srgbClr val="FD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355079" y="4149217"/>
            <a:ext cx="50292" cy="1161415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37959" y="4332097"/>
            <a:ext cx="4867351" cy="269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 i="0">
                <a:solidFill>
                  <a:srgbClr val="B91C1C"/>
                </a:solidFill>
                <a:latin typeface="微软雅黑"/>
              </a:rPr>
              <a:t>遗留问题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37959" y="4675124"/>
            <a:ext cx="4867351" cy="4526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350" b="0" i="0">
                <a:solidFill>
                  <a:srgbClr val="1F2937"/>
                </a:solidFill>
                <a:latin typeface="微软雅黑"/>
              </a:rPr>
              <a:t>账户数量还是固定的，</a:t>
            </a:r>
          </a:p>
          <a:p>
            <a:pPr algn="l">
              <a:lnSpc>
                <a:spcPct val="132000"/>
              </a:lnSpc>
            </a:pPr>
            <a:r>
              <a:rPr sz="1350" b="0" i="0">
                <a:solidFill>
                  <a:srgbClr val="1F2937"/>
                </a:solidFill>
                <a:latin typeface="微软雅黑"/>
              </a:rPr>
              <a:t>想随时增删，得换数据结构。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48640" y="5888736"/>
            <a:ext cx="11094415" cy="530352"/>
          </a:xfrm>
          <a:prstGeom prst="roundRect">
            <a:avLst>
              <a:gd name="adj" fmla="val 20000"/>
            </a:avLst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2959" y="5980176"/>
            <a:ext cx="10545775" cy="3474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600" b="1" i="0">
                <a:solidFill>
                  <a:srgbClr val="FFFFFF"/>
                </a:solidFill>
                <a:latin typeface="微软雅黑"/>
              </a:rPr>
              <a:t>打包，是数据建模的开始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36576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07007" y="365760"/>
            <a:ext cx="10436047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800" b="1" i="0">
                <a:solidFill>
                  <a:srgbClr val="1F2937"/>
                </a:solidFill>
                <a:latin typeface="微软雅黑"/>
              </a:rPr>
              <a:t>第8讲 链表：随时能长的数据结构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25295" y="987552"/>
            <a:ext cx="10436047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475569"/>
                </a:solidFill>
                <a:latin typeface="微软雅黑"/>
              </a:rPr>
              <a:t>插入删除只改指针 · 申请与释放必须配对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316736"/>
            <a:ext cx="11094415" cy="18288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776609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7C8A9C"/>
                </a:solidFill>
                <a:latin typeface="微软雅黑"/>
              </a:rPr>
              <a:t>综合篇 · 从表达式到框架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45775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100" b="0" i="0">
                <a:solidFill>
                  <a:srgbClr val="7C8A9C"/>
                </a:solidFill>
                <a:latin typeface="微软雅黑"/>
              </a:rPr>
              <a:t>10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426464"/>
            <a:ext cx="11094415" cy="1177290"/>
          </a:xfrm>
          <a:prstGeom prst="roundRect">
            <a:avLst>
              <a:gd name="adj" fmla="val 6000"/>
            </a:avLst>
          </a:prstGeom>
          <a:solidFill>
            <a:srgbClr val="E8F8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426464"/>
            <a:ext cx="50292" cy="117729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1609344"/>
            <a:ext cx="10673791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15803D"/>
                </a:solidFill>
                <a:latin typeface="微软雅黑"/>
              </a:rPr>
              <a:t>📌 本讲要点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1968245"/>
            <a:ext cx="10673791" cy="4526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350" b="0" i="0">
                <a:solidFill>
                  <a:srgbClr val="1F2937"/>
                </a:solidFill>
                <a:latin typeface="微软雅黑"/>
              </a:rPr>
              <a:t>每个节点带一个 next 指针把自己串起来。插入删除只改指针，不用搬动整块内存，长度还能随时长。代价是不能随机访问，查找只能逐个走。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804922"/>
            <a:ext cx="5532120" cy="2101596"/>
          </a:xfrm>
          <a:prstGeom prst="roundRect">
            <a:avLst>
              <a:gd name="adj" fmla="val 5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48640" y="2804922"/>
            <a:ext cx="5532120" cy="36576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232" y="2859786"/>
            <a:ext cx="5202936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 i="0">
                <a:solidFill>
                  <a:srgbClr val="FDBA74"/>
                </a:solidFill>
                <a:latin typeface="微软雅黑"/>
              </a:rPr>
              <a:t>linked_atm.c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" y="3269437"/>
            <a:ext cx="5202936" cy="2344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DBA74"/>
                </a:solidFill>
                <a:latin typeface="Consolas"/>
              </a:rPr>
              <a:t>typedef struct Node {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" y="3503879"/>
            <a:ext cx="5202936" cy="2344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E6EDF7"/>
                </a:solidFill>
                <a:latin typeface="Consolas"/>
              </a:rPr>
              <a:t>    Account      data;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" y="3738321"/>
            <a:ext cx="5202936" cy="2344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DBA74"/>
                </a:solidFill>
                <a:latin typeface="Consolas"/>
              </a:rPr>
              <a:t>    struct Node *next;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" y="3972763"/>
            <a:ext cx="5202936" cy="2344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E6EDF7"/>
                </a:solidFill>
                <a:latin typeface="Consolas"/>
              </a:rPr>
              <a:t>} Node;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" y="4207205"/>
            <a:ext cx="5202936" cy="2344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E6EDF7"/>
                </a:solidFill>
                <a:latin typeface="Consolas"/>
              </a:rPr>
              <a:t>n-&gt;next = head-&gt;next;   // 插入只改指针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" y="4441647"/>
            <a:ext cx="5202936" cy="2344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E6EDF7"/>
                </a:solidFill>
                <a:latin typeface="Consolas"/>
              </a:rPr>
              <a:t>head-&gt;next = n;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55079" y="2804922"/>
            <a:ext cx="5287975" cy="1161415"/>
          </a:xfrm>
          <a:prstGeom prst="roundRect">
            <a:avLst>
              <a:gd name="adj" fmla="val 6000"/>
            </a:avLst>
          </a:prstGeom>
          <a:solidFill>
            <a:srgbClr val="E8F8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355079" y="2804922"/>
            <a:ext cx="50292" cy="1161415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37959" y="2987802"/>
            <a:ext cx="4867351" cy="269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 i="0">
                <a:solidFill>
                  <a:srgbClr val="15803D"/>
                </a:solidFill>
                <a:latin typeface="微软雅黑"/>
              </a:rPr>
              <a:t>相比数组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37959" y="3330829"/>
            <a:ext cx="4867351" cy="4526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350" b="0" i="0">
                <a:solidFill>
                  <a:srgbClr val="1F2937"/>
                </a:solidFill>
                <a:latin typeface="微软雅黑"/>
              </a:rPr>
              <a:t>长度随时可变，插入删除是常数级，</a:t>
            </a:r>
          </a:p>
          <a:p>
            <a:pPr algn="l">
              <a:lnSpc>
                <a:spcPct val="132000"/>
              </a:lnSpc>
            </a:pPr>
            <a:r>
              <a:rPr sz="1350" b="0" i="0">
                <a:solidFill>
                  <a:srgbClr val="1F2937"/>
                </a:solidFill>
                <a:latin typeface="微软雅黑"/>
              </a:rPr>
              <a:t>代价是查找要逐个走。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355079" y="4149217"/>
            <a:ext cx="5287975" cy="1161415"/>
          </a:xfrm>
          <a:prstGeom prst="roundRect">
            <a:avLst>
              <a:gd name="adj" fmla="val 6000"/>
            </a:avLst>
          </a:prstGeom>
          <a:solidFill>
            <a:srgbClr val="FD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355079" y="4149217"/>
            <a:ext cx="50292" cy="1161415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37959" y="4332097"/>
            <a:ext cx="4867351" cy="269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 i="0">
                <a:solidFill>
                  <a:srgbClr val="B91C1C"/>
                </a:solidFill>
                <a:latin typeface="微软雅黑"/>
              </a:rPr>
              <a:t>必须记住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37959" y="4675124"/>
            <a:ext cx="4867351" cy="4526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350" b="0" i="0">
                <a:solidFill>
                  <a:srgbClr val="1F2937"/>
                </a:solidFill>
                <a:latin typeface="微软雅黑"/>
              </a:rPr>
              <a:t>每一块申请来的内存</a:t>
            </a:r>
          </a:p>
          <a:p>
            <a:pPr algn="l">
              <a:lnSpc>
                <a:spcPct val="132000"/>
              </a:lnSpc>
            </a:pPr>
            <a:r>
              <a:rPr sz="1350" b="0" i="0">
                <a:solidFill>
                  <a:srgbClr val="1F2937"/>
                </a:solidFill>
                <a:latin typeface="微软雅黑"/>
              </a:rPr>
              <a:t>都要有人还回去，否则泄漏。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48640" y="5888736"/>
            <a:ext cx="11094415" cy="530352"/>
          </a:xfrm>
          <a:prstGeom prst="roundRect">
            <a:avLst>
              <a:gd name="adj" fmla="val 20000"/>
            </a:avLst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2959" y="5980176"/>
            <a:ext cx="10545775" cy="3474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600" b="1" i="0">
                <a:solidFill>
                  <a:srgbClr val="FFFFFF"/>
                </a:solidFill>
                <a:latin typeface="微软雅黑"/>
              </a:rPr>
              <a:t>指针串起来的，不只是节点，还有灵活性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36576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07007" y="365760"/>
            <a:ext cx="10436047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800" b="1" i="0">
                <a:solidFill>
                  <a:srgbClr val="1F2937"/>
                </a:solidFill>
                <a:latin typeface="微软雅黑"/>
              </a:rPr>
              <a:t>第9讲 静态库：复用做到了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25295" y="987552"/>
            <a:ext cx="10436047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475569"/>
                </a:solidFill>
                <a:latin typeface="微软雅黑"/>
              </a:rPr>
              <a:t>归档打包 · 链接期代码复制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316736"/>
            <a:ext cx="11094415" cy="18288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776609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7C8A9C"/>
                </a:solidFill>
                <a:latin typeface="微软雅黑"/>
              </a:rPr>
              <a:t>综合篇 · 从表达式到框架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45775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100" b="0" i="0">
                <a:solidFill>
                  <a:srgbClr val="7C8A9C"/>
                </a:solidFill>
                <a:latin typeface="微软雅黑"/>
              </a:rPr>
              <a:t>11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426464"/>
            <a:ext cx="11094415" cy="1177290"/>
          </a:xfrm>
          <a:prstGeom prst="roundRect">
            <a:avLst>
              <a:gd name="adj" fmla="val 6000"/>
            </a:avLst>
          </a:prstGeom>
          <a:solidFill>
            <a:srgbClr val="FFF6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426464"/>
            <a:ext cx="50292" cy="117729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1609344"/>
            <a:ext cx="10673791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B45309"/>
                </a:solidFill>
                <a:latin typeface="微软雅黑"/>
              </a:rPr>
              <a:t>📌 本讲要点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1968245"/>
            <a:ext cx="10673791" cy="4526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350" b="0" i="0">
                <a:solidFill>
                  <a:srgbClr val="1F2937"/>
                </a:solidFill>
                <a:latin typeface="微软雅黑"/>
              </a:rPr>
              <a:t>把目标文件用归档工具打包成库文件，别人链接时，链接器把用到的代码直接复制进可执行文件。好处是发布简单，代价是十份拷贝、升级要重编。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804922"/>
            <a:ext cx="5532120" cy="1867154"/>
          </a:xfrm>
          <a:prstGeom prst="roundRect">
            <a:avLst>
              <a:gd name="adj" fmla="val 5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48640" y="2804922"/>
            <a:ext cx="5532120" cy="36576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232" y="2859786"/>
            <a:ext cx="5202936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 i="0">
                <a:solidFill>
                  <a:srgbClr val="FDBA74"/>
                </a:solidFill>
                <a:latin typeface="微软雅黑"/>
              </a:rPr>
              <a:t>构建命令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" y="3269437"/>
            <a:ext cx="5202936" cy="2344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E6EDF7"/>
                </a:solidFill>
                <a:latin typeface="Consolas"/>
              </a:rPr>
              <a:t>$ ar rcs libaccount.a \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" y="3503879"/>
            <a:ext cx="5202936" cy="2344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E6EDF7"/>
                </a:solidFill>
                <a:latin typeface="Consolas"/>
              </a:rPr>
              <a:t>      account.o transaction.o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" y="3738321"/>
            <a:ext cx="5202936" cy="2344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E6EDF7"/>
                </a:solidFill>
                <a:latin typeface="Consolas"/>
              </a:rPr>
              <a:t>$ gcc main.o -o atm.exe \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" y="3972763"/>
            <a:ext cx="5202936" cy="2344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E6EDF7"/>
                </a:solidFill>
                <a:latin typeface="Consolas"/>
              </a:rPr>
              <a:t>      -L. -laccount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" y="4207205"/>
            <a:ext cx="5202936" cy="2344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9FB0C9"/>
                </a:solidFill>
                <a:latin typeface="Consolas"/>
              </a:rPr>
              <a:t># 用到的代码被复制进 atm.exe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55079" y="2804922"/>
            <a:ext cx="5287975" cy="1161415"/>
          </a:xfrm>
          <a:prstGeom prst="roundRect">
            <a:avLst>
              <a:gd name="adj" fmla="val 6000"/>
            </a:avLst>
          </a:prstGeom>
          <a:solidFill>
            <a:srgbClr val="E8F8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355079" y="2804922"/>
            <a:ext cx="50292" cy="1161415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37959" y="2987802"/>
            <a:ext cx="4867351" cy="269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 i="0">
                <a:solidFill>
                  <a:srgbClr val="15803D"/>
                </a:solidFill>
                <a:latin typeface="微软雅黑"/>
              </a:rPr>
              <a:t>好处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37959" y="3330829"/>
            <a:ext cx="4867351" cy="4526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350" b="0" i="0">
                <a:solidFill>
                  <a:srgbClr val="1F2937"/>
                </a:solidFill>
                <a:latin typeface="微软雅黑"/>
              </a:rPr>
              <a:t>一个可执行文件走天下，</a:t>
            </a:r>
          </a:p>
          <a:p>
            <a:pPr algn="l">
              <a:lnSpc>
                <a:spcPct val="132000"/>
              </a:lnSpc>
            </a:pPr>
            <a:r>
              <a:rPr sz="1350" b="0" i="0">
                <a:solidFill>
                  <a:srgbClr val="1F2937"/>
                </a:solidFill>
                <a:latin typeface="微软雅黑"/>
              </a:rPr>
              <a:t>不怕缺文件、启动快。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55079" y="4149217"/>
            <a:ext cx="5287975" cy="1161415"/>
          </a:xfrm>
          <a:prstGeom prst="roundRect">
            <a:avLst>
              <a:gd name="adj" fmla="val 6000"/>
            </a:avLst>
          </a:prstGeom>
          <a:solidFill>
            <a:srgbClr val="FD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355079" y="4149217"/>
            <a:ext cx="50292" cy="1161415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37959" y="4332097"/>
            <a:ext cx="4867351" cy="269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 i="0">
                <a:solidFill>
                  <a:srgbClr val="B91C1C"/>
                </a:solidFill>
                <a:latin typeface="微软雅黑"/>
              </a:rPr>
              <a:t>代价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37959" y="4675124"/>
            <a:ext cx="4867351" cy="4526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350" b="0" i="0">
                <a:solidFill>
                  <a:srgbClr val="1F2937"/>
                </a:solidFill>
                <a:latin typeface="微软雅黑"/>
              </a:rPr>
              <a:t>代码被复制多份，</a:t>
            </a:r>
          </a:p>
          <a:p>
            <a:pPr algn="l">
              <a:lnSpc>
                <a:spcPct val="132000"/>
              </a:lnSpc>
            </a:pPr>
            <a:r>
              <a:rPr sz="1350" b="0" i="0">
                <a:solidFill>
                  <a:srgbClr val="1F2937"/>
                </a:solidFill>
                <a:latin typeface="微软雅黑"/>
              </a:rPr>
              <a:t>库一升级所有程序都要重新链接。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" y="5888736"/>
            <a:ext cx="11094415" cy="530352"/>
          </a:xfrm>
          <a:prstGeom prst="roundRect">
            <a:avLst>
              <a:gd name="adj" fmla="val 20000"/>
            </a:avLst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59" y="5980176"/>
            <a:ext cx="10545775" cy="3474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600" b="1" i="0">
                <a:solidFill>
                  <a:srgbClr val="FFFFFF"/>
                </a:solidFill>
                <a:latin typeface="微软雅黑"/>
              </a:rPr>
              <a:t>复用做到了，共享还没有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36576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07007" y="365760"/>
            <a:ext cx="10436047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800" b="1" i="0">
                <a:solidFill>
                  <a:srgbClr val="1F2937"/>
                </a:solidFill>
                <a:latin typeface="微软雅黑"/>
              </a:rPr>
              <a:t>第10讲 动态库：共享做到了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25295" y="987552"/>
            <a:ext cx="10436047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475569"/>
                </a:solidFill>
                <a:latin typeface="微软雅黑"/>
              </a:rPr>
              <a:t>加载时链接 · 换库不用重编主程序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316736"/>
            <a:ext cx="11094415" cy="18288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776609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7C8A9C"/>
                </a:solidFill>
                <a:latin typeface="微软雅黑"/>
              </a:rPr>
              <a:t>综合篇 · 从表达式到框架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45775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100" b="0" i="0">
                <a:solidFill>
                  <a:srgbClr val="7C8A9C"/>
                </a:solidFill>
                <a:latin typeface="微软雅黑"/>
              </a:rPr>
              <a:t>12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426464"/>
            <a:ext cx="11094415" cy="1177290"/>
          </a:xfrm>
          <a:prstGeom prst="roundRect">
            <a:avLst>
              <a:gd name="adj" fmla="val 6000"/>
            </a:avLst>
          </a:prstGeom>
          <a:solidFill>
            <a:srgbClr val="FFF6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426464"/>
            <a:ext cx="50292" cy="117729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1609344"/>
            <a:ext cx="10673791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B45309"/>
                </a:solidFill>
                <a:latin typeface="微软雅黑"/>
              </a:rPr>
              <a:t>📌 本讲要点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1968245"/>
            <a:ext cx="10673791" cy="4526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350" b="0" i="0">
                <a:solidFill>
                  <a:srgbClr val="1F2937"/>
                </a:solidFill>
                <a:latin typeface="微软雅黑"/>
              </a:rPr>
              <a:t>编译成动态库后，程序启动时由加载器把它映射进进程，磁盘上只有一份代码。升级只要替换库文件，代价是部署必须带着它、版本要对得上。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804922"/>
            <a:ext cx="5532120" cy="1867154"/>
          </a:xfrm>
          <a:prstGeom prst="roundRect">
            <a:avLst>
              <a:gd name="adj" fmla="val 5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48640" y="2804922"/>
            <a:ext cx="5532120" cy="36576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232" y="2859786"/>
            <a:ext cx="5202936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 i="0">
                <a:solidFill>
                  <a:srgbClr val="FDBA74"/>
                </a:solidFill>
                <a:latin typeface="微软雅黑"/>
              </a:rPr>
              <a:t>构建与运行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" y="3269437"/>
            <a:ext cx="5202936" cy="2344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E6EDF7"/>
                </a:solidFill>
                <a:latin typeface="Consolas"/>
              </a:rPr>
              <a:t>__declspec(dllexport)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" y="3503879"/>
            <a:ext cx="5202936" cy="2344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DBA74"/>
                </a:solidFill>
                <a:latin typeface="Consolas"/>
              </a:rPr>
              <a:t>double get_balance(int id);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" y="3738321"/>
            <a:ext cx="5202936" cy="2344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E6EDF7"/>
                </a:solidFill>
                <a:latin typeface="Consolas"/>
              </a:rPr>
              <a:t>$ gcc -shared -o account.dll account.c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" y="3972763"/>
            <a:ext cx="5202936" cy="2344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E6EDF7"/>
                </a:solidFill>
                <a:latin typeface="Consolas"/>
              </a:rPr>
              <a:t>$ gcc main.c -o atm.exe -L. -laccount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" y="4207205"/>
            <a:ext cx="5202936" cy="2344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9FB0C9"/>
                </a:solidFill>
                <a:latin typeface="Consolas"/>
              </a:rPr>
              <a:t># 启动时由加载器映射进进程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55079" y="2804922"/>
            <a:ext cx="5287975" cy="1161415"/>
          </a:xfrm>
          <a:prstGeom prst="roundRect">
            <a:avLst>
              <a:gd name="adj" fmla="val 6000"/>
            </a:avLst>
          </a:prstGeom>
          <a:solidFill>
            <a:srgbClr val="E8F8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355079" y="2804922"/>
            <a:ext cx="50292" cy="1161415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37959" y="2987802"/>
            <a:ext cx="4867351" cy="269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 i="0">
                <a:solidFill>
                  <a:srgbClr val="15803D"/>
                </a:solidFill>
                <a:latin typeface="微软雅黑"/>
              </a:rPr>
              <a:t>好处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37959" y="3330829"/>
            <a:ext cx="4867351" cy="4526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350" b="0" i="0">
                <a:solidFill>
                  <a:srgbClr val="1F2937"/>
                </a:solidFill>
                <a:latin typeface="微软雅黑"/>
              </a:rPr>
              <a:t>磁盘内存都共享，</a:t>
            </a:r>
          </a:p>
          <a:p>
            <a:pPr algn="l">
              <a:lnSpc>
                <a:spcPct val="132000"/>
              </a:lnSpc>
            </a:pPr>
            <a:r>
              <a:rPr sz="1350" b="0" i="0">
                <a:solidFill>
                  <a:srgbClr val="1F2937"/>
                </a:solidFill>
                <a:latin typeface="微软雅黑"/>
              </a:rPr>
              <a:t>换库不用重编主程序。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55079" y="4149217"/>
            <a:ext cx="5287975" cy="1161415"/>
          </a:xfrm>
          <a:prstGeom prst="roundRect">
            <a:avLst>
              <a:gd name="adj" fmla="val 6000"/>
            </a:avLst>
          </a:prstGeom>
          <a:solidFill>
            <a:srgbClr val="FD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355079" y="4149217"/>
            <a:ext cx="50292" cy="1161415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37959" y="4332097"/>
            <a:ext cx="4867351" cy="269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 i="0">
                <a:solidFill>
                  <a:srgbClr val="B91C1C"/>
                </a:solidFill>
                <a:latin typeface="微软雅黑"/>
              </a:rPr>
              <a:t>代价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37959" y="4675124"/>
            <a:ext cx="4867351" cy="4526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350" b="0" i="0">
                <a:solidFill>
                  <a:srgbClr val="1F2937"/>
                </a:solidFill>
                <a:latin typeface="微软雅黑"/>
              </a:rPr>
              <a:t>部署要带 dll，</a:t>
            </a:r>
          </a:p>
          <a:p>
            <a:pPr algn="l">
              <a:lnSpc>
                <a:spcPct val="132000"/>
              </a:lnSpc>
            </a:pPr>
            <a:r>
              <a:rPr sz="1350" b="0" i="0">
                <a:solidFill>
                  <a:srgbClr val="1F2937"/>
                </a:solidFill>
                <a:latin typeface="微软雅黑"/>
              </a:rPr>
              <a:t>版本对不上就打不开。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" y="5888736"/>
            <a:ext cx="11094415" cy="530352"/>
          </a:xfrm>
          <a:prstGeom prst="roundRect">
            <a:avLst>
              <a:gd name="adj" fmla="val 20000"/>
            </a:avLst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59" y="5980176"/>
            <a:ext cx="10545775" cy="3474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600" b="1" i="0">
                <a:solidFill>
                  <a:srgbClr val="FFFFFF"/>
                </a:solidFill>
                <a:latin typeface="微软雅黑"/>
              </a:rPr>
              <a:t>代码终于能被别人复用，但用谁仍写死在编译期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36576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07007" y="365760"/>
            <a:ext cx="10436047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800" b="1" i="0">
                <a:solidFill>
                  <a:srgbClr val="1F2937"/>
                </a:solidFill>
                <a:latin typeface="微软雅黑"/>
              </a:rPr>
              <a:t>第11讲 运行时加载：不链接也能调用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25295" y="987552"/>
            <a:ext cx="10436047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475569"/>
                </a:solidFill>
                <a:latin typeface="微软雅黑"/>
              </a:rPr>
              <a:t>装进来 · 取地址 · 调用 —— 插件雏形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316736"/>
            <a:ext cx="11094415" cy="18288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776609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7C8A9C"/>
                </a:solidFill>
                <a:latin typeface="微软雅黑"/>
              </a:rPr>
              <a:t>综合篇 · 从表达式到框架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45775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100" b="0" i="0">
                <a:solidFill>
                  <a:srgbClr val="7C8A9C"/>
                </a:solidFill>
                <a:latin typeface="微软雅黑"/>
              </a:rPr>
              <a:t>13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426464"/>
            <a:ext cx="11094415" cy="1177290"/>
          </a:xfrm>
          <a:prstGeom prst="roundRect">
            <a:avLst>
              <a:gd name="adj" fmla="val 6000"/>
            </a:avLst>
          </a:prstGeom>
          <a:solidFill>
            <a:srgbClr val="F1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426464"/>
            <a:ext cx="50292" cy="117729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1609344"/>
            <a:ext cx="10673791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6D28D9"/>
                </a:solidFill>
                <a:latin typeface="微软雅黑"/>
              </a:rPr>
              <a:t>📌 本讲要点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1968245"/>
            <a:ext cx="10673791" cy="4526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350" b="0" i="0">
                <a:solidFill>
                  <a:srgbClr val="1F2937"/>
                </a:solidFill>
                <a:latin typeface="微软雅黑"/>
              </a:rPr>
              <a:t>用 LoadLibrary 在运行期把库装进来，按名字取出函数地址，转成函数指针就能调用。主程序编译时根本不需要知道这个库存在，用完还能卸载。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804922"/>
            <a:ext cx="5532120" cy="2101596"/>
          </a:xfrm>
          <a:prstGeom prst="roundRect">
            <a:avLst>
              <a:gd name="adj" fmla="val 5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48640" y="2804922"/>
            <a:ext cx="5532120" cy="36576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232" y="2859786"/>
            <a:ext cx="5202936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 i="0">
                <a:solidFill>
                  <a:srgbClr val="FDBA74"/>
                </a:solidFill>
                <a:latin typeface="微软雅黑"/>
              </a:rPr>
              <a:t>host.c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" y="3269437"/>
            <a:ext cx="5202936" cy="2344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E6EDF7"/>
                </a:solidFill>
                <a:latin typeface="Consolas"/>
              </a:rPr>
              <a:t>HANDLE h = LoadLibrary(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" y="3503879"/>
            <a:ext cx="5202936" cy="2344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E6EDF7"/>
                </a:solidFill>
                <a:latin typeface="Consolas"/>
              </a:rPr>
              <a:t>        "deposit_plugin.dll");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" y="3738321"/>
            <a:ext cx="5202936" cy="2344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E6EDF7"/>
                </a:solidFill>
                <a:latin typeface="Consolas"/>
              </a:rPr>
              <a:t>create_fn f = (create_fn)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" y="3972763"/>
            <a:ext cx="5202936" cy="2344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E6EDF7"/>
                </a:solidFill>
                <a:latin typeface="Consolas"/>
              </a:rPr>
              <a:t>    GetProcAddress(h, "create_plugin");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" y="4207205"/>
            <a:ext cx="5202936" cy="2344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E6EDF7"/>
                </a:solidFill>
                <a:latin typeface="Consolas"/>
              </a:rPr>
              <a:t>Plugin *p = f();     // 运行期装进来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" y="4441647"/>
            <a:ext cx="5202936" cy="2344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9FB0C9"/>
                </a:solidFill>
                <a:latin typeface="Consolas"/>
              </a:rPr>
              <a:t>// ... 用完 FreeLibrary(h)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55079" y="2804922"/>
            <a:ext cx="5287975" cy="1161415"/>
          </a:xfrm>
          <a:prstGeom prst="roundRect">
            <a:avLst>
              <a:gd name="adj" fmla="val 6000"/>
            </a:avLst>
          </a:prstGeom>
          <a:solidFill>
            <a:srgbClr val="F1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355079" y="2804922"/>
            <a:ext cx="50292" cy="1161415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37959" y="2987802"/>
            <a:ext cx="4867351" cy="269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 i="0">
                <a:solidFill>
                  <a:srgbClr val="6D28D9"/>
                </a:solidFill>
                <a:latin typeface="微软雅黑"/>
              </a:rPr>
              <a:t>关键突破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37959" y="3330829"/>
            <a:ext cx="4867351" cy="4526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350" b="0" i="0">
                <a:solidFill>
                  <a:srgbClr val="1F2937"/>
                </a:solidFill>
                <a:latin typeface="微软雅黑"/>
              </a:rPr>
              <a:t>依赖从编译期推迟到运行期，</a:t>
            </a:r>
          </a:p>
          <a:p>
            <a:pPr algn="l">
              <a:lnSpc>
                <a:spcPct val="132000"/>
              </a:lnSpc>
            </a:pPr>
            <a:r>
              <a:rPr sz="1350" b="0" i="0">
                <a:solidFill>
                  <a:srgbClr val="1F2937"/>
                </a:solidFill>
                <a:latin typeface="微软雅黑"/>
              </a:rPr>
              <a:t>主程序不必知道插件存在。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355079" y="4149217"/>
            <a:ext cx="5287975" cy="1161415"/>
          </a:xfrm>
          <a:prstGeom prst="roundRect">
            <a:avLst>
              <a:gd name="adj" fmla="val 6000"/>
            </a:avLst>
          </a:prstGeom>
          <a:solidFill>
            <a:srgbClr val="FD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355079" y="4149217"/>
            <a:ext cx="50292" cy="1161415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37959" y="4332097"/>
            <a:ext cx="4867351" cy="269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 i="0">
                <a:solidFill>
                  <a:srgbClr val="B91C1C"/>
                </a:solidFill>
                <a:latin typeface="微软雅黑"/>
              </a:rPr>
              <a:t>遗留问题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37959" y="4675124"/>
            <a:ext cx="4867351" cy="4526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350" b="0" i="0">
                <a:solidFill>
                  <a:srgbClr val="1F2937"/>
                </a:solidFill>
                <a:latin typeface="微软雅黑"/>
              </a:rPr>
              <a:t>大家各自取地址、各自约定函数名，</a:t>
            </a:r>
          </a:p>
          <a:p>
            <a:pPr algn="l">
              <a:lnSpc>
                <a:spcPct val="132000"/>
              </a:lnSpc>
            </a:pPr>
            <a:r>
              <a:rPr sz="1350" b="0" i="0">
                <a:solidFill>
                  <a:srgbClr val="1F2937"/>
                </a:solidFill>
                <a:latin typeface="微软雅黑"/>
              </a:rPr>
              <a:t>没有统一的契约，很容易对不上。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48640" y="5888736"/>
            <a:ext cx="11094415" cy="530352"/>
          </a:xfrm>
          <a:prstGeom prst="roundRect">
            <a:avLst>
              <a:gd name="adj" fmla="val 20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2959" y="5980176"/>
            <a:ext cx="10545775" cy="3474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600" b="1" i="0">
                <a:solidFill>
                  <a:srgbClr val="FFFFFF"/>
                </a:solidFill>
                <a:latin typeface="微软雅黑"/>
              </a:rPr>
              <a:t>扫一个目录，见到一个装一个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36576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07007" y="365760"/>
            <a:ext cx="10436047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800" b="1" i="0">
                <a:solidFill>
                  <a:srgbClr val="1F2937"/>
                </a:solidFill>
                <a:latin typeface="微软雅黑"/>
              </a:rPr>
              <a:t>第12讲 接口抽象：定一份契约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25295" y="987552"/>
            <a:ext cx="10436047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475569"/>
                </a:solidFill>
                <a:latin typeface="微软雅黑"/>
              </a:rPr>
              <a:t>结构体 + 函数指针表 —— C 语言的多态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316736"/>
            <a:ext cx="11094415" cy="18288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776609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7C8A9C"/>
                </a:solidFill>
                <a:latin typeface="微软雅黑"/>
              </a:rPr>
              <a:t>综合篇 · 从表达式到框架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45775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100" b="0" i="0">
                <a:solidFill>
                  <a:srgbClr val="7C8A9C"/>
                </a:solidFill>
                <a:latin typeface="微软雅黑"/>
              </a:rPr>
              <a:t>14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426464"/>
            <a:ext cx="11094415" cy="1177290"/>
          </a:xfrm>
          <a:prstGeom prst="roundRect">
            <a:avLst>
              <a:gd name="adj" fmla="val 6000"/>
            </a:avLst>
          </a:prstGeom>
          <a:solidFill>
            <a:srgbClr val="F1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426464"/>
            <a:ext cx="50292" cy="117729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1609344"/>
            <a:ext cx="10673791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6D28D9"/>
                </a:solidFill>
                <a:latin typeface="微软雅黑"/>
              </a:rPr>
              <a:t>📌 本讲要点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1968245"/>
            <a:ext cx="10673791" cy="4526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350" b="0" i="0">
                <a:solidFill>
                  <a:srgbClr val="1F2937"/>
                </a:solidFill>
                <a:latin typeface="微软雅黑"/>
              </a:rPr>
              <a:t>既然插件是别人写的，宿主怎么知道该调它什么？约定一个结构体，里面放一组函数指针。插件导出创建函数返回这个结构体，宿主只认结构体、不认实现。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804922"/>
            <a:ext cx="5532120" cy="2336037"/>
          </a:xfrm>
          <a:prstGeom prst="roundRect">
            <a:avLst>
              <a:gd name="adj" fmla="val 5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48640" y="2804922"/>
            <a:ext cx="5532120" cy="36576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232" y="2859786"/>
            <a:ext cx="5202936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 i="0">
                <a:solidFill>
                  <a:srgbClr val="FDBA74"/>
                </a:solidFill>
                <a:latin typeface="微软雅黑"/>
              </a:rPr>
              <a:t>plugin_api.h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" y="3269437"/>
            <a:ext cx="5202936" cy="2344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DBA74"/>
                </a:solidFill>
                <a:latin typeface="Consolas"/>
              </a:rPr>
              <a:t>typedef struct {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" y="3503879"/>
            <a:ext cx="5202936" cy="2344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E6EDF7"/>
                </a:solidFill>
                <a:latin typeface="Consolas"/>
              </a:rPr>
              <a:t>    const char *name;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" y="3738321"/>
            <a:ext cx="5202936" cy="2344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E6EDF7"/>
                </a:solidFill>
                <a:latin typeface="Consolas"/>
              </a:rPr>
              <a:t>    const char *version;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" y="3972763"/>
            <a:ext cx="5202936" cy="2344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DBA74"/>
                </a:solidFill>
                <a:latin typeface="Consolas"/>
              </a:rPr>
              <a:t>    int  (*init)(void);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" y="4207205"/>
            <a:ext cx="5202936" cy="2344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DBA74"/>
                </a:solidFill>
                <a:latin typeface="Consolas"/>
              </a:rPr>
              <a:t>    int  (*execute)(void *ctx);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" y="4441647"/>
            <a:ext cx="5202936" cy="2344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DBA74"/>
                </a:solidFill>
                <a:latin typeface="Consolas"/>
              </a:rPr>
              <a:t>    void (*cleanup)(void);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" y="4676089"/>
            <a:ext cx="5202936" cy="2344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E6EDF7"/>
                </a:solidFill>
                <a:latin typeface="Consolas"/>
              </a:rPr>
              <a:t>} Plugin;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55079" y="2804922"/>
            <a:ext cx="5287975" cy="1161415"/>
          </a:xfrm>
          <a:prstGeom prst="roundRect">
            <a:avLst>
              <a:gd name="adj" fmla="val 6000"/>
            </a:avLst>
          </a:prstGeom>
          <a:solidFill>
            <a:srgbClr val="F1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355079" y="2804922"/>
            <a:ext cx="50292" cy="1161415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37959" y="2987802"/>
            <a:ext cx="4867351" cy="269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 i="0">
                <a:solidFill>
                  <a:srgbClr val="6D28D9"/>
                </a:solidFill>
                <a:latin typeface="微软雅黑"/>
              </a:rPr>
              <a:t>这就是多态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37959" y="3330829"/>
            <a:ext cx="4867351" cy="4526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350" b="0" i="0">
                <a:solidFill>
                  <a:srgbClr val="1F2937"/>
                </a:solidFill>
                <a:latin typeface="微软雅黑"/>
              </a:rPr>
              <a:t>同一行宿主代码，</a:t>
            </a:r>
          </a:p>
          <a:p>
            <a:pPr algn="l">
              <a:lnSpc>
                <a:spcPct val="132000"/>
              </a:lnSpc>
            </a:pPr>
            <a:r>
              <a:rPr sz="1350" b="0" i="0">
                <a:solidFill>
                  <a:srgbClr val="1F2937"/>
                </a:solidFill>
                <a:latin typeface="微软雅黑"/>
              </a:rPr>
              <a:t>因为拿到不同插件，行为就不一样。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355079" y="4149217"/>
            <a:ext cx="5287975" cy="1161415"/>
          </a:xfrm>
          <a:prstGeom prst="roundRect">
            <a:avLst>
              <a:gd name="adj" fmla="val 6000"/>
            </a:avLst>
          </a:prstGeom>
          <a:solidFill>
            <a:srgbClr val="FD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355079" y="4149217"/>
            <a:ext cx="50292" cy="1161415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37959" y="4332097"/>
            <a:ext cx="4867351" cy="269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 i="0">
                <a:solidFill>
                  <a:srgbClr val="B91C1C"/>
                </a:solidFill>
                <a:latin typeface="微软雅黑"/>
              </a:rPr>
              <a:t>遗留问题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37959" y="4675124"/>
            <a:ext cx="4867351" cy="4526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350" b="0" i="0">
                <a:solidFill>
                  <a:srgbClr val="1F2937"/>
                </a:solidFill>
                <a:latin typeface="微软雅黑"/>
              </a:rPr>
              <a:t>加载、卸载、出错处理仍散落在各处，</a:t>
            </a:r>
          </a:p>
          <a:p>
            <a:pPr algn="l">
              <a:lnSpc>
                <a:spcPct val="132000"/>
              </a:lnSpc>
            </a:pPr>
            <a:r>
              <a:rPr sz="1350" b="0" i="0">
                <a:solidFill>
                  <a:srgbClr val="1F2937"/>
                </a:solidFill>
                <a:latin typeface="微软雅黑"/>
              </a:rPr>
              <a:t>谁都可以随便来一发。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48640" y="5888736"/>
            <a:ext cx="11094415" cy="530352"/>
          </a:xfrm>
          <a:prstGeom prst="roundRect">
            <a:avLst>
              <a:gd name="adj" fmla="val 20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2959" y="5980176"/>
            <a:ext cx="10545775" cy="3474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600" b="1" i="0">
                <a:solidFill>
                  <a:srgbClr val="FFFFFF"/>
                </a:solidFill>
                <a:latin typeface="微软雅黑"/>
              </a:rPr>
              <a:t>只认契约，不认实现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36576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07007" y="365760"/>
            <a:ext cx="10436047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800" b="1" i="0">
                <a:solidFill>
                  <a:srgbClr val="1F2937"/>
                </a:solidFill>
                <a:latin typeface="微软雅黑"/>
              </a:rPr>
              <a:t>第13讲 插件框架：控制反转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25295" y="987552"/>
            <a:ext cx="10436047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475569"/>
                </a:solidFill>
                <a:latin typeface="微软雅黑"/>
              </a:rPr>
              <a:t>生命周期 + 状态机 + 管理器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316736"/>
            <a:ext cx="11094415" cy="18288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776609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7C8A9C"/>
                </a:solidFill>
                <a:latin typeface="微软雅黑"/>
              </a:rPr>
              <a:t>综合篇 · 从表达式到框架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45775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100" b="0" i="0">
                <a:solidFill>
                  <a:srgbClr val="7C8A9C"/>
                </a:solidFill>
                <a:latin typeface="微软雅黑"/>
              </a:rPr>
              <a:t>15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426464"/>
            <a:ext cx="11094415" cy="1177290"/>
          </a:xfrm>
          <a:prstGeom prst="roundRect">
            <a:avLst>
              <a:gd name="adj" fmla="val 6000"/>
            </a:avLst>
          </a:prstGeom>
          <a:solidFill>
            <a:srgbClr val="FF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426464"/>
            <a:ext cx="50292" cy="117729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1609344"/>
            <a:ext cx="10673791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C2410C"/>
                </a:solidFill>
                <a:latin typeface="微软雅黑"/>
              </a:rPr>
              <a:t>📌 本讲要点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1968245"/>
            <a:ext cx="10673791" cy="4526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350" b="0" i="0">
                <a:solidFill>
                  <a:srgbClr val="1F2937"/>
                </a:solidFill>
                <a:latin typeface="微软雅黑"/>
              </a:rPr>
              <a:t>插件有了完整生命周期：加载、初始化、启动、执行、停止、清理，状态机管着能不能迁移。框架负责扫目录、注册、分发、卸载，插件只管自己的业务。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804922"/>
            <a:ext cx="5532120" cy="2101596"/>
          </a:xfrm>
          <a:prstGeom prst="roundRect">
            <a:avLst>
              <a:gd name="adj" fmla="val 5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48640" y="2804922"/>
            <a:ext cx="5532120" cy="36576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232" y="2859786"/>
            <a:ext cx="5202936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 i="0">
                <a:solidFill>
                  <a:srgbClr val="FDBA74"/>
                </a:solidFill>
                <a:latin typeface="微软雅黑"/>
              </a:rPr>
              <a:t>framework.c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" y="3269437"/>
            <a:ext cx="5202936" cy="2344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E6EDF7"/>
                </a:solidFill>
                <a:latin typeface="Consolas"/>
              </a:rPr>
              <a:t>UNLOADED -&gt; LOADED -&gt; INITIALIZED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" y="3503879"/>
            <a:ext cx="5202936" cy="2344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E6EDF7"/>
                </a:solidFill>
                <a:latin typeface="Consolas"/>
              </a:rPr>
              <a:t>        -&gt; STARTED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" y="3738321"/>
            <a:ext cx="5202936" cy="2344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E6EDF7"/>
                </a:solidFill>
                <a:latin typeface="Consolas"/>
              </a:rPr>
              <a:t>        -&gt; STOPPED -&gt; CLEANED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" y="3972763"/>
            <a:ext cx="5202936" cy="2344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E6EDF7"/>
                </a:solidFill>
                <a:latin typeface="Consolas"/>
              </a:rPr>
              <a:t/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" y="4207205"/>
            <a:ext cx="5202936" cy="2344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9FB0C9"/>
                </a:solidFill>
                <a:latin typeface="Consolas"/>
              </a:rPr>
              <a:t>// 框架：扫目录 / 注册 / 分发 / 卸载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" y="4441647"/>
            <a:ext cx="5202936" cy="2344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9FB0C9"/>
                </a:solidFill>
                <a:latin typeface="Consolas"/>
              </a:rPr>
              <a:t>// 插件：只实现自己的业务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55079" y="2804922"/>
            <a:ext cx="5287975" cy="1161415"/>
          </a:xfrm>
          <a:prstGeom prst="roundRect">
            <a:avLst>
              <a:gd name="adj" fmla="val 6000"/>
            </a:avLst>
          </a:prstGeom>
          <a:solidFill>
            <a:srgbClr val="FF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355079" y="2804922"/>
            <a:ext cx="50292" cy="1161415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37959" y="2987802"/>
            <a:ext cx="4867351" cy="269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 i="0">
                <a:solidFill>
                  <a:srgbClr val="C2410C"/>
                </a:solidFill>
                <a:latin typeface="微软雅黑"/>
              </a:rPr>
              <a:t>开闭原则落地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37959" y="3330829"/>
            <a:ext cx="4867351" cy="4526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350" b="0" i="0">
                <a:solidFill>
                  <a:srgbClr val="1F2937"/>
                </a:solidFill>
                <a:latin typeface="微软雅黑"/>
              </a:rPr>
              <a:t>加功能就加插件，</a:t>
            </a:r>
          </a:p>
          <a:p>
            <a:pPr algn="l">
              <a:lnSpc>
                <a:spcPct val="132000"/>
              </a:lnSpc>
            </a:pPr>
            <a:r>
              <a:rPr sz="1350" b="0" i="0">
                <a:solidFill>
                  <a:srgbClr val="1F2937"/>
                </a:solidFill>
                <a:latin typeface="微软雅黑"/>
              </a:rPr>
              <a:t>主程序一行不改。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355079" y="4149217"/>
            <a:ext cx="5287975" cy="1161415"/>
          </a:xfrm>
          <a:prstGeom prst="roundRect">
            <a:avLst>
              <a:gd name="adj" fmla="val 6000"/>
            </a:avLst>
          </a:prstGeom>
          <a:solidFill>
            <a:srgbClr val="FF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355079" y="4149217"/>
            <a:ext cx="50292" cy="1161415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37959" y="4332097"/>
            <a:ext cx="4867351" cy="269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 i="0">
                <a:solidFill>
                  <a:srgbClr val="C2410C"/>
                </a:solidFill>
                <a:latin typeface="微软雅黑"/>
              </a:rPr>
              <a:t>控制反转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37959" y="4675124"/>
            <a:ext cx="4867351" cy="4526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350" b="0" i="0">
                <a:solidFill>
                  <a:srgbClr val="1F2937"/>
                </a:solidFill>
                <a:latin typeface="微软雅黑"/>
              </a:rPr>
              <a:t>以前你调用库，</a:t>
            </a:r>
          </a:p>
          <a:p>
            <a:pPr algn="l">
              <a:lnSpc>
                <a:spcPct val="132000"/>
              </a:lnSpc>
            </a:pPr>
            <a:r>
              <a:rPr sz="1350" b="0" i="0">
                <a:solidFill>
                  <a:srgbClr val="1F2937"/>
                </a:solidFill>
                <a:latin typeface="微软雅黑"/>
              </a:rPr>
              <a:t>现在框架调用你——别打电话给我们。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48640" y="5888736"/>
            <a:ext cx="11094415" cy="530352"/>
          </a:xfrm>
          <a:prstGeom prst="roundRect">
            <a:avLst>
              <a:gd name="adj" fmla="val 20000"/>
            </a:avLst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2959" y="5980176"/>
            <a:ext cx="10545775" cy="3474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600" b="1" i="0">
                <a:solidFill>
                  <a:srgbClr val="FFFFFF"/>
                </a:solidFill>
                <a:latin typeface="微软雅黑"/>
              </a:rPr>
              <a:t>框架定骨架，插件填血肉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36576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07007" y="365760"/>
            <a:ext cx="10436047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800" b="1" i="0">
                <a:solidFill>
                  <a:srgbClr val="1F2937"/>
                </a:solidFill>
                <a:latin typeface="微软雅黑"/>
              </a:rPr>
              <a:t>第14讲 完整项目：零件装成机器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25295" y="987552"/>
            <a:ext cx="10436047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475569"/>
                </a:solidFill>
                <a:latin typeface="微软雅黑"/>
              </a:rPr>
              <a:t>核心稳定 · 插件可插 · 主程序只调度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316736"/>
            <a:ext cx="11094415" cy="18288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776609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7C8A9C"/>
                </a:solidFill>
                <a:latin typeface="微软雅黑"/>
              </a:rPr>
              <a:t>综合篇 · 从表达式到框架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45775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100" b="0" i="0">
                <a:solidFill>
                  <a:srgbClr val="7C8A9C"/>
                </a:solidFill>
                <a:latin typeface="微软雅黑"/>
              </a:rPr>
              <a:t>16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426464"/>
            <a:ext cx="11094415" cy="1177290"/>
          </a:xfrm>
          <a:prstGeom prst="roundRect">
            <a:avLst>
              <a:gd name="adj" fmla="val 6000"/>
            </a:avLst>
          </a:prstGeom>
          <a:solidFill>
            <a:srgbClr val="FF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426464"/>
            <a:ext cx="50292" cy="117729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1609344"/>
            <a:ext cx="10673791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C2410C"/>
                </a:solidFill>
                <a:latin typeface="微软雅黑"/>
              </a:rPr>
              <a:t>📌 本讲要点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1968245"/>
            <a:ext cx="10673791" cy="4526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350" b="0" i="0">
                <a:solidFill>
                  <a:srgbClr val="1F2937"/>
                </a:solidFill>
                <a:latin typeface="微软雅黑"/>
              </a:rPr>
              <a:t>账务核心是一个动态库，四个插件各管一个业务，主程序扫目录加载插件、按配置生成菜单，插件缺失还能优雅降级。一行 printf 长成了一台能跑的机器。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804922"/>
            <a:ext cx="5532120" cy="2101596"/>
          </a:xfrm>
          <a:prstGeom prst="roundRect">
            <a:avLst>
              <a:gd name="adj" fmla="val 5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48640" y="2804922"/>
            <a:ext cx="5532120" cy="36576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232" y="2859786"/>
            <a:ext cx="5202936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 i="0">
                <a:solidFill>
                  <a:srgbClr val="FDBA74"/>
                </a:solidFill>
                <a:latin typeface="微软雅黑"/>
              </a:rPr>
              <a:t>运行输出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" y="3269437"/>
            <a:ext cx="5202936" cy="2344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E6EDF7"/>
                </a:solidFill>
                <a:latin typeface="Consolas"/>
              </a:rPr>
              <a:t>$ ./atm_framework.exe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" y="3503879"/>
            <a:ext cx="5202936" cy="2344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E6EDF7"/>
                </a:solidFill>
                <a:latin typeface="Consolas"/>
              </a:rPr>
              <a:t>=== 初始化账务核心 ===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" y="3738321"/>
            <a:ext cx="5202936" cy="2344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E6EDF7"/>
                </a:solidFill>
                <a:latin typeface="Consolas"/>
              </a:rPr>
              <a:t>=== 扫描插件目录: plugins ===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" y="3972763"/>
            <a:ext cx="5202936" cy="2344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E6EDF7"/>
                </a:solidFill>
                <a:latin typeface="Consolas"/>
              </a:rPr>
              <a:t>  [发现] deposit_plugin.dll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" y="4207205"/>
            <a:ext cx="5202936" cy="2344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E6EDF7"/>
                </a:solidFill>
                <a:latin typeface="Consolas"/>
              </a:rPr>
              <a:t>  [注册] 存款  v1.0  菜单项 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" y="4441647"/>
            <a:ext cx="5202936" cy="2344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E6EDF7"/>
                </a:solidFill>
                <a:latin typeface="Consolas"/>
              </a:rPr>
              <a:t>  [注册] 取款  v1.0  菜单项 2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55079" y="2804922"/>
            <a:ext cx="5287975" cy="1161415"/>
          </a:xfrm>
          <a:prstGeom prst="roundRect">
            <a:avLst>
              <a:gd name="adj" fmla="val 6000"/>
            </a:avLst>
          </a:prstGeom>
          <a:solidFill>
            <a:srgbClr val="FF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355079" y="2804922"/>
            <a:ext cx="50292" cy="1161415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37959" y="2987802"/>
            <a:ext cx="4867351" cy="269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 i="0">
                <a:solidFill>
                  <a:srgbClr val="C2410C"/>
                </a:solidFill>
                <a:latin typeface="微软雅黑"/>
              </a:rPr>
              <a:t>分层清晰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37959" y="3330829"/>
            <a:ext cx="4867351" cy="4526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350" b="0" i="0">
                <a:solidFill>
                  <a:srgbClr val="1F2937"/>
                </a:solidFill>
                <a:latin typeface="微软雅黑"/>
              </a:rPr>
              <a:t>核心层稳定，插件层可插，</a:t>
            </a:r>
          </a:p>
          <a:p>
            <a:pPr algn="l">
              <a:lnSpc>
                <a:spcPct val="132000"/>
              </a:lnSpc>
            </a:pPr>
            <a:r>
              <a:rPr sz="1350" b="0" i="0">
                <a:solidFill>
                  <a:srgbClr val="1F2937"/>
                </a:solidFill>
                <a:latin typeface="微软雅黑"/>
              </a:rPr>
              <a:t>主程序只做调度。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355079" y="4149217"/>
            <a:ext cx="5287975" cy="1161415"/>
          </a:xfrm>
          <a:prstGeom prst="roundRect">
            <a:avLst>
              <a:gd name="adj" fmla="val 6000"/>
            </a:avLst>
          </a:prstGeom>
          <a:solidFill>
            <a:srgbClr val="E8F8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355079" y="4149217"/>
            <a:ext cx="50292" cy="1161415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37959" y="4332097"/>
            <a:ext cx="4867351" cy="269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 i="0">
                <a:solidFill>
                  <a:srgbClr val="15803D"/>
                </a:solidFill>
                <a:latin typeface="微软雅黑"/>
              </a:rPr>
              <a:t>优雅降级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37959" y="4675124"/>
            <a:ext cx="4867351" cy="4526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350" b="0" i="0">
                <a:solidFill>
                  <a:srgbClr val="1F2937"/>
                </a:solidFill>
                <a:latin typeface="微软雅黑"/>
              </a:rPr>
              <a:t>插件文件删掉，程序照常跑，</a:t>
            </a:r>
          </a:p>
          <a:p>
            <a:pPr algn="l">
              <a:lnSpc>
                <a:spcPct val="132000"/>
              </a:lnSpc>
            </a:pPr>
            <a:r>
              <a:rPr sz="1350" b="0" i="0">
                <a:solidFill>
                  <a:srgbClr val="1F2937"/>
                </a:solidFill>
                <a:latin typeface="微软雅黑"/>
              </a:rPr>
              <a:t>只是菜单少了那一项。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48640" y="5888736"/>
            <a:ext cx="11094415" cy="530352"/>
          </a:xfrm>
          <a:prstGeom prst="roundRect">
            <a:avLst>
              <a:gd name="adj" fmla="val 20000"/>
            </a:avLst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2959" y="5980176"/>
            <a:ext cx="10545775" cy="3474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600" b="1" i="0">
                <a:solidFill>
                  <a:srgbClr val="FFFFFF"/>
                </a:solidFill>
                <a:latin typeface="微软雅黑"/>
              </a:rPr>
              <a:t>十四讲走完：一行 printf 长成一台机器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36576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07007" y="365760"/>
            <a:ext cx="10436047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800" b="1" i="0">
                <a:solidFill>
                  <a:srgbClr val="1F2937"/>
                </a:solidFill>
                <a:latin typeface="微软雅黑"/>
              </a:rPr>
              <a:t>六次跃迁：变化被挪到了哪里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25295" y="987552"/>
            <a:ext cx="10436047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475569"/>
                </a:solidFill>
                <a:latin typeface="微软雅黑"/>
              </a:rPr>
              <a:t>每一级，改动的波及面都在变小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316736"/>
            <a:ext cx="11094415" cy="18288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776609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7C8A9C"/>
                </a:solidFill>
                <a:latin typeface="微软雅黑"/>
              </a:rPr>
              <a:t>综合篇 · 从表达式到框架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45775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100" b="0" i="0">
                <a:solidFill>
                  <a:srgbClr val="7C8A9C"/>
                </a:solidFill>
                <a:latin typeface="微软雅黑"/>
              </a:rPr>
              <a:t>17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426464"/>
            <a:ext cx="11094415" cy="449580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" y="1463040"/>
            <a:ext cx="2886980" cy="3764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 i="0">
                <a:solidFill>
                  <a:srgbClr val="FFFFFF"/>
                </a:solidFill>
                <a:latin typeface="微软雅黑"/>
              </a:rPr>
              <a:t>跃迁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83092" y="1463040"/>
            <a:ext cx="7768522" cy="3764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 i="0">
                <a:solidFill>
                  <a:srgbClr val="FFFFFF"/>
                </a:solidFill>
                <a:latin typeface="微软雅黑"/>
              </a:rPr>
              <a:t>变化被挪到了哪里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1876044"/>
            <a:ext cx="11094415" cy="44958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6656" y="1912620"/>
            <a:ext cx="2886980" cy="3764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 i="0">
                <a:solidFill>
                  <a:srgbClr val="1F2937"/>
                </a:solidFill>
                <a:latin typeface="微软雅黑"/>
              </a:rPr>
              <a:t>表达式 → 函数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83092" y="1912620"/>
            <a:ext cx="7768522" cy="3764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1F2937"/>
                </a:solidFill>
                <a:latin typeface="微软雅黑"/>
              </a:rPr>
              <a:t>变化从 main 里挪进函数，改动只影响一个函数体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2325624"/>
            <a:ext cx="11094415" cy="4495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6656" y="2362200"/>
            <a:ext cx="2886980" cy="3764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 i="0">
                <a:solidFill>
                  <a:srgbClr val="1F2937"/>
                </a:solidFill>
                <a:latin typeface="微软雅黑"/>
              </a:rPr>
              <a:t>函数 → 模块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83092" y="2362200"/>
            <a:ext cx="7768522" cy="3764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1F2937"/>
                </a:solidFill>
                <a:latin typeface="微软雅黑"/>
              </a:rPr>
              <a:t>变化从函数挪进文件，改动只影响一个编译单元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2775204"/>
            <a:ext cx="11094415" cy="44958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6656" y="2811780"/>
            <a:ext cx="2886980" cy="3764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 i="0">
                <a:solidFill>
                  <a:srgbClr val="1F2937"/>
                </a:solidFill>
                <a:latin typeface="微软雅黑"/>
              </a:rPr>
              <a:t>模块 → 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83092" y="2811780"/>
            <a:ext cx="7768522" cy="3764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1F2937"/>
                </a:solidFill>
                <a:latin typeface="微软雅黑"/>
              </a:rPr>
              <a:t>变化从源码挪进库，复用者只需要在链接期接上它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3224784"/>
            <a:ext cx="11094415" cy="4495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6656" y="3261360"/>
            <a:ext cx="2886980" cy="3764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 i="0">
                <a:solidFill>
                  <a:srgbClr val="1F2937"/>
                </a:solidFill>
                <a:latin typeface="微软雅黑"/>
              </a:rPr>
              <a:t>库 → 运行时加载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83092" y="3261360"/>
            <a:ext cx="7768522" cy="3764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1F2937"/>
                </a:solidFill>
                <a:latin typeface="微软雅黑"/>
              </a:rPr>
              <a:t>依赖从编译期推迟到运行期，主程序不必知道插件存在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3674364"/>
            <a:ext cx="11094415" cy="44958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6656" y="3710940"/>
            <a:ext cx="2886980" cy="3764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 i="0">
                <a:solidFill>
                  <a:srgbClr val="1F2937"/>
                </a:solidFill>
                <a:latin typeface="微软雅黑"/>
              </a:rPr>
              <a:t>加载 → 接口抽象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783092" y="3710940"/>
            <a:ext cx="7768522" cy="3764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1F2937"/>
                </a:solidFill>
                <a:latin typeface="微软雅黑"/>
              </a:rPr>
              <a:t>用函数指针表定契约，宿主与实现彻底解耦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4123944"/>
            <a:ext cx="11094415" cy="4495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76656" y="4160520"/>
            <a:ext cx="2886980" cy="3764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 i="0">
                <a:solidFill>
                  <a:srgbClr val="1F2937"/>
                </a:solidFill>
                <a:latin typeface="微软雅黑"/>
              </a:rPr>
              <a:t>抽象 → 框架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83092" y="4160520"/>
            <a:ext cx="7768522" cy="3764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1F2937"/>
                </a:solidFill>
                <a:latin typeface="微软雅黑"/>
              </a:rPr>
              <a:t>连调用顺序都交给框架，加功能不改主程序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48640" y="4774692"/>
            <a:ext cx="11094415" cy="950976"/>
          </a:xfrm>
          <a:prstGeom prst="roundRect">
            <a:avLst>
              <a:gd name="adj" fmla="val 6000"/>
            </a:avLst>
          </a:prstGeom>
          <a:solidFill>
            <a:srgbClr val="FF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48640" y="4774692"/>
            <a:ext cx="50292" cy="950976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31520" y="4957572"/>
            <a:ext cx="10673791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C2410C"/>
                </a:solidFill>
                <a:latin typeface="微软雅黑"/>
              </a:rPr>
              <a:t>📝 一句话规律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316474"/>
            <a:ext cx="10673791" cy="22631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350" b="0" i="0">
                <a:solidFill>
                  <a:srgbClr val="1F2937"/>
                </a:solidFill>
                <a:latin typeface="微软雅黑"/>
              </a:rPr>
              <a:t>规律：每一次跃迁，都把"会变的东西"关进更小的笼子。架构不是设计出来的，是一次次把变化往外挪的结果。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48640" y="5888736"/>
            <a:ext cx="11094415" cy="530352"/>
          </a:xfrm>
          <a:prstGeom prst="roundRect">
            <a:avLst>
              <a:gd name="adj" fmla="val 20000"/>
            </a:avLst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22959" y="5980176"/>
            <a:ext cx="10545775" cy="3474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600" b="1" i="0">
                <a:solidFill>
                  <a:srgbClr val="FFFFFF"/>
                </a:solidFill>
                <a:latin typeface="微软雅黑"/>
              </a:rPr>
              <a:t>波及面越来越小，就是架构越来越好的标志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36576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07007" y="365760"/>
            <a:ext cx="10436047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800" b="1" i="0">
                <a:solidFill>
                  <a:srgbClr val="1F2937"/>
                </a:solidFill>
                <a:latin typeface="微软雅黑"/>
              </a:rPr>
              <a:t>同一件事的四种写法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25295" y="987552"/>
            <a:ext cx="10436047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475569"/>
                </a:solidFill>
                <a:latin typeface="微软雅黑"/>
              </a:rPr>
              <a:t>存款功能在四个阶段的样子 —— 功能一样，代价不同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316736"/>
            <a:ext cx="11094415" cy="18288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776609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7C8A9C"/>
                </a:solidFill>
                <a:latin typeface="微软雅黑"/>
              </a:rPr>
              <a:t>综合篇 · 从表达式到框架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45775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100" b="0" i="0">
                <a:solidFill>
                  <a:srgbClr val="7C8A9C"/>
                </a:solidFill>
                <a:latin typeface="微软雅黑"/>
              </a:rPr>
              <a:t>18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426464"/>
            <a:ext cx="5428335" cy="1822069"/>
          </a:xfrm>
          <a:prstGeom prst="roundRect">
            <a:avLst>
              <a:gd name="adj" fmla="val 5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48640" y="1426464"/>
            <a:ext cx="5428335" cy="36576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1481328"/>
            <a:ext cx="5099151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1" i="0">
                <a:solidFill>
                  <a:srgbClr val="FDBA74"/>
                </a:solidFill>
                <a:latin typeface="微软雅黑"/>
              </a:rPr>
              <a:t>① 表达式阶段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1890979"/>
            <a:ext cx="5099151" cy="2254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9FB0C9"/>
                </a:solidFill>
                <a:latin typeface="Consolas"/>
              </a:rPr>
              <a:t>// main 里的一段代码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" y="2116404"/>
            <a:ext cx="5099151" cy="2254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E6EDF7"/>
                </a:solidFill>
                <a:latin typeface="Consolas"/>
              </a:rPr>
              <a:t>balance = balance + amt;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" y="2341829"/>
            <a:ext cx="5099151" cy="2254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E6EDF7"/>
                </a:solidFill>
                <a:latin typeface="Consolas"/>
              </a:rPr>
              <a:t>printf("%.2f", balance);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2567254"/>
            <a:ext cx="5099151" cy="2254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E6EDF7"/>
                </a:solidFill>
                <a:latin typeface="Consolas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" y="2792679"/>
            <a:ext cx="5099151" cy="2254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E6EDF7"/>
                </a:solidFill>
                <a:latin typeface="Consolas"/>
              </a:rPr>
              <a:t>改它：动 main，全部重编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4719" y="1426464"/>
            <a:ext cx="5428335" cy="2047494"/>
          </a:xfrm>
          <a:prstGeom prst="roundRect">
            <a:avLst>
              <a:gd name="adj" fmla="val 5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214719" y="1426464"/>
            <a:ext cx="5428335" cy="36576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79311" y="1481328"/>
            <a:ext cx="5099151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1" i="0">
                <a:solidFill>
                  <a:srgbClr val="FDBA74"/>
                </a:solidFill>
                <a:latin typeface="微软雅黑"/>
              </a:rPr>
              <a:t>② 函数阶段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79311" y="1890979"/>
            <a:ext cx="5099151" cy="2254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FDBA74"/>
                </a:solidFill>
                <a:latin typeface="Consolas"/>
              </a:rPr>
              <a:t>int deposit(Account *a,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9311" y="2116404"/>
            <a:ext cx="5099151" cy="2254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FDBA74"/>
                </a:solidFill>
                <a:latin typeface="Consolas"/>
              </a:rPr>
              <a:t>           double amt) {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79311" y="2341829"/>
            <a:ext cx="5099151" cy="2254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E6EDF7"/>
                </a:solidFill>
                <a:latin typeface="Consolas"/>
              </a:rPr>
              <a:t>    a-&gt;balance += amt;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79311" y="2567254"/>
            <a:ext cx="5099151" cy="2254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FDBA74"/>
                </a:solidFill>
                <a:latin typeface="Consolas"/>
              </a:rPr>
              <a:t>    return 0;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79311" y="2792679"/>
            <a:ext cx="5099151" cy="2254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E6EDF7"/>
                </a:solidFill>
                <a:latin typeface="Consolas"/>
              </a:rPr>
              <a:t>}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79311" y="3018104"/>
            <a:ext cx="5099151" cy="2254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E6EDF7"/>
                </a:solidFill>
                <a:latin typeface="Consolas"/>
              </a:rPr>
              <a:t>改它：动一个函数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3620262"/>
            <a:ext cx="5428335" cy="2047494"/>
          </a:xfrm>
          <a:prstGeom prst="roundRect">
            <a:avLst>
              <a:gd name="adj" fmla="val 5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548640" y="3620262"/>
            <a:ext cx="5428335" cy="36576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13232" y="3675126"/>
            <a:ext cx="5099151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1" i="0">
                <a:solidFill>
                  <a:srgbClr val="FDBA74"/>
                </a:solidFill>
                <a:latin typeface="微软雅黑"/>
              </a:rPr>
              <a:t>③ 库阶段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3232" y="4084777"/>
            <a:ext cx="5099151" cy="2254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9FB0C9"/>
                </a:solidFill>
                <a:latin typeface="Consolas"/>
              </a:rPr>
              <a:t>// account.c -&gt; libaccount.a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3232" y="4310202"/>
            <a:ext cx="5099151" cy="2254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E6EDF7"/>
                </a:solidFill>
                <a:latin typeface="Consolas"/>
              </a:rPr>
              <a:t>__declspec(dllexport)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3232" y="4535627"/>
            <a:ext cx="5099151" cy="2254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FDBA74"/>
                </a:solidFill>
                <a:latin typeface="Consolas"/>
              </a:rPr>
              <a:t>int deposit(int id,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3232" y="4761052"/>
            <a:ext cx="5099151" cy="2254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FDBA74"/>
                </a:solidFill>
                <a:latin typeface="Consolas"/>
              </a:rPr>
              <a:t>            double amt);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3232" y="4986477"/>
            <a:ext cx="5099151" cy="2254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E6EDF7"/>
                </a:solidFill>
                <a:latin typeface="Consolas"/>
              </a:rPr>
              <a:t/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3232" y="5211902"/>
            <a:ext cx="5099151" cy="2254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E6EDF7"/>
                </a:solidFill>
                <a:latin typeface="Consolas"/>
              </a:rPr>
              <a:t>改它：重编库，再重链主程序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214719" y="3620262"/>
            <a:ext cx="5428335" cy="2047494"/>
          </a:xfrm>
          <a:prstGeom prst="roundRect">
            <a:avLst>
              <a:gd name="adj" fmla="val 5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6214719" y="3620262"/>
            <a:ext cx="5428335" cy="36576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79311" y="3675126"/>
            <a:ext cx="5099151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1" i="0">
                <a:solidFill>
                  <a:srgbClr val="FDBA74"/>
                </a:solidFill>
                <a:latin typeface="微软雅黑"/>
              </a:rPr>
              <a:t>④ 插件阶段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79311" y="4084777"/>
            <a:ext cx="5099151" cy="2254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9FB0C9"/>
                </a:solidFill>
                <a:latin typeface="Consolas"/>
              </a:rPr>
              <a:t>// deposit_plugin.dll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79311" y="4310202"/>
            <a:ext cx="5099151" cy="2254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FDBA74"/>
                </a:solidFill>
                <a:latin typeface="Consolas"/>
              </a:rPr>
              <a:t>static int execute(void *ctx) {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79311" y="4535627"/>
            <a:ext cx="5099151" cy="2254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FDBA74"/>
                </a:solidFill>
                <a:latin typeface="Consolas"/>
              </a:rPr>
              <a:t>    return deposit(ctx);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79311" y="4761052"/>
            <a:ext cx="5099151" cy="2254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E6EDF7"/>
                </a:solidFill>
                <a:latin typeface="Consolas"/>
              </a:rPr>
              <a:t>}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79311" y="4986477"/>
            <a:ext cx="5099151" cy="2254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E6EDF7"/>
                </a:solidFill>
                <a:latin typeface="Consolas"/>
              </a:rPr>
              <a:t/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379311" y="5211902"/>
            <a:ext cx="5099151" cy="2254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E6EDF7"/>
                </a:solidFill>
                <a:latin typeface="Consolas"/>
              </a:rPr>
              <a:t>改它：只换一个 dll，不动主程序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48640" y="5888736"/>
            <a:ext cx="11094415" cy="530352"/>
          </a:xfrm>
          <a:prstGeom prst="roundRect">
            <a:avLst>
              <a:gd name="adj" fmla="val 20000"/>
            </a:avLst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22959" y="5980176"/>
            <a:ext cx="10545775" cy="3474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600" b="1" i="0">
                <a:solidFill>
                  <a:srgbClr val="FFFFFF"/>
                </a:solidFill>
                <a:latin typeface="微软雅黑"/>
              </a:rPr>
              <a:t>功能没变，变的是"改一次要付出多大代价"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36576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07007" y="365760"/>
            <a:ext cx="10436047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800" b="1" i="0">
                <a:solidFill>
                  <a:srgbClr val="1F2937"/>
                </a:solidFill>
                <a:latin typeface="微软雅黑"/>
              </a:rPr>
              <a:t>十四讲沉淀的三条原则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25295" y="987552"/>
            <a:ext cx="10436047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475569"/>
                </a:solidFill>
                <a:latin typeface="微软雅黑"/>
              </a:rPr>
              <a:t>解耦 · 契约先行 · 开闭原则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316736"/>
            <a:ext cx="11094415" cy="18288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776609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7C8A9C"/>
                </a:solidFill>
                <a:latin typeface="微软雅黑"/>
              </a:rPr>
              <a:t>综合篇 · 从表达式到框架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45775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100" b="0" i="0">
                <a:solidFill>
                  <a:srgbClr val="7C8A9C"/>
                </a:solidFill>
                <a:latin typeface="微软雅黑"/>
              </a:rPr>
              <a:t>19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966340"/>
            <a:ext cx="11094415" cy="959357"/>
          </a:xfrm>
          <a:prstGeom prst="roundRect">
            <a:avLst>
              <a:gd name="adj" fmla="val 6000"/>
            </a:avLst>
          </a:prstGeom>
          <a:solidFill>
            <a:srgbClr val="FF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966340"/>
            <a:ext cx="50292" cy="959357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149220"/>
            <a:ext cx="10673791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C2410C"/>
                </a:solidFill>
                <a:latin typeface="微软雅黑"/>
              </a:rPr>
              <a:t>📌 为什么是这三条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508121"/>
            <a:ext cx="10673791" cy="2346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0" i="0">
                <a:solidFill>
                  <a:srgbClr val="1F2937"/>
                </a:solidFill>
                <a:latin typeface="微软雅黑"/>
              </a:rPr>
              <a:t>回头看，十四讲其实只教了三件事。它们不是背诵用的口号，而是每一次跃迁背后真正起作用的东西。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145154"/>
            <a:ext cx="3564026" cy="2057400"/>
          </a:xfrm>
          <a:prstGeom prst="roundRect">
            <a:avLst>
              <a:gd name="adj" fmla="val 6000"/>
            </a:avLst>
          </a:prstGeom>
          <a:solidFill>
            <a:srgbClr val="E8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3145154"/>
            <a:ext cx="50292" cy="20574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328034"/>
            <a:ext cx="3143402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1D4ED8"/>
                </a:solidFill>
                <a:latin typeface="微软雅黑"/>
              </a:rPr>
              <a:t>① 解耦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3686936"/>
            <a:ext cx="3143402" cy="9052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350" b="0" i="0">
                <a:solidFill>
                  <a:srgbClr val="1F2937"/>
                </a:solidFill>
                <a:latin typeface="微软雅黑"/>
              </a:rPr>
              <a:t>依赖接口，不依赖实现。</a:t>
            </a:r>
          </a:p>
          <a:p>
            <a:pPr algn="l">
              <a:lnSpc>
                <a:spcPct val="132000"/>
              </a:lnSpc>
            </a:pPr>
            <a:r>
              <a:rPr sz="1350" b="0" i="0">
                <a:solidFill>
                  <a:srgbClr val="1F2937"/>
                </a:solidFill>
                <a:latin typeface="微软雅黑"/>
              </a:rPr>
              <a:t>头文件让调用方看不见实现，</a:t>
            </a:r>
          </a:p>
          <a:p>
            <a:pPr algn="l">
              <a:lnSpc>
                <a:spcPct val="132000"/>
              </a:lnSpc>
            </a:pPr>
            <a:r>
              <a:rPr sz="1350" b="0" i="0">
                <a:solidFill>
                  <a:srgbClr val="1F2937"/>
                </a:solidFill>
                <a:latin typeface="微软雅黑"/>
              </a:rPr>
              <a:t>函数指针表让宿主看不见插件。</a:t>
            </a:r>
          </a:p>
          <a:p>
            <a:pPr algn="l">
              <a:lnSpc>
                <a:spcPct val="132000"/>
              </a:lnSpc>
            </a:pPr>
            <a:r>
              <a:rPr sz="1350" b="0" i="0">
                <a:solidFill>
                  <a:srgbClr val="1F2937"/>
                </a:solidFill>
                <a:latin typeface="微软雅黑"/>
              </a:rPr>
              <a:t>好处：换实现，调用方无感。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13834" y="3145154"/>
            <a:ext cx="3564026" cy="2057400"/>
          </a:xfrm>
          <a:prstGeom prst="roundRect">
            <a:avLst>
              <a:gd name="adj" fmla="val 6000"/>
            </a:avLst>
          </a:prstGeom>
          <a:solidFill>
            <a:srgbClr val="E4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13834" y="3145154"/>
            <a:ext cx="50292" cy="20574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96714" y="3328034"/>
            <a:ext cx="3143402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0F766E"/>
                </a:solidFill>
                <a:latin typeface="微软雅黑"/>
              </a:rPr>
              <a:t>② 契约先行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96714" y="3686936"/>
            <a:ext cx="3143402" cy="9052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350" b="0" i="0">
                <a:solidFill>
                  <a:srgbClr val="1F2937"/>
                </a:solidFill>
                <a:latin typeface="微软雅黑"/>
              </a:rPr>
              <a:t>先定好怎么说话，再写实现。</a:t>
            </a:r>
          </a:p>
          <a:p>
            <a:pPr algn="l">
              <a:lnSpc>
                <a:spcPct val="132000"/>
              </a:lnSpc>
            </a:pPr>
            <a:r>
              <a:rPr sz="1350" b="0" i="0">
                <a:solidFill>
                  <a:srgbClr val="1F2937"/>
                </a:solidFill>
                <a:latin typeface="微软雅黑"/>
              </a:rPr>
              <a:t>头文件是模块间的契约，</a:t>
            </a:r>
          </a:p>
          <a:p>
            <a:pPr algn="l">
              <a:lnSpc>
                <a:spcPct val="132000"/>
              </a:lnSpc>
            </a:pPr>
            <a:r>
              <a:rPr sz="1350" b="0" i="0">
                <a:solidFill>
                  <a:srgbClr val="1F2937"/>
                </a:solidFill>
                <a:latin typeface="微软雅黑"/>
              </a:rPr>
              <a:t>插件接口是宿主与插件的契约。</a:t>
            </a:r>
          </a:p>
          <a:p>
            <a:pPr algn="l">
              <a:lnSpc>
                <a:spcPct val="132000"/>
              </a:lnSpc>
            </a:pPr>
            <a:r>
              <a:rPr sz="1350" b="0" i="0">
                <a:solidFill>
                  <a:srgbClr val="1F2937"/>
                </a:solidFill>
                <a:latin typeface="微软雅黑"/>
              </a:rPr>
              <a:t>好处：双方可以并行开发。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79028" y="3145154"/>
            <a:ext cx="3564026" cy="2057400"/>
          </a:xfrm>
          <a:prstGeom prst="roundRect">
            <a:avLst>
              <a:gd name="adj" fmla="val 6000"/>
            </a:avLst>
          </a:prstGeom>
          <a:solidFill>
            <a:srgbClr val="F1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79028" y="3145154"/>
            <a:ext cx="50292" cy="2057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61908" y="3328034"/>
            <a:ext cx="3143402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6D28D9"/>
                </a:solidFill>
                <a:latin typeface="微软雅黑"/>
              </a:rPr>
              <a:t>③ 开闭原则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61908" y="3686936"/>
            <a:ext cx="3143402" cy="9052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350" b="0" i="0">
                <a:solidFill>
                  <a:srgbClr val="1F2937"/>
                </a:solidFill>
                <a:latin typeface="微软雅黑"/>
              </a:rPr>
              <a:t>对扩展开放，对修改关闭。</a:t>
            </a:r>
          </a:p>
          <a:p>
            <a:pPr algn="l">
              <a:lnSpc>
                <a:spcPct val="132000"/>
              </a:lnSpc>
            </a:pPr>
            <a:r>
              <a:rPr sz="1350" b="0" i="0">
                <a:solidFill>
                  <a:srgbClr val="1F2937"/>
                </a:solidFill>
                <a:latin typeface="微软雅黑"/>
              </a:rPr>
              <a:t>加功能就加插件，</a:t>
            </a:r>
          </a:p>
          <a:p>
            <a:pPr algn="l">
              <a:lnSpc>
                <a:spcPct val="132000"/>
              </a:lnSpc>
            </a:pPr>
            <a:r>
              <a:rPr sz="1350" b="0" i="0">
                <a:solidFill>
                  <a:srgbClr val="1F2937"/>
                </a:solidFill>
                <a:latin typeface="微软雅黑"/>
              </a:rPr>
              <a:t>主程序一行不改。</a:t>
            </a:r>
          </a:p>
          <a:p>
            <a:pPr algn="l">
              <a:lnSpc>
                <a:spcPct val="132000"/>
              </a:lnSpc>
            </a:pPr>
            <a:r>
              <a:rPr sz="1350" b="0" i="0">
                <a:solidFill>
                  <a:srgbClr val="1F2937"/>
                </a:solidFill>
                <a:latin typeface="微软雅黑"/>
              </a:rPr>
              <a:t>好处：老代码越用越稳。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5888736"/>
            <a:ext cx="11094415" cy="530352"/>
          </a:xfrm>
          <a:prstGeom prst="roundRect">
            <a:avLst>
              <a:gd name="adj" fmla="val 20000"/>
            </a:avLst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59" y="5980176"/>
            <a:ext cx="10545775" cy="3474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600" b="1" i="0">
                <a:solidFill>
                  <a:srgbClr val="FFFFFF"/>
                </a:solidFill>
                <a:latin typeface="微软雅黑"/>
              </a:rPr>
              <a:t>三条原则一句话：把变化关进笼子里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36576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07007" y="365760"/>
            <a:ext cx="10436047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800" b="1" i="0">
                <a:solidFill>
                  <a:srgbClr val="1F2937"/>
                </a:solidFill>
                <a:latin typeface="微软雅黑"/>
              </a:rPr>
              <a:t>运行演示：机器真的转起来了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25295" y="987552"/>
            <a:ext cx="10436047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475569"/>
                </a:solidFill>
                <a:latin typeface="微软雅黑"/>
              </a:rPr>
              <a:t>扫目录加载插件 → 配置化菜单 → 优雅降级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316736"/>
            <a:ext cx="11094415" cy="18288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776609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7C8A9C"/>
                </a:solidFill>
                <a:latin typeface="微软雅黑"/>
              </a:rPr>
              <a:t>综合篇 · 从表达式到框架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45775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100" b="0" i="0">
                <a:solidFill>
                  <a:srgbClr val="7C8A9C"/>
                </a:solidFill>
                <a:latin typeface="微软雅黑"/>
              </a:rPr>
              <a:t>20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426464"/>
            <a:ext cx="7406640" cy="4160520"/>
          </a:xfrm>
          <a:prstGeom prst="roundRect">
            <a:avLst>
              <a:gd name="adj" fmla="val 6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48640" y="1426464"/>
            <a:ext cx="7406640" cy="365760"/>
          </a:xfrm>
          <a:prstGeom prst="roundRect">
            <a:avLst>
              <a:gd name="adj" fmla="val 12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4944" y="1481328"/>
            <a:ext cx="711403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 i="0">
                <a:solidFill>
                  <a:srgbClr val="FDBA74"/>
                </a:solidFill>
                <a:latin typeface="微软雅黑"/>
              </a:rPr>
              <a:t>atm_framework.exe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944" y="1883664"/>
            <a:ext cx="7114031" cy="238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86EFAC"/>
                </a:solidFill>
                <a:latin typeface="Consolas"/>
              </a:rPr>
              <a:t>$ ./atm_framework.exe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4" y="2121789"/>
            <a:ext cx="7114031" cy="238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E6EDF7"/>
                </a:solidFill>
                <a:latin typeface="Consolas"/>
              </a:rPr>
              <a:t>=== 初始化账务核心 ===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" y="2359914"/>
            <a:ext cx="7114031" cy="238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E6EDF7"/>
                </a:solidFill>
                <a:latin typeface="Consolas"/>
              </a:rPr>
              <a:t>  [开户] ID:1001  户名:张三  余额:10000.00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944" y="2598039"/>
            <a:ext cx="7114031" cy="238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E6EDF7"/>
                </a:solidFill>
                <a:latin typeface="Consolas"/>
              </a:rPr>
              <a:t>=== 扫描插件目录: plugins ===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4944" y="2836164"/>
            <a:ext cx="7114031" cy="238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E6EDF7"/>
                </a:solidFill>
                <a:latin typeface="Consolas"/>
              </a:rPr>
              <a:t>  [发现] plugins/deposit_plugin.dll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" y="3074289"/>
            <a:ext cx="7114031" cy="238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E6EDF7"/>
                </a:solidFill>
                <a:latin typeface="Consolas"/>
              </a:rPr>
              <a:t>  [注册] 存款     v1.0   菜单项 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4944" y="3312414"/>
            <a:ext cx="7114031" cy="238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E6EDF7"/>
                </a:solidFill>
                <a:latin typeface="Consolas"/>
              </a:rPr>
              <a:t>  [发现] plugins/withdraw_plugin.dll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4944" y="3550539"/>
            <a:ext cx="7114031" cy="238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E6EDF7"/>
                </a:solidFill>
                <a:latin typeface="Consolas"/>
              </a:rPr>
              <a:t>  [注册] 取款     v1.0   菜单项 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944" y="3788664"/>
            <a:ext cx="7114031" cy="238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E6EDF7"/>
                </a:solidFill>
                <a:latin typeface="Consolas"/>
              </a:rPr>
              <a:t>  [发现] plugins/query_plugin.dll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4944" y="4026789"/>
            <a:ext cx="7114031" cy="238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E6EDF7"/>
                </a:solidFill>
                <a:latin typeface="Consolas"/>
              </a:rPr>
              <a:t>  [注册] 查询     v1.0   菜单项 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4944" y="4264914"/>
            <a:ext cx="7114031" cy="238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E6EDF7"/>
                </a:solidFill>
                <a:latin typeface="Consolas"/>
              </a:rPr>
              <a:t>  [发现] plugins/transfer_plugin.dll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944" y="4503039"/>
            <a:ext cx="7114031" cy="238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E6EDF7"/>
                </a:solidFill>
                <a:latin typeface="Consolas"/>
              </a:rPr>
              <a:t>  [注册] 转账     v1.0   菜单项 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4944" y="4741164"/>
            <a:ext cx="7114031" cy="238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E6EDF7"/>
                </a:solidFill>
                <a:latin typeface="Consolas"/>
              </a:rPr>
              <a:t>请选择操作: 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4944" y="4979289"/>
            <a:ext cx="7114031" cy="238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E6EDF7"/>
                </a:solidFill>
                <a:latin typeface="Consolas"/>
              </a:rPr>
              <a:t>请输入金额: 500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4944" y="5217414"/>
            <a:ext cx="7114031" cy="238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E6EDF7"/>
                </a:solidFill>
                <a:latin typeface="Consolas"/>
              </a:rPr>
              <a:t>  [成功] 存款 500.00，余额 10500.00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4944" y="5455539"/>
            <a:ext cx="7114031" cy="238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E6EDF7"/>
                </a:solidFill>
                <a:latin typeface="Consolas"/>
              </a:rPr>
              <a:t>请选择操作: 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4944" y="5693664"/>
            <a:ext cx="7114031" cy="238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E6EDF7"/>
                </a:solidFill>
                <a:latin typeface="Consolas"/>
              </a:rPr>
              <a:t>=== 清理插件并退出 ===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193023" y="1426464"/>
            <a:ext cx="3450031" cy="1144651"/>
          </a:xfrm>
          <a:prstGeom prst="roundRect">
            <a:avLst>
              <a:gd name="adj" fmla="val 6000"/>
            </a:avLst>
          </a:prstGeom>
          <a:solidFill>
            <a:srgbClr val="E8F8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193023" y="1426464"/>
            <a:ext cx="50292" cy="1144651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75903" y="1609344"/>
            <a:ext cx="3029407" cy="269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 i="0">
                <a:solidFill>
                  <a:srgbClr val="15803D"/>
                </a:solidFill>
                <a:latin typeface="微软雅黑"/>
              </a:rPr>
              <a:t>看什么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75903" y="1952371"/>
            <a:ext cx="3029407" cy="4358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300" b="0" i="0">
                <a:solidFill>
                  <a:srgbClr val="1F2937"/>
                </a:solidFill>
                <a:latin typeface="微软雅黑"/>
              </a:rPr>
              <a:t>插件是扫目录发现的，</a:t>
            </a:r>
          </a:p>
          <a:p>
            <a:pPr algn="l">
              <a:lnSpc>
                <a:spcPct val="132000"/>
              </a:lnSpc>
            </a:pPr>
            <a:r>
              <a:rPr sz="1300" b="0" i="0">
                <a:solidFill>
                  <a:srgbClr val="1F2937"/>
                </a:solidFill>
                <a:latin typeface="微软雅黑"/>
              </a:rPr>
              <a:t>菜单是注册时生成的。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193023" y="2753995"/>
            <a:ext cx="3450031" cy="1144651"/>
          </a:xfrm>
          <a:prstGeom prst="roundRect">
            <a:avLst>
              <a:gd name="adj" fmla="val 6000"/>
            </a:avLst>
          </a:prstGeom>
          <a:solidFill>
            <a:srgbClr val="FF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193023" y="2753995"/>
            <a:ext cx="50292" cy="1144651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375903" y="2936875"/>
            <a:ext cx="3029407" cy="269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 i="0">
                <a:solidFill>
                  <a:srgbClr val="C2410C"/>
                </a:solidFill>
                <a:latin typeface="微软雅黑"/>
              </a:rPr>
              <a:t>关键在哪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75903" y="3279902"/>
            <a:ext cx="3029407" cy="4358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300" b="0" i="0">
                <a:solidFill>
                  <a:srgbClr val="1F2937"/>
                </a:solidFill>
                <a:latin typeface="微软雅黑"/>
              </a:rPr>
              <a:t>没有一行代码写死</a:t>
            </a:r>
          </a:p>
          <a:p>
            <a:pPr algn="l">
              <a:lnSpc>
                <a:spcPct val="132000"/>
              </a:lnSpc>
            </a:pPr>
            <a:r>
              <a:rPr sz="1300" b="0" i="0">
                <a:solidFill>
                  <a:srgbClr val="1F2937"/>
                </a:solidFill>
                <a:latin typeface="微软雅黑"/>
              </a:rPr>
              <a:t>有哪些功能。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193023" y="4081526"/>
            <a:ext cx="3450031" cy="1144651"/>
          </a:xfrm>
          <a:prstGeom prst="roundRect">
            <a:avLst>
              <a:gd name="adj" fmla="val 6000"/>
            </a:avLst>
          </a:prstGeom>
          <a:solidFill>
            <a:srgbClr val="F1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193023" y="4081526"/>
            <a:ext cx="50292" cy="1144651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375903" y="4264406"/>
            <a:ext cx="3029407" cy="269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 i="0">
                <a:solidFill>
                  <a:srgbClr val="6D28D9"/>
                </a:solidFill>
                <a:latin typeface="微软雅黑"/>
              </a:rPr>
              <a:t>再试一次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75903" y="4607433"/>
            <a:ext cx="3029407" cy="4358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300" b="0" i="0">
                <a:solidFill>
                  <a:srgbClr val="1F2937"/>
                </a:solidFill>
                <a:latin typeface="微软雅黑"/>
              </a:rPr>
              <a:t>删掉一个插件 dll 再启动，</a:t>
            </a:r>
          </a:p>
          <a:p>
            <a:pPr algn="l">
              <a:lnSpc>
                <a:spcPct val="132000"/>
              </a:lnSpc>
            </a:pPr>
            <a:r>
              <a:rPr sz="1300" b="0" i="0">
                <a:solidFill>
                  <a:srgbClr val="1F2937"/>
                </a:solidFill>
                <a:latin typeface="微软雅黑"/>
              </a:rPr>
              <a:t>程序照常跑，只是少一项。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48640" y="5888736"/>
            <a:ext cx="11094415" cy="530352"/>
          </a:xfrm>
          <a:prstGeom prst="roundRect">
            <a:avLst>
              <a:gd name="adj" fmla="val 20000"/>
            </a:avLst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22959" y="5980176"/>
            <a:ext cx="10545775" cy="3474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600" b="1" i="0">
                <a:solidFill>
                  <a:srgbClr val="FFFFFF"/>
                </a:solidFill>
                <a:latin typeface="微软雅黑"/>
              </a:rPr>
              <a:t>优雅降级：缺哪个插件，就少哪一项功能，但绝不崩溃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36576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07007" y="365760"/>
            <a:ext cx="10436047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800" b="1" i="0">
                <a:solidFill>
                  <a:srgbClr val="1F2937"/>
                </a:solidFill>
                <a:latin typeface="微软雅黑"/>
              </a:rPr>
              <a:t>思考题 ①②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25295" y="987552"/>
            <a:ext cx="10436047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475569"/>
                </a:solidFill>
                <a:latin typeface="微软雅黑"/>
              </a:rPr>
              <a:t>先自己想一想，再往下翻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316736"/>
            <a:ext cx="11094415" cy="18288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776609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7C8A9C"/>
                </a:solidFill>
                <a:latin typeface="微软雅黑"/>
              </a:rPr>
              <a:t>综合篇 · 从表达式到框架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45775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100" b="0" i="0">
                <a:solidFill>
                  <a:srgbClr val="7C8A9C"/>
                </a:solidFill>
                <a:latin typeface="微软雅黑"/>
              </a:rPr>
              <a:t>21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240280"/>
            <a:ext cx="11094415" cy="1234440"/>
          </a:xfrm>
          <a:prstGeom prst="roundRect">
            <a:avLst>
              <a:gd name="adj" fmla="val 6000"/>
            </a:avLst>
          </a:prstGeom>
          <a:solidFill>
            <a:srgbClr val="E8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2240280"/>
            <a:ext cx="50292" cy="123444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423160"/>
            <a:ext cx="10673791" cy="269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 i="0">
                <a:solidFill>
                  <a:srgbClr val="1D4ED8"/>
                </a:solidFill>
                <a:latin typeface="微软雅黑"/>
              </a:rPr>
              <a:t>① 既然动态库能共享代码，为什么嵌入式和独立小工具还在用静态库？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766187"/>
            <a:ext cx="10673791" cy="2346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0" i="0">
                <a:solidFill>
                  <a:srgbClr val="1F2937"/>
                </a:solidFill>
                <a:latin typeface="微软雅黑"/>
              </a:rPr>
              <a:t>提示：想想部署环境你能不能控制，以及"缺一个文件"的代价有多大。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694176"/>
            <a:ext cx="11094415" cy="1234440"/>
          </a:xfrm>
          <a:prstGeom prst="roundRect">
            <a:avLst>
              <a:gd name="adj" fmla="val 6000"/>
            </a:avLst>
          </a:prstGeom>
          <a:solidFill>
            <a:srgbClr val="F1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3694176"/>
            <a:ext cx="50292" cy="1234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877056"/>
            <a:ext cx="10673791" cy="269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 i="0">
                <a:solidFill>
                  <a:srgbClr val="6D28D9"/>
                </a:solidFill>
                <a:latin typeface="微软雅黑"/>
              </a:rPr>
              <a:t>② 函数指针表已经能实现多态了，为什么还要设计完整的生命周期和状态机？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220083"/>
            <a:ext cx="10673791" cy="2346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0" i="0">
                <a:solidFill>
                  <a:srgbClr val="1F2937"/>
                </a:solidFill>
                <a:latin typeface="微软雅黑"/>
              </a:rPr>
              <a:t>提示：想想插件会失败、会被卸载、会被重复加载的场合。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5888736"/>
            <a:ext cx="11094415" cy="530352"/>
          </a:xfrm>
          <a:prstGeom prst="roundRect">
            <a:avLst>
              <a:gd name="adj" fmla="val 20000"/>
            </a:avLst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59" y="5980176"/>
            <a:ext cx="10545775" cy="3474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600" b="1" i="0">
                <a:solidFill>
                  <a:srgbClr val="FFFFFF"/>
                </a:solidFill>
                <a:latin typeface="微软雅黑"/>
              </a:rPr>
              <a:t>想清楚这两题，你就懂了库和框架各自的取舍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36576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07007" y="365760"/>
            <a:ext cx="10436047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800" b="1" i="0">
                <a:solidFill>
                  <a:srgbClr val="1F2937"/>
                </a:solidFill>
                <a:latin typeface="微软雅黑"/>
              </a:rPr>
              <a:t>解答 ①②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25295" y="987552"/>
            <a:ext cx="10436047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475569"/>
                </a:solidFill>
                <a:latin typeface="微软雅黑"/>
              </a:rPr>
              <a:t>答案不是唯一的，关键是取舍的理由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316736"/>
            <a:ext cx="11094415" cy="18288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776609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7C8A9C"/>
                </a:solidFill>
                <a:latin typeface="微软雅黑"/>
              </a:rPr>
              <a:t>综合篇 · 从表达式到框架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45775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100" b="0" i="0">
                <a:solidFill>
                  <a:srgbClr val="7C8A9C"/>
                </a:solidFill>
                <a:latin typeface="微软雅黑"/>
              </a:rPr>
              <a:t>22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057400"/>
            <a:ext cx="11094415" cy="1417320"/>
          </a:xfrm>
          <a:prstGeom prst="roundRect">
            <a:avLst>
              <a:gd name="adj" fmla="val 6000"/>
            </a:avLst>
          </a:prstGeom>
          <a:solidFill>
            <a:srgbClr val="E8F8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2057400"/>
            <a:ext cx="50292" cy="141732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240280"/>
            <a:ext cx="10673791" cy="269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 i="0">
                <a:solidFill>
                  <a:srgbClr val="15803D"/>
                </a:solidFill>
                <a:latin typeface="微软雅黑"/>
              </a:rPr>
              <a:t>① 静态库 vs 动态库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583307"/>
            <a:ext cx="10673791" cy="4526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350" b="0" i="0">
                <a:solidFill>
                  <a:srgbClr val="1F2937"/>
                </a:solidFill>
                <a:latin typeface="微软雅黑"/>
              </a:rPr>
              <a:t>静态库换来确定性：没有外部依赖、不会缺文件、启动更快，代价是体积大、升级要重编。动态库换来共享和热升级，代价是部署复杂、版本要对齐。选哪个，取决于你能不能控制运行环境。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694176"/>
            <a:ext cx="11094415" cy="1417320"/>
          </a:xfrm>
          <a:prstGeom prst="roundRect">
            <a:avLst>
              <a:gd name="adj" fmla="val 6000"/>
            </a:avLst>
          </a:prstGeom>
          <a:solidFill>
            <a:srgbClr val="FF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3694176"/>
            <a:ext cx="50292" cy="141732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877056"/>
            <a:ext cx="10673791" cy="269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 i="0">
                <a:solidFill>
                  <a:srgbClr val="C2410C"/>
                </a:solidFill>
                <a:latin typeface="微软雅黑"/>
              </a:rPr>
              <a:t>② 为什么要有状态机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220083"/>
            <a:ext cx="10673791" cy="4526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350" b="0" i="0">
                <a:solidFill>
                  <a:srgbClr val="1F2937"/>
                </a:solidFill>
                <a:latin typeface="微软雅黑"/>
              </a:rPr>
              <a:t>真实系统里插件会加载失败、会被卸载、会被重复加载。没有状态机，就会出现"还没初始化就执行"或者"已经卸载还在调用"的崩溃。多态解决的是怎么调，状态机解决的是什么时候能调。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5888736"/>
            <a:ext cx="11094415" cy="530352"/>
          </a:xfrm>
          <a:prstGeom prst="roundRect">
            <a:avLst>
              <a:gd name="adj" fmla="val 20000"/>
            </a:avLst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59" y="5980176"/>
            <a:ext cx="10545775" cy="3474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600" b="1" i="0">
                <a:solidFill>
                  <a:srgbClr val="FFFFFF"/>
                </a:solidFill>
                <a:latin typeface="微软雅黑"/>
              </a:rPr>
              <a:t>能说出取舍的理由，比记住结论更重要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36576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07007" y="365760"/>
            <a:ext cx="10436047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800" b="1" i="0">
                <a:solidFill>
                  <a:srgbClr val="1F2937"/>
                </a:solidFill>
                <a:latin typeface="微软雅黑"/>
              </a:rPr>
              <a:t>思考题 ③④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25295" y="987552"/>
            <a:ext cx="10436047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475569"/>
                </a:solidFill>
                <a:latin typeface="微软雅黑"/>
              </a:rPr>
              <a:t>最后两道，关于边界与分层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316736"/>
            <a:ext cx="11094415" cy="18288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776609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7C8A9C"/>
                </a:solidFill>
                <a:latin typeface="微软雅黑"/>
              </a:rPr>
              <a:t>综合篇 · 从表达式到框架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45775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100" b="0" i="0">
                <a:solidFill>
                  <a:srgbClr val="7C8A9C"/>
                </a:solidFill>
                <a:latin typeface="微软雅黑"/>
              </a:rPr>
              <a:t>23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240280"/>
            <a:ext cx="11094415" cy="1234440"/>
          </a:xfrm>
          <a:prstGeom prst="roundRect">
            <a:avLst>
              <a:gd name="adj" fmla="val 6000"/>
            </a:avLst>
          </a:prstGeom>
          <a:solidFill>
            <a:srgbClr val="F1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2240280"/>
            <a:ext cx="50292" cy="1234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423160"/>
            <a:ext cx="10673791" cy="269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 i="0">
                <a:solidFill>
                  <a:srgbClr val="6D28D9"/>
                </a:solidFill>
                <a:latin typeface="微软雅黑"/>
              </a:rPr>
              <a:t>③ 框架和库的分界到底在哪里？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766187"/>
            <a:ext cx="10673791" cy="2346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0" i="0">
                <a:solidFill>
                  <a:srgbClr val="1F2937"/>
                </a:solidFill>
                <a:latin typeface="微软雅黑"/>
              </a:rPr>
              <a:t>提示：不要看代码长什么样，看谁掌握调用权。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694176"/>
            <a:ext cx="11094415" cy="1234440"/>
          </a:xfrm>
          <a:prstGeom prst="roundRect">
            <a:avLst>
              <a:gd name="adj" fmla="val 6000"/>
            </a:avLst>
          </a:prstGeom>
          <a:solidFill>
            <a:srgbClr val="FF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3694176"/>
            <a:ext cx="50292" cy="123444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877056"/>
            <a:ext cx="10673791" cy="269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 i="0">
                <a:solidFill>
                  <a:srgbClr val="C2410C"/>
                </a:solidFill>
                <a:latin typeface="微软雅黑"/>
              </a:rPr>
              <a:t>④ 要给这台 ATM 加"转账限额"，你改哪一层？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220083"/>
            <a:ext cx="10673791" cy="2346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0" i="0">
                <a:solidFill>
                  <a:srgbClr val="1F2937"/>
                </a:solidFill>
                <a:latin typeface="微软雅黑"/>
              </a:rPr>
              <a:t>提示：核心层、插件层、配置层，三选一，说说理由。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5888736"/>
            <a:ext cx="11094415" cy="530352"/>
          </a:xfrm>
          <a:prstGeom prst="roundRect">
            <a:avLst>
              <a:gd name="adj" fmla="val 20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59" y="5980176"/>
            <a:ext cx="10545775" cy="3474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600" b="1" i="0">
                <a:solidFill>
                  <a:srgbClr val="FFFFFF"/>
                </a:solidFill>
                <a:latin typeface="微软雅黑"/>
              </a:rPr>
              <a:t>这两题测的是你对分层和控制权的直觉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36576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07007" y="365760"/>
            <a:ext cx="10436047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800" b="1" i="0">
                <a:solidFill>
                  <a:srgbClr val="1F2937"/>
                </a:solidFill>
                <a:latin typeface="微软雅黑"/>
              </a:rPr>
              <a:t>解答 ③④ 与全系列总结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25295" y="987552"/>
            <a:ext cx="10436047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475569"/>
                </a:solidFill>
                <a:latin typeface="微软雅黑"/>
              </a:rPr>
              <a:t>十四讲走完，愿你心里有这条线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316736"/>
            <a:ext cx="11094415" cy="18288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776609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7C8A9C"/>
                </a:solidFill>
                <a:latin typeface="微软雅黑"/>
              </a:rPr>
              <a:t>综合篇 · 从表达式到框架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45775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100" b="0" i="0">
                <a:solidFill>
                  <a:srgbClr val="7C8A9C"/>
                </a:solidFill>
                <a:latin typeface="微软雅黑"/>
              </a:rPr>
              <a:t>24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819656"/>
            <a:ext cx="11094415" cy="1143000"/>
          </a:xfrm>
          <a:prstGeom prst="roundRect">
            <a:avLst>
              <a:gd name="adj" fmla="val 6000"/>
            </a:avLst>
          </a:prstGeom>
          <a:solidFill>
            <a:srgbClr val="E8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819656"/>
            <a:ext cx="50292" cy="1143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002536"/>
            <a:ext cx="10673791" cy="269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 i="0">
                <a:solidFill>
                  <a:srgbClr val="1D4ED8"/>
                </a:solidFill>
                <a:latin typeface="微软雅黑"/>
              </a:rPr>
              <a:t>③ 分界在控制权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345563"/>
            <a:ext cx="10673791" cy="22631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350" b="0" i="0">
                <a:solidFill>
                  <a:srgbClr val="1F2937"/>
                </a:solidFill>
                <a:latin typeface="微软雅黑"/>
              </a:rPr>
              <a:t>库是你调用它，框架是它调用你。控制权在谁手上，就是分界线。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163824"/>
            <a:ext cx="11094415" cy="1143000"/>
          </a:xfrm>
          <a:prstGeom prst="roundRect">
            <a:avLst>
              <a:gd name="adj" fmla="val 6000"/>
            </a:avLst>
          </a:prstGeom>
          <a:solidFill>
            <a:srgbClr val="E4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3163824"/>
            <a:ext cx="50292" cy="11430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346704"/>
            <a:ext cx="10673791" cy="269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 i="0">
                <a:solidFill>
                  <a:srgbClr val="0F766E"/>
                </a:solidFill>
                <a:latin typeface="微软雅黑"/>
              </a:rPr>
              <a:t>④ 限额属于业务策略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3689731"/>
            <a:ext cx="10673791" cy="22631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350" b="0" i="0">
                <a:solidFill>
                  <a:srgbClr val="1F2937"/>
                </a:solidFill>
                <a:latin typeface="微软雅黑"/>
              </a:rPr>
              <a:t>应做成配置或独立插件，核心层只提供查询能力，不该写死任何业务规则——否则每改一次规则就要动核心。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398264"/>
            <a:ext cx="11094415" cy="950976"/>
          </a:xfrm>
          <a:prstGeom prst="roundRect">
            <a:avLst>
              <a:gd name="adj" fmla="val 6000"/>
            </a:avLst>
          </a:prstGeom>
          <a:solidFill>
            <a:srgbClr val="FF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4398264"/>
            <a:ext cx="50292" cy="950976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4581144"/>
            <a:ext cx="10673791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C2410C"/>
                </a:solidFill>
                <a:latin typeface="微软雅黑"/>
              </a:rPr>
              <a:t>🎉 全系列一句话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4940046"/>
            <a:ext cx="10673791" cy="22631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350" b="0" i="0">
                <a:solidFill>
                  <a:srgbClr val="1F2937"/>
                </a:solidFill>
                <a:latin typeface="微软雅黑"/>
              </a:rPr>
              <a:t>十四讲从一个 printf 走到一个可插拔的框架，路只有一条：不断把变化往外挪。愿你以后写代码时，心里始终有这条线。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5888736"/>
            <a:ext cx="11094415" cy="530352"/>
          </a:xfrm>
          <a:prstGeom prst="roundRect">
            <a:avLst>
              <a:gd name="adj" fmla="val 20000"/>
            </a:avLst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59" y="5980176"/>
            <a:ext cx="10545775" cy="3474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600" b="1" i="0">
                <a:solidFill>
                  <a:srgbClr val="FFFFFF"/>
                </a:solidFill>
                <a:latin typeface="微软雅黑"/>
              </a:rPr>
              <a:t>课程结束了，你的架构之路才刚开始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